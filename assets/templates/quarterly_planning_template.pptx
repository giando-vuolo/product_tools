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30.xml" ContentType="application/vnd.openxmlformats-officedocument.presentationml.tags+xml"/>
  <Override PartName="/ppt/notesSlides/notesSlide3.xml" ContentType="application/vnd.openxmlformats-officedocument.presentationml.notesSlide+xml"/>
  <Override PartName="/ppt/tags/tag31.xml" ContentType="application/vnd.openxmlformats-officedocument.presentationml.tags+xml"/>
  <Override PartName="/ppt/notesSlides/notesSlide4.xml" ContentType="application/vnd.openxmlformats-officedocument.presentationml.notesSlide+xml"/>
  <Override PartName="/ppt/tags/tag32.xml" ContentType="application/vnd.openxmlformats-officedocument.presentationml.tags+xml"/>
  <Override PartName="/ppt/notesSlides/notesSlide5.xml" ContentType="application/vnd.openxmlformats-officedocument.presentationml.notesSlide+xml"/>
  <Override PartName="/ppt/tags/tag33.xml" ContentType="application/vnd.openxmlformats-officedocument.presentationml.tags+xml"/>
  <Override PartName="/ppt/notesSlides/notesSlide6.xml" ContentType="application/vnd.openxmlformats-officedocument.presentationml.notesSlid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notesSlides/notesSlide7.xml" ContentType="application/vnd.openxmlformats-officedocument.presentationml.notesSlide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notesSlides/notesSlide8.xml" ContentType="application/vnd.openxmlformats-officedocument.presentationml.notesSlide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notesSlides/notesSlide9.xml" ContentType="application/vnd.openxmlformats-officedocument.presentationml.notesSlide+xml"/>
  <Override PartName="/ppt/tags/tag59.xml" ContentType="application/vnd.openxmlformats-officedocument.presentationml.tags+xml"/>
  <Override PartName="/ppt/notesSlides/notesSlide10.xml" ContentType="application/vnd.openxmlformats-officedocument.presentationml.notesSlide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notesSlides/notesSlide11.xml" ContentType="application/vnd.openxmlformats-officedocument.presentationml.notesSlid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notesSlides/notesSlide12.xml" ContentType="application/vnd.openxmlformats-officedocument.presentationml.notesSlide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42"/>
  </p:notesMasterIdLst>
  <p:sldIdLst>
    <p:sldId id="256" r:id="rId5"/>
    <p:sldId id="258" r:id="rId6"/>
    <p:sldId id="2147483407" r:id="rId7"/>
    <p:sldId id="2147483409" r:id="rId8"/>
    <p:sldId id="2147483406" r:id="rId9"/>
    <p:sldId id="2147483408" r:id="rId10"/>
    <p:sldId id="2147483379" r:id="rId11"/>
    <p:sldId id="2147483378" r:id="rId12"/>
    <p:sldId id="301" r:id="rId13"/>
    <p:sldId id="2147479178" r:id="rId14"/>
    <p:sldId id="2147479322" r:id="rId15"/>
    <p:sldId id="2147479327" r:id="rId16"/>
    <p:sldId id="2147479328" r:id="rId17"/>
    <p:sldId id="2147479323" r:id="rId18"/>
    <p:sldId id="2147483385" r:id="rId19"/>
    <p:sldId id="2147483386" r:id="rId20"/>
    <p:sldId id="259" r:id="rId21"/>
    <p:sldId id="2147483396" r:id="rId22"/>
    <p:sldId id="2147483393" r:id="rId23"/>
    <p:sldId id="2147483399" r:id="rId24"/>
    <p:sldId id="2147483400" r:id="rId25"/>
    <p:sldId id="2147483401" r:id="rId26"/>
    <p:sldId id="2147483402" r:id="rId27"/>
    <p:sldId id="2147483403" r:id="rId28"/>
    <p:sldId id="2147482728" r:id="rId29"/>
    <p:sldId id="2147483008" r:id="rId30"/>
    <p:sldId id="2147483046" r:id="rId31"/>
    <p:sldId id="262" r:id="rId32"/>
    <p:sldId id="263" r:id="rId33"/>
    <p:sldId id="2147483380" r:id="rId34"/>
    <p:sldId id="2147483381" r:id="rId35"/>
    <p:sldId id="2147483410" r:id="rId36"/>
    <p:sldId id="2147483395" r:id="rId37"/>
    <p:sldId id="2147483394" r:id="rId38"/>
    <p:sldId id="2147483383" r:id="rId39"/>
    <p:sldId id="2147483405" r:id="rId40"/>
    <p:sldId id="2147483404" r:id="rId41"/>
  </p:sldIdLst>
  <p:sldSz cx="12192000" cy="6858000"/>
  <p:notesSz cx="6858000" cy="9144000"/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he Group TEXT" panose="00000500000000000000" pitchFamily="2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he Group TEXT" panose="00000500000000000000" pitchFamily="2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he Group TEXT" panose="00000500000000000000" pitchFamily="2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he Group TEXT" panose="00000500000000000000" pitchFamily="2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he Group TEXT" panose="00000500000000000000" pitchFamily="2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he Group TEXT" panose="00000500000000000000" pitchFamily="2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he Group TEXT" panose="00000500000000000000" pitchFamily="2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he Group TEXT" panose="00000500000000000000" pitchFamily="2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he Group TEXT" panose="00000500000000000000" pitchFamily="2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C535B0F-0DBA-41AE-9168-401FF567C43F}">
          <p14:sldIdLst>
            <p14:sldId id="256"/>
          </p14:sldIdLst>
        </p14:section>
        <p14:section name="Welcome" id="{522B898C-D10C-4A52-A66A-9F58FC994019}">
          <p14:sldIdLst>
            <p14:sldId id="258"/>
          </p14:sldIdLst>
        </p14:section>
        <p14:section name="Get to know &amp; Ice Breakers" id="{6C746D8C-6D85-4A11-BC26-797FBA826E00}">
          <p14:sldIdLst>
            <p14:sldId id="2147483407"/>
            <p14:sldId id="2147483409"/>
            <p14:sldId id="2147483406"/>
            <p14:sldId id="2147483408"/>
          </p14:sldIdLst>
        </p14:section>
        <p14:section name="Vision 2027" id="{135E419E-8386-4B82-A4FF-F19AB712208B}">
          <p14:sldIdLst>
            <p14:sldId id="2147483379"/>
            <p14:sldId id="2147483378"/>
            <p14:sldId id="301"/>
            <p14:sldId id="2147479178"/>
            <p14:sldId id="2147479322"/>
            <p14:sldId id="2147479327"/>
            <p14:sldId id="2147479328"/>
            <p14:sldId id="2147479323"/>
            <p14:sldId id="2147483385"/>
            <p14:sldId id="2147483386"/>
            <p14:sldId id="259"/>
            <p14:sldId id="2147483396"/>
            <p14:sldId id="2147483393"/>
            <p14:sldId id="2147483399"/>
            <p14:sldId id="2147483400"/>
            <p14:sldId id="2147483401"/>
            <p14:sldId id="2147483402"/>
            <p14:sldId id="2147483403"/>
            <p14:sldId id="2147482728"/>
            <p14:sldId id="2147483008"/>
            <p14:sldId id="2147483046"/>
            <p14:sldId id="262"/>
            <p14:sldId id="263"/>
          </p14:sldIdLst>
        </p14:section>
        <p14:section name="Review &amp; Live Demos Q3" id="{27A3C12D-3D8A-4E5F-817A-75F143C29EF8}">
          <p14:sldIdLst>
            <p14:sldId id="2147483380"/>
          </p14:sldIdLst>
        </p14:section>
        <p14:section name="Farewell Inma" id="{172F6EF8-32A2-4336-B005-CC257BDF1532}">
          <p14:sldIdLst/>
        </p14:section>
        <p14:section name="Intercultural Training" id="{363A028B-49CD-4672-BE71-AD9994B98E9D}">
          <p14:sldIdLst>
            <p14:sldId id="2147483381"/>
          </p14:sldIdLst>
        </p14:section>
        <p14:section name="DAY 2" id="{B3D1B40A-C2F5-4D10-9BB6-4801F67FE7D7}">
          <p14:sldIdLst>
            <p14:sldId id="2147483410"/>
            <p14:sldId id="2147483395"/>
          </p14:sldIdLst>
        </p14:section>
        <p14:section name="Roadmap Q4" id="{BF6E769B-1D1B-4511-9F70-2ADE6CE5CA8E}">
          <p14:sldIdLst>
            <p14:sldId id="2147483394"/>
            <p14:sldId id="2147483383"/>
          </p14:sldIdLst>
        </p14:section>
        <p14:section name="Status Update Reboot Plan" id="{97B3F3EB-A84E-4181-92D7-0507DD4FAB5E}">
          <p14:sldIdLst/>
        </p14:section>
        <p14:section name="Retro" id="{2034D02A-E727-481E-B59F-AC9B8944B102}">
          <p14:sldIdLst>
            <p14:sldId id="2147483405"/>
            <p14:sldId id="214748340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29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D1CD"/>
    <a:srgbClr val="C882BE"/>
    <a:srgbClr val="CCD4D6"/>
    <a:srgbClr val="99A9AD"/>
    <a:srgbClr val="A6A6A6"/>
    <a:srgbClr val="8CE4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958" dt="2026-09-13T18:13:50.277"/>
    <p1510:client id="{1FA008FB-3B3B-D312-3607-54BE975FF6BF}" v="25" dt="2026-09-13T21:27:26.390"/>
    <p1510:client id="{5FEE2EDB-CFE6-FB80-1F23-77B5EF3AAA7B}" v="111" dt="2026-09-13T19:15:45.073"/>
    <p1510:client id="{691C7024-13DD-017F-2B1C-FD7CF8387764}" v="120" dt="2026-09-12T14:24:01.403"/>
    <p1510:client id="{AFD88B1B-27B1-82AF-4895-E40EA160F4A8}" v="215" dt="2026-09-13T18:04:40.3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3294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notesMaster" Target="notesMasters/notesMaster1.xml"/><Relationship Id="rId47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C2DA35-5E99-4FFE-8A88-152E7DA6ABAF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1C52FA-858D-45E0-AEBB-3C11901824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495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b="0"/>
              <a:t>This </a:t>
            </a:r>
            <a:r>
              <a:rPr lang="de-DE" b="0" err="1"/>
              <a:t>is</a:t>
            </a:r>
            <a:r>
              <a:rPr lang="de-DE" b="0"/>
              <a:t> </a:t>
            </a:r>
            <a:r>
              <a:rPr lang="de-DE" b="0" err="1"/>
              <a:t>from</a:t>
            </a:r>
            <a:r>
              <a:rPr lang="de-DE" b="0"/>
              <a:t> </a:t>
            </a:r>
            <a:r>
              <a:rPr lang="de-DE" b="0" err="1"/>
              <a:t>the</a:t>
            </a:r>
            <a:r>
              <a:rPr lang="de-DE" b="0"/>
              <a:t> </a:t>
            </a:r>
            <a:r>
              <a:rPr lang="de-DE" b="0" err="1"/>
              <a:t>announcement</a:t>
            </a:r>
            <a:r>
              <a:rPr lang="de-DE" b="0"/>
              <a:t> </a:t>
            </a:r>
            <a:r>
              <a:rPr lang="de-DE" b="0" err="1"/>
              <a:t>of</a:t>
            </a:r>
            <a:r>
              <a:rPr lang="de-DE" b="0"/>
              <a:t> VW </a:t>
            </a:r>
            <a:r>
              <a:rPr lang="de-DE" b="0" err="1"/>
              <a:t>from</a:t>
            </a:r>
            <a:r>
              <a:rPr lang="de-DE" b="0"/>
              <a:t> 2024</a:t>
            </a:r>
          </a:p>
          <a:p>
            <a:endParaRPr lang="de-DE" b="0"/>
          </a:p>
          <a:p>
            <a:r>
              <a:rPr lang="de-DE" b="0"/>
              <a:t>Left: Rivian R2 (</a:t>
            </a:r>
            <a:r>
              <a:rPr lang="de-DE" b="0" err="1"/>
              <a:t>Competitor</a:t>
            </a:r>
            <a:r>
              <a:rPr lang="de-DE" b="0"/>
              <a:t>, </a:t>
            </a:r>
            <a:r>
              <a:rPr lang="de-DE" b="0" err="1"/>
              <a:t>no</a:t>
            </a:r>
            <a:r>
              <a:rPr lang="de-DE" b="0"/>
              <a:t> VW Group Brand)</a:t>
            </a:r>
          </a:p>
          <a:p>
            <a:r>
              <a:rPr lang="de-DE" b="0"/>
              <a:t>Right: VW Group Car (Audi Q6 </a:t>
            </a:r>
            <a:r>
              <a:rPr lang="de-DE" b="0" err="1"/>
              <a:t>E.Tron</a:t>
            </a:r>
            <a:r>
              <a:rPr lang="de-DE" b="0"/>
              <a:t>)</a:t>
            </a:r>
          </a:p>
          <a:p>
            <a:r>
              <a:rPr lang="de-DE" b="0"/>
              <a:t>Middle: Electric/Electronic Hardware and Software</a:t>
            </a:r>
          </a:p>
          <a:p>
            <a:endParaRPr lang="de-DE" b="0"/>
          </a:p>
          <a:p>
            <a:r>
              <a:rPr lang="de-DE" b="0"/>
              <a:t>Software </a:t>
            </a:r>
            <a:r>
              <a:rPr lang="de-DE" b="0" err="1"/>
              <a:t>Defined</a:t>
            </a:r>
            <a:r>
              <a:rPr lang="de-DE" b="0"/>
              <a:t> Vehicle – </a:t>
            </a:r>
            <a:r>
              <a:rPr lang="de-DE" b="0" err="1"/>
              <a:t>what</a:t>
            </a:r>
            <a:r>
              <a:rPr lang="de-DE" b="0"/>
              <a:t> </a:t>
            </a:r>
            <a:r>
              <a:rPr lang="de-DE" b="0" err="1"/>
              <a:t>is</a:t>
            </a:r>
            <a:r>
              <a:rPr lang="de-DE" b="0"/>
              <a:t> </a:t>
            </a:r>
            <a:r>
              <a:rPr lang="de-DE" b="0" err="1"/>
              <a:t>that</a:t>
            </a:r>
            <a:r>
              <a:rPr lang="de-DE" b="0"/>
              <a:t>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b="0"/>
              <a:t>- </a:t>
            </a:r>
            <a:r>
              <a:rPr lang="de-DE" b="0" err="1"/>
              <a:t>new</a:t>
            </a:r>
            <a:r>
              <a:rPr lang="de-DE" b="0"/>
              <a:t> Electric/Electronic Architecture </a:t>
            </a:r>
            <a:r>
              <a:rPr lang="de-DE" b="0" err="1"/>
              <a:t>of</a:t>
            </a:r>
            <a:r>
              <a:rPr lang="de-DE" b="0"/>
              <a:t> </a:t>
            </a:r>
            <a:r>
              <a:rPr lang="de-DE" b="0" err="1"/>
              <a:t>the</a:t>
            </a:r>
            <a:r>
              <a:rPr lang="de-DE" b="0"/>
              <a:t> </a:t>
            </a:r>
            <a:r>
              <a:rPr lang="de-DE" b="0" err="1"/>
              <a:t>Vehcile</a:t>
            </a:r>
            <a:r>
              <a:rPr lang="de-DE" b="0"/>
              <a:t>, </a:t>
            </a:r>
            <a:r>
              <a:rPr lang="de-DE" b="0" err="1"/>
              <a:t>meaning</a:t>
            </a:r>
            <a:r>
              <a:rPr lang="de-DE" b="0"/>
              <a:t> </a:t>
            </a:r>
            <a:r>
              <a:rPr lang="de-DE" b="0" err="1"/>
              <a:t>few</a:t>
            </a:r>
            <a:r>
              <a:rPr lang="de-DE" b="0"/>
              <a:t> ECUs (Electronic </a:t>
            </a:r>
            <a:r>
              <a:rPr lang="de-DE" b="0" err="1"/>
              <a:t>Controll</a:t>
            </a:r>
            <a:r>
              <a:rPr lang="de-DE" b="0"/>
              <a:t> Units) </a:t>
            </a:r>
            <a:r>
              <a:rPr lang="de-DE" b="0" err="1"/>
              <a:t>instead</a:t>
            </a:r>
            <a:r>
              <a:rPr lang="de-DE" b="0"/>
              <a:t> </a:t>
            </a:r>
            <a:r>
              <a:rPr lang="de-DE" b="0" err="1"/>
              <a:t>of</a:t>
            </a:r>
            <a:r>
              <a:rPr lang="de-DE" b="0"/>
              <a:t> </a:t>
            </a:r>
            <a:r>
              <a:rPr lang="de-DE" b="0" err="1"/>
              <a:t>many</a:t>
            </a:r>
            <a:r>
              <a:rPr lang="de-DE" b="0"/>
              <a:t>. In </a:t>
            </a:r>
            <a:r>
              <a:rPr lang="de-DE" b="0" err="1"/>
              <a:t>the</a:t>
            </a:r>
            <a:r>
              <a:rPr lang="de-DE" b="0"/>
              <a:t> </a:t>
            </a:r>
            <a:r>
              <a:rPr lang="de-DE" b="0" err="1"/>
              <a:t>past</a:t>
            </a:r>
            <a:r>
              <a:rPr lang="de-DE" b="0"/>
              <a:t>: </a:t>
            </a:r>
            <a:r>
              <a:rPr lang="de-DE" b="0" err="1"/>
              <a:t>every</a:t>
            </a:r>
            <a:r>
              <a:rPr lang="de-DE" b="0"/>
              <a:t> </a:t>
            </a:r>
            <a:r>
              <a:rPr lang="de-DE" b="0" err="1"/>
              <a:t>part</a:t>
            </a:r>
            <a:r>
              <a:rPr lang="de-DE" b="0"/>
              <a:t> </a:t>
            </a:r>
            <a:r>
              <a:rPr lang="de-DE" b="0" err="1"/>
              <a:t>delivered</a:t>
            </a:r>
            <a:r>
              <a:rPr lang="de-DE" b="0"/>
              <a:t> </a:t>
            </a:r>
            <a:r>
              <a:rPr lang="de-DE" b="0" err="1"/>
              <a:t>by</a:t>
            </a:r>
            <a:r>
              <a:rPr lang="de-DE" b="0"/>
              <a:t> a supplier </a:t>
            </a:r>
            <a:r>
              <a:rPr lang="de-DE" b="0" err="1"/>
              <a:t>came</a:t>
            </a:r>
            <a:r>
              <a:rPr lang="de-DE" b="0"/>
              <a:t> </a:t>
            </a:r>
            <a:r>
              <a:rPr lang="de-DE" b="0" err="1"/>
              <a:t>with</a:t>
            </a:r>
            <a:r>
              <a:rPr lang="de-DE" b="0"/>
              <a:t> </a:t>
            </a:r>
            <a:r>
              <a:rPr lang="de-DE" b="0" err="1"/>
              <a:t>its</a:t>
            </a:r>
            <a:r>
              <a:rPr lang="de-DE" b="0"/>
              <a:t> own </a:t>
            </a:r>
            <a:r>
              <a:rPr lang="de-DE" b="0" err="1"/>
              <a:t>ecu</a:t>
            </a:r>
            <a:endParaRPr lang="de-DE" b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b="0"/>
              <a:t> - Next </a:t>
            </a:r>
            <a:r>
              <a:rPr lang="de-DE" b="0" err="1"/>
              <a:t>generation</a:t>
            </a:r>
            <a:r>
              <a:rPr lang="de-DE" b="0"/>
              <a:t> </a:t>
            </a:r>
            <a:r>
              <a:rPr lang="de-DE" b="0" err="1"/>
              <a:t>Vehicles</a:t>
            </a:r>
            <a:r>
              <a:rPr lang="de-DE" b="0"/>
              <a:t> </a:t>
            </a:r>
            <a:r>
              <a:rPr lang="de-DE" b="0" err="1"/>
              <a:t>are</a:t>
            </a:r>
            <a:r>
              <a:rPr lang="de-DE" b="0"/>
              <a:t> </a:t>
            </a:r>
            <a:r>
              <a:rPr lang="de-DE" b="0" err="1"/>
              <a:t>software</a:t>
            </a:r>
            <a:r>
              <a:rPr lang="de-DE" b="0"/>
              <a:t> </a:t>
            </a:r>
            <a:r>
              <a:rPr lang="de-DE" b="0" err="1"/>
              <a:t>based</a:t>
            </a:r>
            <a:endParaRPr lang="de-DE" b="0"/>
          </a:p>
          <a:p>
            <a:endParaRPr lang="de-DE"/>
          </a:p>
          <a:p>
            <a:endParaRPr lang="de-DE"/>
          </a:p>
          <a:p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3/7/2023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Placeholder for the presentation title (Insert → header and footer)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911FAC-9449-45DE-8A46-624F11080A16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676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FAA61-39AE-3D19-8C1E-10B307C42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BF9B920-2ADA-B1BD-2795-D9233E672C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1F1EFAB-B61E-8B6C-6654-1DD3805152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b="0"/>
              <a:t>Volkswagen Group – </a:t>
            </a:r>
            <a:r>
              <a:rPr lang="de-DE" b="0" err="1"/>
              <a:t>industry</a:t>
            </a:r>
            <a:r>
              <a:rPr lang="de-DE" b="0"/>
              <a:t> </a:t>
            </a:r>
            <a:r>
              <a:rPr lang="de-DE" b="0" err="1"/>
              <a:t>leading</a:t>
            </a:r>
            <a:r>
              <a:rPr lang="de-DE" b="0"/>
              <a:t> </a:t>
            </a:r>
            <a:r>
              <a:rPr lang="de-DE" b="0" err="1"/>
              <a:t>vehicle</a:t>
            </a:r>
            <a:r>
              <a:rPr lang="de-DE" b="0"/>
              <a:t> </a:t>
            </a:r>
            <a:r>
              <a:rPr lang="de-DE" b="0" err="1"/>
              <a:t>technology</a:t>
            </a:r>
            <a:r>
              <a:rPr lang="de-DE" b="0"/>
              <a:t>, but </a:t>
            </a:r>
            <a:r>
              <a:rPr lang="de-DE" b="0" err="1"/>
              <a:t>needs</a:t>
            </a:r>
            <a:r>
              <a:rPr lang="de-DE" b="0"/>
              <a:t> to catch </a:t>
            </a:r>
            <a:r>
              <a:rPr lang="de-DE" b="0" err="1"/>
              <a:t>up</a:t>
            </a:r>
            <a:r>
              <a:rPr lang="de-DE" b="0"/>
              <a:t> </a:t>
            </a:r>
            <a:r>
              <a:rPr lang="de-DE" b="0" err="1"/>
              <a:t>with</a:t>
            </a:r>
            <a:r>
              <a:rPr lang="de-DE" b="0"/>
              <a:t> </a:t>
            </a:r>
            <a:r>
              <a:rPr lang="de-DE" b="0" err="1"/>
              <a:t>software</a:t>
            </a:r>
            <a:endParaRPr lang="de-DE" b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b="0"/>
              <a:t>Rivian – </a:t>
            </a:r>
            <a:r>
              <a:rPr lang="de-DE" b="0" err="1"/>
              <a:t>Competitor</a:t>
            </a:r>
            <a:r>
              <a:rPr lang="de-DE" b="0"/>
              <a:t> </a:t>
            </a:r>
            <a:r>
              <a:rPr lang="de-DE" b="0" err="1"/>
              <a:t>with</a:t>
            </a:r>
            <a:r>
              <a:rPr lang="de-DE" b="0"/>
              <a:t> </a:t>
            </a:r>
            <a:r>
              <a:rPr lang="de-DE" b="0" err="1"/>
              <a:t>best</a:t>
            </a:r>
            <a:r>
              <a:rPr lang="de-DE" b="0"/>
              <a:t> in </a:t>
            </a:r>
            <a:r>
              <a:rPr lang="de-DE" b="0" err="1"/>
              <a:t>class</a:t>
            </a:r>
            <a:r>
              <a:rPr lang="de-DE" b="0"/>
              <a:t> </a:t>
            </a:r>
            <a:r>
              <a:rPr lang="de-DE" b="0" err="1"/>
              <a:t>technology</a:t>
            </a:r>
            <a:r>
              <a:rPr lang="de-DE" b="0"/>
              <a:t> </a:t>
            </a:r>
            <a:r>
              <a:rPr lang="de-DE" b="0" err="1"/>
              <a:t>stack</a:t>
            </a:r>
            <a:endParaRPr lang="de-DE" b="0"/>
          </a:p>
          <a:p>
            <a:r>
              <a:rPr lang="de-DE" b="0"/>
              <a:t>Joint Venture: Rivian &amp; Volkswagen Group Technologies (RVT)</a:t>
            </a:r>
          </a:p>
          <a:p>
            <a:endParaRPr lang="de-DE"/>
          </a:p>
          <a:p>
            <a:endParaRPr lang="de-DE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b="0"/>
              <a:t>Disclaimer: </a:t>
            </a:r>
            <a:r>
              <a:rPr lang="de-DE" b="0" err="1"/>
              <a:t>Markets</a:t>
            </a:r>
            <a:r>
              <a:rPr lang="de-DE" b="0"/>
              <a:t> NA and EU. Asia, </a:t>
            </a:r>
            <a:r>
              <a:rPr lang="de-DE" b="0" err="1"/>
              <a:t>Africa</a:t>
            </a:r>
            <a:r>
              <a:rPr lang="de-DE" b="0"/>
              <a:t> &amp; SA will </a:t>
            </a:r>
            <a:r>
              <a:rPr lang="de-DE" b="0" err="1"/>
              <a:t>use</a:t>
            </a:r>
            <a:r>
              <a:rPr lang="de-DE" b="0"/>
              <a:t> </a:t>
            </a:r>
            <a:r>
              <a:rPr lang="de-DE" b="0" err="1"/>
              <a:t>new</a:t>
            </a:r>
            <a:r>
              <a:rPr lang="de-DE" b="0"/>
              <a:t> „CEA - China </a:t>
            </a:r>
            <a:r>
              <a:rPr lang="de-DE" b="0" err="1"/>
              <a:t>Electrical</a:t>
            </a:r>
            <a:r>
              <a:rPr lang="de-DE" b="0"/>
              <a:t> Architecture“. </a:t>
            </a:r>
            <a:r>
              <a:rPr lang="de-DE" b="0" err="1"/>
              <a:t>Developed</a:t>
            </a:r>
            <a:r>
              <a:rPr lang="de-DE" b="0"/>
              <a:t> </a:t>
            </a:r>
            <a:r>
              <a:rPr lang="de-DE" b="0" err="1"/>
              <a:t>by</a:t>
            </a:r>
            <a:r>
              <a:rPr lang="de-DE" b="0"/>
              <a:t> </a:t>
            </a:r>
            <a:r>
              <a:rPr lang="de-DE" b="0" err="1"/>
              <a:t>XPeng</a:t>
            </a:r>
            <a:r>
              <a:rPr lang="de-DE" b="0"/>
              <a:t>, CARIAD China and </a:t>
            </a:r>
            <a:r>
              <a:rPr lang="de-DE" b="0" err="1"/>
              <a:t>VWGroup</a:t>
            </a:r>
            <a:r>
              <a:rPr lang="de-DE" b="0"/>
              <a:t> China Technology Company. </a:t>
            </a:r>
          </a:p>
          <a:p>
            <a:endParaRPr lang="de-DE"/>
          </a:p>
          <a:p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70E918E-B4AD-066A-9F9E-A9C7BC4CA4E8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3/7/2023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CE80FB0-6256-DA81-262D-34A4BA1AD81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Placeholder for the presentation title (Insert → header and footer)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48E1897-7183-9D7B-39BA-2B9DD6BFB3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911FAC-9449-45DE-8A46-624F11080A16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0787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b="0"/>
              <a:t>Less </a:t>
            </a:r>
            <a:r>
              <a:rPr lang="de-DE" b="0" err="1"/>
              <a:t>repairs</a:t>
            </a:r>
            <a:r>
              <a:rPr lang="de-DE" b="0"/>
              <a:t> in </a:t>
            </a:r>
            <a:r>
              <a:rPr lang="de-DE" b="0" err="1"/>
              <a:t>workshop</a:t>
            </a:r>
            <a:r>
              <a:rPr lang="de-DE" b="0"/>
              <a:t>, </a:t>
            </a:r>
            <a:r>
              <a:rPr lang="de-DE" b="0" err="1"/>
              <a:t>more</a:t>
            </a:r>
            <a:r>
              <a:rPr lang="de-DE" b="0"/>
              <a:t> </a:t>
            </a:r>
            <a:r>
              <a:rPr lang="de-DE" b="0" err="1"/>
              <a:t>repairs</a:t>
            </a:r>
            <a:r>
              <a:rPr lang="de-DE" b="0"/>
              <a:t> at </a:t>
            </a:r>
            <a:r>
              <a:rPr lang="de-DE" b="0" err="1"/>
              <a:t>home</a:t>
            </a:r>
            <a:endParaRPr lang="de-DE" b="0"/>
          </a:p>
          <a:p>
            <a:r>
              <a:rPr lang="de-DE" b="0"/>
              <a:t>New </a:t>
            </a:r>
            <a:r>
              <a:rPr lang="de-DE" b="0" err="1"/>
              <a:t>features</a:t>
            </a:r>
            <a:r>
              <a:rPr lang="de-DE" b="0"/>
              <a:t> </a:t>
            </a:r>
            <a:r>
              <a:rPr lang="de-DE" b="0" err="1"/>
              <a:t>rolled</a:t>
            </a:r>
            <a:r>
              <a:rPr lang="de-DE" b="0"/>
              <a:t> out OTA</a:t>
            </a:r>
          </a:p>
          <a:p>
            <a:r>
              <a:rPr lang="de-DE" b="0"/>
              <a:t> - </a:t>
            </a:r>
            <a:r>
              <a:rPr lang="de-DE" b="0" err="1"/>
              <a:t>no</a:t>
            </a:r>
            <a:r>
              <a:rPr lang="de-DE" b="0"/>
              <a:t> </a:t>
            </a:r>
            <a:r>
              <a:rPr lang="de-DE" b="0" err="1"/>
              <a:t>appointments</a:t>
            </a:r>
            <a:endParaRPr lang="de-DE" b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b="0"/>
              <a:t> - </a:t>
            </a:r>
            <a:r>
              <a:rPr lang="de-DE" b="0" err="1"/>
              <a:t>no</a:t>
            </a:r>
            <a:r>
              <a:rPr lang="de-DE" b="0"/>
              <a:t> </a:t>
            </a:r>
            <a:r>
              <a:rPr lang="de-DE" b="0" err="1"/>
              <a:t>service</a:t>
            </a:r>
            <a:r>
              <a:rPr lang="de-DE" b="0"/>
              <a:t> </a:t>
            </a:r>
            <a:r>
              <a:rPr lang="de-DE" b="0" err="1"/>
              <a:t>costs</a:t>
            </a:r>
            <a:endParaRPr lang="de-DE" b="0"/>
          </a:p>
          <a:p>
            <a:r>
              <a:rPr lang="de-DE" b="0"/>
              <a:t> - </a:t>
            </a:r>
            <a:r>
              <a:rPr lang="de-DE" b="0" err="1"/>
              <a:t>faster</a:t>
            </a:r>
            <a:r>
              <a:rPr lang="de-DE" b="0"/>
              <a:t> </a:t>
            </a:r>
            <a:r>
              <a:rPr lang="de-DE" b="0" err="1"/>
              <a:t>updates</a:t>
            </a:r>
            <a:endParaRPr lang="de-DE" b="0"/>
          </a:p>
          <a:p>
            <a:r>
              <a:rPr lang="de-DE" b="0"/>
              <a:t> - </a:t>
            </a:r>
            <a:r>
              <a:rPr lang="de-DE" b="0" err="1"/>
              <a:t>more</a:t>
            </a:r>
            <a:r>
              <a:rPr lang="de-DE" b="0"/>
              <a:t> </a:t>
            </a:r>
            <a:r>
              <a:rPr lang="de-DE" b="0" err="1"/>
              <a:t>updates</a:t>
            </a:r>
            <a:endParaRPr lang="de-DE" b="0"/>
          </a:p>
          <a:p>
            <a:r>
              <a:rPr lang="de-DE" b="0"/>
              <a:t>Recall2 </a:t>
            </a:r>
            <a:r>
              <a:rPr lang="de-DE" b="0" err="1"/>
              <a:t>is</a:t>
            </a:r>
            <a:r>
              <a:rPr lang="de-DE" b="0"/>
              <a:t> essential to manage all </a:t>
            </a:r>
            <a:r>
              <a:rPr lang="de-DE" b="0" err="1"/>
              <a:t>recall</a:t>
            </a:r>
            <a:r>
              <a:rPr lang="de-DE" b="0"/>
              <a:t> </a:t>
            </a:r>
            <a:r>
              <a:rPr lang="de-DE" b="0" err="1"/>
              <a:t>campaign</a:t>
            </a:r>
            <a:r>
              <a:rPr lang="de-DE" b="0"/>
              <a:t> relevant </a:t>
            </a:r>
            <a:r>
              <a:rPr lang="de-DE" b="0" err="1"/>
              <a:t>software</a:t>
            </a:r>
            <a:r>
              <a:rPr lang="de-DE" b="0"/>
              <a:t> </a:t>
            </a:r>
            <a:r>
              <a:rPr lang="de-DE" b="0" err="1"/>
              <a:t>updates</a:t>
            </a:r>
            <a:endParaRPr lang="de-DE" b="0"/>
          </a:p>
          <a:p>
            <a:r>
              <a:rPr lang="de-DE" b="0"/>
              <a:t>Recall2 </a:t>
            </a:r>
            <a:r>
              <a:rPr lang="de-DE" b="0" err="1"/>
              <a:t>is</a:t>
            </a:r>
            <a:r>
              <a:rPr lang="de-DE" b="0"/>
              <a:t> </a:t>
            </a:r>
            <a:r>
              <a:rPr lang="de-DE" b="0" err="1"/>
              <a:t>used</a:t>
            </a:r>
            <a:r>
              <a:rPr lang="de-DE" b="0"/>
              <a:t> </a:t>
            </a:r>
            <a:r>
              <a:rPr lang="de-DE" b="0" err="1"/>
              <a:t>indirectly</a:t>
            </a:r>
            <a:r>
              <a:rPr lang="de-DE" b="0"/>
              <a:t> via APIs</a:t>
            </a:r>
          </a:p>
          <a:p>
            <a:endParaRPr lang="de-DE" b="0"/>
          </a:p>
        </p:txBody>
      </p:sp>
      <p:sp>
        <p:nvSpPr>
          <p:cNvPr id="4" name="Datumsplatzhalt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3/7/2023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Placeholder for the presentation title (Insert → header and footer)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911FAC-9449-45DE-8A46-624F11080A16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5982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de-DE" b="0"/>
              <a:t>First Model: ID.1</a:t>
            </a:r>
          </a:p>
          <a:p>
            <a:pPr marL="285750" indent="-285750">
              <a:buFontTx/>
              <a:buChar char="-"/>
            </a:pPr>
            <a:r>
              <a:rPr lang="de-DE" b="0"/>
              <a:t>New </a:t>
            </a:r>
            <a:r>
              <a:rPr lang="de-DE" b="0" err="1"/>
              <a:t>electronics</a:t>
            </a:r>
            <a:r>
              <a:rPr lang="de-DE" b="0"/>
              <a:t> and </a:t>
            </a:r>
            <a:r>
              <a:rPr lang="de-DE" b="0" err="1"/>
              <a:t>Electrics</a:t>
            </a:r>
            <a:endParaRPr lang="de-DE" b="0"/>
          </a:p>
          <a:p>
            <a:pPr marL="285750" indent="-285750">
              <a:buFontTx/>
              <a:buChar char="-"/>
            </a:pPr>
            <a:r>
              <a:rPr lang="de-DE" b="0"/>
              <a:t>but not </a:t>
            </a:r>
            <a:r>
              <a:rPr lang="de-DE" b="0" err="1"/>
              <a:t>only</a:t>
            </a:r>
            <a:r>
              <a:rPr lang="de-DE" b="0"/>
              <a:t> </a:t>
            </a:r>
            <a:r>
              <a:rPr lang="de-DE" b="0" err="1"/>
              <a:t>that</a:t>
            </a:r>
            <a:r>
              <a:rPr lang="de-DE" b="0"/>
              <a:t>, </a:t>
            </a:r>
            <a:r>
              <a:rPr lang="de-DE" b="0" err="1"/>
              <a:t>it</a:t>
            </a:r>
            <a:r>
              <a:rPr lang="de-DE" b="0"/>
              <a:t> all </a:t>
            </a:r>
            <a:r>
              <a:rPr lang="de-DE" b="0" err="1"/>
              <a:t>comes</a:t>
            </a:r>
            <a:r>
              <a:rPr lang="de-DE" b="0"/>
              <a:t> </a:t>
            </a:r>
            <a:r>
              <a:rPr lang="de-DE" b="0" err="1"/>
              <a:t>with</a:t>
            </a:r>
            <a:r>
              <a:rPr lang="de-DE" b="0"/>
              <a:t> </a:t>
            </a:r>
            <a:r>
              <a:rPr lang="de-DE" b="0" err="1"/>
              <a:t>cloud</a:t>
            </a:r>
            <a:r>
              <a:rPr lang="de-DE" b="0"/>
              <a:t> </a:t>
            </a:r>
            <a:r>
              <a:rPr lang="de-DE" b="0" err="1"/>
              <a:t>connectivity</a:t>
            </a:r>
            <a:endParaRPr lang="de-DE" b="0"/>
          </a:p>
          <a:p>
            <a:pPr marL="285750" indent="-285750">
              <a:buFontTx/>
              <a:buChar char="-"/>
            </a:pPr>
            <a:r>
              <a:rPr lang="de-DE" b="0"/>
              <a:t>Most </a:t>
            </a:r>
            <a:r>
              <a:rPr lang="de-DE" b="0" err="1"/>
              <a:t>important</a:t>
            </a:r>
            <a:r>
              <a:rPr lang="de-DE" b="0"/>
              <a:t>: Over </a:t>
            </a:r>
            <a:r>
              <a:rPr lang="de-DE" b="0" err="1"/>
              <a:t>the</a:t>
            </a:r>
            <a:r>
              <a:rPr lang="de-DE" b="0"/>
              <a:t> Air Updates</a:t>
            </a:r>
          </a:p>
          <a:p>
            <a:endParaRPr lang="de-DE" b="0"/>
          </a:p>
          <a:p>
            <a:endParaRPr lang="de-DE" b="0"/>
          </a:p>
          <a:p>
            <a:r>
              <a:rPr lang="de-DE" b="0"/>
              <a:t>RVT Cloud </a:t>
            </a:r>
            <a:r>
              <a:rPr lang="de-DE" b="0" err="1"/>
              <a:t>comes</a:t>
            </a:r>
            <a:r>
              <a:rPr lang="de-DE" b="0"/>
              <a:t> </a:t>
            </a:r>
            <a:r>
              <a:rPr lang="de-DE" b="0" err="1"/>
              <a:t>with</a:t>
            </a:r>
            <a:r>
              <a:rPr lang="de-DE" b="0"/>
              <a:t> </a:t>
            </a:r>
            <a:r>
              <a:rPr lang="de-DE" b="0" err="1"/>
              <a:t>lot</a:t>
            </a:r>
            <a:r>
              <a:rPr lang="de-DE" b="0"/>
              <a:t> </a:t>
            </a:r>
            <a:r>
              <a:rPr lang="de-DE" b="0" err="1"/>
              <a:t>of</a:t>
            </a:r>
            <a:r>
              <a:rPr lang="de-DE" b="0"/>
              <a:t> </a:t>
            </a:r>
            <a:r>
              <a:rPr lang="de-DE" b="0" err="1"/>
              <a:t>services</a:t>
            </a:r>
            <a:endParaRPr lang="de-DE" b="0"/>
          </a:p>
          <a:p>
            <a:r>
              <a:rPr lang="de-DE" b="0"/>
              <a:t>But </a:t>
            </a:r>
            <a:r>
              <a:rPr lang="de-DE" b="0" err="1"/>
              <a:t>something</a:t>
            </a:r>
            <a:r>
              <a:rPr lang="de-DE" b="0"/>
              <a:t> </a:t>
            </a:r>
            <a:r>
              <a:rPr lang="de-DE" b="0" err="1"/>
              <a:t>is</a:t>
            </a:r>
            <a:r>
              <a:rPr lang="de-DE" b="0"/>
              <a:t> </a:t>
            </a:r>
            <a:r>
              <a:rPr lang="de-DE" b="0" err="1"/>
              <a:t>missing</a:t>
            </a:r>
            <a:endParaRPr lang="de-DE" b="0"/>
          </a:p>
          <a:p>
            <a:r>
              <a:rPr lang="de-DE" b="0"/>
              <a:t> - </a:t>
            </a:r>
            <a:r>
              <a:rPr lang="de-DE" b="0" err="1"/>
              <a:t>e.g</a:t>
            </a:r>
            <a:r>
              <a:rPr lang="de-DE" b="0"/>
              <a:t>: </a:t>
            </a:r>
            <a:r>
              <a:rPr lang="de-DE" b="0" err="1"/>
              <a:t>how</a:t>
            </a:r>
            <a:r>
              <a:rPr lang="de-DE" b="0"/>
              <a:t> </a:t>
            </a:r>
            <a:r>
              <a:rPr lang="de-DE" b="0" err="1"/>
              <a:t>to</a:t>
            </a:r>
            <a:r>
              <a:rPr lang="de-DE" b="0"/>
              <a:t> </a:t>
            </a:r>
            <a:r>
              <a:rPr lang="de-DE" b="0" err="1"/>
              <a:t>install</a:t>
            </a:r>
            <a:r>
              <a:rPr lang="de-DE" b="0"/>
              <a:t> </a:t>
            </a:r>
            <a:r>
              <a:rPr lang="de-DE" b="0" err="1"/>
              <a:t>the</a:t>
            </a:r>
            <a:r>
              <a:rPr lang="de-DE" b="0"/>
              <a:t> </a:t>
            </a:r>
            <a:r>
              <a:rPr lang="de-DE" b="0" err="1"/>
              <a:t>vehicle</a:t>
            </a:r>
            <a:r>
              <a:rPr lang="de-DE" b="0"/>
              <a:t> </a:t>
            </a:r>
            <a:r>
              <a:rPr lang="de-DE" b="0" err="1"/>
              <a:t>software</a:t>
            </a:r>
            <a:r>
              <a:rPr lang="de-DE" b="0"/>
              <a:t> in </a:t>
            </a:r>
            <a:r>
              <a:rPr lang="de-DE" b="0" err="1"/>
              <a:t>production</a:t>
            </a:r>
            <a:r>
              <a:rPr lang="de-DE" b="0"/>
              <a:t> </a:t>
            </a:r>
            <a:r>
              <a:rPr lang="de-DE" b="0" err="1"/>
              <a:t>line</a:t>
            </a:r>
            <a:endParaRPr lang="de-DE" b="0"/>
          </a:p>
          <a:p>
            <a:r>
              <a:rPr lang="de-DE" b="0"/>
              <a:t> - </a:t>
            </a:r>
            <a:r>
              <a:rPr lang="de-DE" b="0" err="1"/>
              <a:t>or</a:t>
            </a:r>
            <a:r>
              <a:rPr lang="de-DE" b="0"/>
              <a:t>: </a:t>
            </a:r>
            <a:r>
              <a:rPr lang="de-DE" b="0" err="1"/>
              <a:t>how</a:t>
            </a:r>
            <a:r>
              <a:rPr lang="de-DE" b="0"/>
              <a:t> </a:t>
            </a:r>
            <a:r>
              <a:rPr lang="de-DE" b="0" err="1"/>
              <a:t>to</a:t>
            </a:r>
            <a:r>
              <a:rPr lang="de-DE" b="0"/>
              <a:t> handle </a:t>
            </a:r>
            <a:r>
              <a:rPr lang="de-DE" b="0" err="1"/>
              <a:t>security</a:t>
            </a:r>
            <a:r>
              <a:rPr lang="de-DE" b="0"/>
              <a:t> relevant </a:t>
            </a:r>
            <a:r>
              <a:rPr lang="de-DE" b="0" err="1"/>
              <a:t>updates</a:t>
            </a:r>
            <a:r>
              <a:rPr lang="de-DE" b="0"/>
              <a:t> in </a:t>
            </a:r>
            <a:r>
              <a:rPr lang="de-DE" b="0" err="1"/>
              <a:t>the</a:t>
            </a:r>
            <a:r>
              <a:rPr lang="de-DE" b="0"/>
              <a:t> </a:t>
            </a:r>
            <a:r>
              <a:rPr lang="de-DE" b="0" err="1"/>
              <a:t>field</a:t>
            </a:r>
            <a:endParaRPr lang="de-DE" b="0"/>
          </a:p>
          <a:p>
            <a:r>
              <a:rPr lang="de-DE" b="0"/>
              <a:t>Why </a:t>
            </a:r>
            <a:r>
              <a:rPr lang="de-DE" b="0" err="1"/>
              <a:t>is</a:t>
            </a:r>
            <a:r>
              <a:rPr lang="de-DE" b="0"/>
              <a:t> </a:t>
            </a:r>
            <a:r>
              <a:rPr lang="de-DE" b="0" err="1"/>
              <a:t>that</a:t>
            </a:r>
            <a:r>
              <a:rPr lang="de-DE" b="0"/>
              <a:t>?</a:t>
            </a:r>
          </a:p>
          <a:p>
            <a:r>
              <a:rPr lang="de-DE" b="0"/>
              <a:t> - Rivian (not RVT) </a:t>
            </a:r>
            <a:r>
              <a:rPr lang="de-DE" b="0" err="1"/>
              <a:t>as</a:t>
            </a:r>
            <a:r>
              <a:rPr lang="de-DE" b="0"/>
              <a:t> a </a:t>
            </a:r>
            <a:r>
              <a:rPr lang="de-DE" b="0" err="1"/>
              <a:t>competitor</a:t>
            </a:r>
            <a:r>
              <a:rPr lang="de-DE" b="0"/>
              <a:t> </a:t>
            </a:r>
            <a:r>
              <a:rPr lang="de-DE" b="0" err="1"/>
              <a:t>has</a:t>
            </a:r>
            <a:r>
              <a:rPr lang="de-DE" b="0"/>
              <a:t> </a:t>
            </a:r>
            <a:r>
              <a:rPr lang="de-DE" b="0" err="1"/>
              <a:t>less</a:t>
            </a:r>
            <a:r>
              <a:rPr lang="de-DE" b="0"/>
              <a:t> </a:t>
            </a:r>
            <a:r>
              <a:rPr lang="de-DE" b="0" err="1"/>
              <a:t>complexity</a:t>
            </a:r>
            <a:r>
              <a:rPr lang="de-DE" b="0"/>
              <a:t> (3 </a:t>
            </a:r>
            <a:r>
              <a:rPr lang="de-DE" b="0" err="1"/>
              <a:t>models</a:t>
            </a:r>
            <a:r>
              <a:rPr lang="de-DE" b="0"/>
              <a:t>), large </a:t>
            </a:r>
            <a:r>
              <a:rPr lang="de-DE" b="0" err="1"/>
              <a:t>scale</a:t>
            </a:r>
            <a:r>
              <a:rPr lang="de-DE" b="0"/>
              <a:t> </a:t>
            </a:r>
            <a:r>
              <a:rPr lang="de-DE" b="0" err="1"/>
              <a:t>systems</a:t>
            </a:r>
            <a:r>
              <a:rPr lang="de-DE" b="0"/>
              <a:t> like Recall </a:t>
            </a:r>
            <a:r>
              <a:rPr lang="de-DE" b="0" err="1"/>
              <a:t>are</a:t>
            </a:r>
            <a:r>
              <a:rPr lang="de-DE" b="0"/>
              <a:t> not </a:t>
            </a:r>
            <a:r>
              <a:rPr lang="de-DE" b="0" err="1"/>
              <a:t>needed</a:t>
            </a:r>
            <a:endParaRPr lang="de-DE" b="0"/>
          </a:p>
          <a:p>
            <a:r>
              <a:rPr lang="de-DE" b="0"/>
              <a:t> - Chance </a:t>
            </a:r>
            <a:r>
              <a:rPr lang="de-DE" b="0" err="1"/>
              <a:t>for</a:t>
            </a:r>
            <a:r>
              <a:rPr lang="de-DE" b="0"/>
              <a:t> </a:t>
            </a:r>
            <a:r>
              <a:rPr lang="de-DE" b="0" err="1"/>
              <a:t>simplification</a:t>
            </a:r>
            <a:r>
              <a:rPr lang="de-DE" b="0"/>
              <a:t>, but Business </a:t>
            </a:r>
            <a:r>
              <a:rPr lang="de-DE" b="0" err="1"/>
              <a:t>needs</a:t>
            </a:r>
            <a:r>
              <a:rPr lang="de-DE" b="0"/>
              <a:t> </a:t>
            </a:r>
            <a:r>
              <a:rPr lang="de-DE" b="0" err="1"/>
              <a:t>to</a:t>
            </a:r>
            <a:r>
              <a:rPr lang="de-DE" b="0"/>
              <a:t> </a:t>
            </a:r>
            <a:r>
              <a:rPr lang="de-DE" b="0" err="1"/>
              <a:t>continue</a:t>
            </a:r>
            <a:r>
              <a:rPr lang="de-DE" b="0"/>
              <a:t> (in parallel </a:t>
            </a:r>
            <a:r>
              <a:rPr lang="de-DE" b="0" err="1"/>
              <a:t>new</a:t>
            </a:r>
            <a:r>
              <a:rPr lang="de-DE" b="0"/>
              <a:t> and </a:t>
            </a:r>
            <a:r>
              <a:rPr lang="de-DE" b="0" err="1"/>
              <a:t>old</a:t>
            </a:r>
            <a:r>
              <a:rPr lang="de-DE" b="0"/>
              <a:t> </a:t>
            </a:r>
            <a:r>
              <a:rPr lang="de-DE" b="0" err="1"/>
              <a:t>models</a:t>
            </a:r>
            <a:r>
              <a:rPr lang="de-DE" b="0"/>
              <a:t>)</a:t>
            </a:r>
          </a:p>
          <a:p>
            <a:endParaRPr lang="de-DE" b="0"/>
          </a:p>
          <a:p>
            <a:endParaRPr lang="de-DE" b="0"/>
          </a:p>
          <a:p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3/7/2023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Placeholder for the presentation title (Insert → header and footer)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911FAC-9449-45DE-8A46-624F11080A16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6812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A8CE5-822E-C822-D280-B463E93CA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432AC2D-232E-5B93-B99D-9DAE86FDCF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976D5AD-0A54-D344-C9B8-3C0D9503BD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de-DE" b="0"/>
              <a:t>First Model: ID.1</a:t>
            </a:r>
          </a:p>
          <a:p>
            <a:pPr marL="285750" indent="-285750">
              <a:buFontTx/>
              <a:buChar char="-"/>
            </a:pPr>
            <a:r>
              <a:rPr lang="de-DE" b="0"/>
              <a:t>New </a:t>
            </a:r>
            <a:r>
              <a:rPr lang="de-DE" b="0" err="1"/>
              <a:t>electronics</a:t>
            </a:r>
            <a:r>
              <a:rPr lang="de-DE" b="0"/>
              <a:t> and </a:t>
            </a:r>
            <a:r>
              <a:rPr lang="de-DE" b="0" err="1"/>
              <a:t>Electrics</a:t>
            </a:r>
            <a:endParaRPr lang="de-DE" b="0"/>
          </a:p>
          <a:p>
            <a:pPr marL="285750" indent="-285750">
              <a:buFontTx/>
              <a:buChar char="-"/>
            </a:pPr>
            <a:r>
              <a:rPr lang="de-DE" b="0"/>
              <a:t>but not </a:t>
            </a:r>
            <a:r>
              <a:rPr lang="de-DE" b="0" err="1"/>
              <a:t>only</a:t>
            </a:r>
            <a:r>
              <a:rPr lang="de-DE" b="0"/>
              <a:t> </a:t>
            </a:r>
            <a:r>
              <a:rPr lang="de-DE" b="0" err="1"/>
              <a:t>that</a:t>
            </a:r>
            <a:r>
              <a:rPr lang="de-DE" b="0"/>
              <a:t>, </a:t>
            </a:r>
            <a:r>
              <a:rPr lang="de-DE" b="0" err="1"/>
              <a:t>it</a:t>
            </a:r>
            <a:r>
              <a:rPr lang="de-DE" b="0"/>
              <a:t> all </a:t>
            </a:r>
            <a:r>
              <a:rPr lang="de-DE" b="0" err="1"/>
              <a:t>comes</a:t>
            </a:r>
            <a:r>
              <a:rPr lang="de-DE" b="0"/>
              <a:t> </a:t>
            </a:r>
            <a:r>
              <a:rPr lang="de-DE" b="0" err="1"/>
              <a:t>with</a:t>
            </a:r>
            <a:r>
              <a:rPr lang="de-DE" b="0"/>
              <a:t> </a:t>
            </a:r>
            <a:r>
              <a:rPr lang="de-DE" b="0" err="1"/>
              <a:t>cloud</a:t>
            </a:r>
            <a:r>
              <a:rPr lang="de-DE" b="0"/>
              <a:t> </a:t>
            </a:r>
            <a:r>
              <a:rPr lang="de-DE" b="0" err="1"/>
              <a:t>connectivity</a:t>
            </a:r>
            <a:endParaRPr lang="de-DE" b="0"/>
          </a:p>
          <a:p>
            <a:pPr marL="285750" indent="-285750">
              <a:buFontTx/>
              <a:buChar char="-"/>
            </a:pPr>
            <a:r>
              <a:rPr lang="de-DE" b="0"/>
              <a:t>Most </a:t>
            </a:r>
            <a:r>
              <a:rPr lang="de-DE" b="0" err="1"/>
              <a:t>important</a:t>
            </a:r>
            <a:r>
              <a:rPr lang="de-DE" b="0"/>
              <a:t>: Over </a:t>
            </a:r>
            <a:r>
              <a:rPr lang="de-DE" b="0" err="1"/>
              <a:t>the</a:t>
            </a:r>
            <a:r>
              <a:rPr lang="de-DE" b="0"/>
              <a:t> Air Updates</a:t>
            </a:r>
          </a:p>
          <a:p>
            <a:endParaRPr lang="de-DE" b="0"/>
          </a:p>
          <a:p>
            <a:endParaRPr lang="de-DE" b="0"/>
          </a:p>
          <a:p>
            <a:r>
              <a:rPr lang="de-DE" b="0"/>
              <a:t>RVT Cloud </a:t>
            </a:r>
            <a:r>
              <a:rPr lang="de-DE" b="0" err="1"/>
              <a:t>comes</a:t>
            </a:r>
            <a:r>
              <a:rPr lang="de-DE" b="0"/>
              <a:t> </a:t>
            </a:r>
            <a:r>
              <a:rPr lang="de-DE" b="0" err="1"/>
              <a:t>with</a:t>
            </a:r>
            <a:r>
              <a:rPr lang="de-DE" b="0"/>
              <a:t> </a:t>
            </a:r>
            <a:r>
              <a:rPr lang="de-DE" b="0" err="1"/>
              <a:t>lot</a:t>
            </a:r>
            <a:r>
              <a:rPr lang="de-DE" b="0"/>
              <a:t> </a:t>
            </a:r>
            <a:r>
              <a:rPr lang="de-DE" b="0" err="1"/>
              <a:t>of</a:t>
            </a:r>
            <a:r>
              <a:rPr lang="de-DE" b="0"/>
              <a:t> </a:t>
            </a:r>
            <a:r>
              <a:rPr lang="de-DE" b="0" err="1"/>
              <a:t>services</a:t>
            </a:r>
            <a:endParaRPr lang="de-DE" b="0"/>
          </a:p>
          <a:p>
            <a:r>
              <a:rPr lang="de-DE" b="0"/>
              <a:t>But </a:t>
            </a:r>
            <a:r>
              <a:rPr lang="de-DE" b="0" err="1"/>
              <a:t>something</a:t>
            </a:r>
            <a:r>
              <a:rPr lang="de-DE" b="0"/>
              <a:t> </a:t>
            </a:r>
            <a:r>
              <a:rPr lang="de-DE" b="0" err="1"/>
              <a:t>is</a:t>
            </a:r>
            <a:r>
              <a:rPr lang="de-DE" b="0"/>
              <a:t> </a:t>
            </a:r>
            <a:r>
              <a:rPr lang="de-DE" b="0" err="1"/>
              <a:t>missing</a:t>
            </a:r>
            <a:endParaRPr lang="de-DE" b="0"/>
          </a:p>
          <a:p>
            <a:r>
              <a:rPr lang="de-DE" b="0"/>
              <a:t> - </a:t>
            </a:r>
            <a:r>
              <a:rPr lang="de-DE" b="0" err="1"/>
              <a:t>e.g</a:t>
            </a:r>
            <a:r>
              <a:rPr lang="de-DE" b="0"/>
              <a:t>: </a:t>
            </a:r>
            <a:r>
              <a:rPr lang="de-DE" b="0" err="1"/>
              <a:t>how</a:t>
            </a:r>
            <a:r>
              <a:rPr lang="de-DE" b="0"/>
              <a:t> </a:t>
            </a:r>
            <a:r>
              <a:rPr lang="de-DE" b="0" err="1"/>
              <a:t>to</a:t>
            </a:r>
            <a:r>
              <a:rPr lang="de-DE" b="0"/>
              <a:t> </a:t>
            </a:r>
            <a:r>
              <a:rPr lang="de-DE" b="0" err="1"/>
              <a:t>install</a:t>
            </a:r>
            <a:r>
              <a:rPr lang="de-DE" b="0"/>
              <a:t> </a:t>
            </a:r>
            <a:r>
              <a:rPr lang="de-DE" b="0" err="1"/>
              <a:t>the</a:t>
            </a:r>
            <a:r>
              <a:rPr lang="de-DE" b="0"/>
              <a:t> </a:t>
            </a:r>
            <a:r>
              <a:rPr lang="de-DE" b="0" err="1"/>
              <a:t>vehicle</a:t>
            </a:r>
            <a:r>
              <a:rPr lang="de-DE" b="0"/>
              <a:t> </a:t>
            </a:r>
            <a:r>
              <a:rPr lang="de-DE" b="0" err="1"/>
              <a:t>software</a:t>
            </a:r>
            <a:r>
              <a:rPr lang="de-DE" b="0"/>
              <a:t> in </a:t>
            </a:r>
            <a:r>
              <a:rPr lang="de-DE" b="0" err="1"/>
              <a:t>production</a:t>
            </a:r>
            <a:r>
              <a:rPr lang="de-DE" b="0"/>
              <a:t> </a:t>
            </a:r>
            <a:r>
              <a:rPr lang="de-DE" b="0" err="1"/>
              <a:t>line</a:t>
            </a:r>
            <a:endParaRPr lang="de-DE" b="0"/>
          </a:p>
          <a:p>
            <a:r>
              <a:rPr lang="de-DE" b="0"/>
              <a:t> - </a:t>
            </a:r>
            <a:r>
              <a:rPr lang="de-DE" b="0" err="1"/>
              <a:t>or</a:t>
            </a:r>
            <a:r>
              <a:rPr lang="de-DE" b="0"/>
              <a:t>: </a:t>
            </a:r>
            <a:r>
              <a:rPr lang="de-DE" b="0" err="1"/>
              <a:t>how</a:t>
            </a:r>
            <a:r>
              <a:rPr lang="de-DE" b="0"/>
              <a:t> </a:t>
            </a:r>
            <a:r>
              <a:rPr lang="de-DE" b="0" err="1"/>
              <a:t>to</a:t>
            </a:r>
            <a:r>
              <a:rPr lang="de-DE" b="0"/>
              <a:t> handle </a:t>
            </a:r>
            <a:r>
              <a:rPr lang="de-DE" b="0" err="1"/>
              <a:t>security</a:t>
            </a:r>
            <a:r>
              <a:rPr lang="de-DE" b="0"/>
              <a:t> relevant </a:t>
            </a:r>
            <a:r>
              <a:rPr lang="de-DE" b="0" err="1"/>
              <a:t>updates</a:t>
            </a:r>
            <a:r>
              <a:rPr lang="de-DE" b="0"/>
              <a:t> in </a:t>
            </a:r>
            <a:r>
              <a:rPr lang="de-DE" b="0" err="1"/>
              <a:t>the</a:t>
            </a:r>
            <a:r>
              <a:rPr lang="de-DE" b="0"/>
              <a:t> </a:t>
            </a:r>
            <a:r>
              <a:rPr lang="de-DE" b="0" err="1"/>
              <a:t>field</a:t>
            </a:r>
            <a:endParaRPr lang="de-DE" b="0"/>
          </a:p>
          <a:p>
            <a:r>
              <a:rPr lang="de-DE" b="0"/>
              <a:t>Why </a:t>
            </a:r>
            <a:r>
              <a:rPr lang="de-DE" b="0" err="1"/>
              <a:t>is</a:t>
            </a:r>
            <a:r>
              <a:rPr lang="de-DE" b="0"/>
              <a:t> </a:t>
            </a:r>
            <a:r>
              <a:rPr lang="de-DE" b="0" err="1"/>
              <a:t>that</a:t>
            </a:r>
            <a:r>
              <a:rPr lang="de-DE" b="0"/>
              <a:t>?</a:t>
            </a:r>
          </a:p>
          <a:p>
            <a:r>
              <a:rPr lang="de-DE" b="0"/>
              <a:t> - Rivian (not RVT) </a:t>
            </a:r>
            <a:r>
              <a:rPr lang="de-DE" b="0" err="1"/>
              <a:t>as</a:t>
            </a:r>
            <a:r>
              <a:rPr lang="de-DE" b="0"/>
              <a:t> a </a:t>
            </a:r>
            <a:r>
              <a:rPr lang="de-DE" b="0" err="1"/>
              <a:t>competitor</a:t>
            </a:r>
            <a:r>
              <a:rPr lang="de-DE" b="0"/>
              <a:t> </a:t>
            </a:r>
            <a:r>
              <a:rPr lang="de-DE" b="0" err="1"/>
              <a:t>has</a:t>
            </a:r>
            <a:r>
              <a:rPr lang="de-DE" b="0"/>
              <a:t> </a:t>
            </a:r>
            <a:r>
              <a:rPr lang="de-DE" b="0" err="1"/>
              <a:t>less</a:t>
            </a:r>
            <a:r>
              <a:rPr lang="de-DE" b="0"/>
              <a:t> </a:t>
            </a:r>
            <a:r>
              <a:rPr lang="de-DE" b="0" err="1"/>
              <a:t>complexity</a:t>
            </a:r>
            <a:r>
              <a:rPr lang="de-DE" b="0"/>
              <a:t> (3 </a:t>
            </a:r>
            <a:r>
              <a:rPr lang="de-DE" b="0" err="1"/>
              <a:t>models</a:t>
            </a:r>
            <a:r>
              <a:rPr lang="de-DE" b="0"/>
              <a:t>), large </a:t>
            </a:r>
            <a:r>
              <a:rPr lang="de-DE" b="0" err="1"/>
              <a:t>scale</a:t>
            </a:r>
            <a:r>
              <a:rPr lang="de-DE" b="0"/>
              <a:t> </a:t>
            </a:r>
            <a:r>
              <a:rPr lang="de-DE" b="0" err="1"/>
              <a:t>systems</a:t>
            </a:r>
            <a:r>
              <a:rPr lang="de-DE" b="0"/>
              <a:t> like Recall </a:t>
            </a:r>
            <a:r>
              <a:rPr lang="de-DE" b="0" err="1"/>
              <a:t>are</a:t>
            </a:r>
            <a:r>
              <a:rPr lang="de-DE" b="0"/>
              <a:t> not </a:t>
            </a:r>
            <a:r>
              <a:rPr lang="de-DE" b="0" err="1"/>
              <a:t>needed</a:t>
            </a:r>
            <a:endParaRPr lang="de-DE" b="0"/>
          </a:p>
          <a:p>
            <a:r>
              <a:rPr lang="de-DE" b="0"/>
              <a:t> - Chance </a:t>
            </a:r>
            <a:r>
              <a:rPr lang="de-DE" b="0" err="1"/>
              <a:t>for</a:t>
            </a:r>
            <a:r>
              <a:rPr lang="de-DE" b="0"/>
              <a:t> </a:t>
            </a:r>
            <a:r>
              <a:rPr lang="de-DE" b="0" err="1"/>
              <a:t>simplification</a:t>
            </a:r>
            <a:r>
              <a:rPr lang="de-DE" b="0"/>
              <a:t>, but Business </a:t>
            </a:r>
            <a:r>
              <a:rPr lang="de-DE" b="0" err="1"/>
              <a:t>needs</a:t>
            </a:r>
            <a:r>
              <a:rPr lang="de-DE" b="0"/>
              <a:t> </a:t>
            </a:r>
            <a:r>
              <a:rPr lang="de-DE" b="0" err="1"/>
              <a:t>to</a:t>
            </a:r>
            <a:r>
              <a:rPr lang="de-DE" b="0"/>
              <a:t> </a:t>
            </a:r>
            <a:r>
              <a:rPr lang="de-DE" b="0" err="1"/>
              <a:t>continue</a:t>
            </a:r>
            <a:r>
              <a:rPr lang="de-DE" b="0"/>
              <a:t> (in parallel </a:t>
            </a:r>
            <a:r>
              <a:rPr lang="de-DE" b="0" err="1"/>
              <a:t>new</a:t>
            </a:r>
            <a:r>
              <a:rPr lang="de-DE" b="0"/>
              <a:t> and </a:t>
            </a:r>
            <a:r>
              <a:rPr lang="de-DE" b="0" err="1"/>
              <a:t>old</a:t>
            </a:r>
            <a:r>
              <a:rPr lang="de-DE" b="0"/>
              <a:t> </a:t>
            </a:r>
            <a:r>
              <a:rPr lang="de-DE" b="0" err="1"/>
              <a:t>models</a:t>
            </a:r>
            <a:r>
              <a:rPr lang="de-DE" b="0"/>
              <a:t>)</a:t>
            </a:r>
          </a:p>
          <a:p>
            <a:endParaRPr lang="de-DE" b="0"/>
          </a:p>
          <a:p>
            <a:endParaRPr lang="de-DE" b="0"/>
          </a:p>
          <a:p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B5E452C-AB7B-50F4-376D-3CDB48F1420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3/7/2023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8293752-CAD1-7581-5830-E11940ED40C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Placeholder for the presentation title (Insert → header and footer)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374F872-C65E-001E-3FB5-4C6A3AE144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911FAC-9449-45DE-8A46-624F11080A16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0074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A72B6-92E5-070D-0987-D868E7068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63CECEF-9C66-8ABF-01E3-8BFF3453A0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D61A71E-2CE1-DBB9-97E5-640FE6BFD3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39414DB-63A5-6E05-DF53-484992E5925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3/7/2023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5C93DB2-E8CC-B62F-D274-B5A87AB0A14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Placeholder for the presentation title (Insert → header and footer)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A51B74A-C1F1-81AB-9B40-885CD491D1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911FAC-9449-45DE-8A46-624F11080A16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987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30B15F-38D3-7C42-8484-FBB9D349B521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4790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30B15F-38D3-7C42-8484-FBB9D349B521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4790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Prämisse bei der Entwicklung der Architektur: möglichst die gleichen Schnittstellen Technologien und Inhalte des Altsystems zu übernehmen um eine einfache Integration in der Umstellung der Systeme zu ermöglichen.</a:t>
            </a:r>
          </a:p>
          <a:p>
            <a:endParaRPr lang="de-DE"/>
          </a:p>
          <a:p>
            <a:r>
              <a:rPr lang="de-DE"/>
              <a:t>2 Probleme bringt die Architektur mit:</a:t>
            </a:r>
          </a:p>
          <a:p>
            <a:pPr marL="171450" indent="-171450">
              <a:buFontTx/>
              <a:buChar char="-"/>
            </a:pPr>
            <a:r>
              <a:rPr lang="de-DE"/>
              <a:t>Die Selektion der von einem </a:t>
            </a:r>
            <a:r>
              <a:rPr lang="de-DE" err="1"/>
              <a:t>rückruf</a:t>
            </a:r>
            <a:r>
              <a:rPr lang="de-DE"/>
              <a:t> betroffenen Fahrzeuge wird </a:t>
            </a:r>
            <a:r>
              <a:rPr lang="de-DE" err="1"/>
              <a:t>wieterhin</a:t>
            </a:r>
            <a:r>
              <a:rPr lang="de-DE"/>
              <a:t> auf der IDAA / CARPORT durchgeführt. Dazu werden Web-Interfaces und Cognos (IBM): </a:t>
            </a:r>
          </a:p>
          <a:p>
            <a:pPr marL="0" indent="0">
              <a:buFontTx/>
              <a:buNone/>
            </a:pPr>
            <a:r>
              <a:rPr lang="de-DE"/>
              <a:t>  1) Dieser Teil der Applikation ist nicht in RECALL2 integriert. 7 Einzelnen Server. Unterscheidet sich deutlich vom </a:t>
            </a:r>
            <a:r>
              <a:rPr lang="de-DE" err="1"/>
              <a:t>Händlig</a:t>
            </a:r>
            <a:r>
              <a:rPr lang="de-DE"/>
              <a:t> von RECALL2</a:t>
            </a:r>
          </a:p>
          <a:p>
            <a:pPr marL="0" indent="0">
              <a:buFontTx/>
              <a:buNone/>
            </a:pPr>
            <a:r>
              <a:rPr lang="de-DE"/>
              <a:t>  2) 2 </a:t>
            </a:r>
            <a:r>
              <a:rPr lang="de-DE" err="1"/>
              <a:t>Freeläncer</a:t>
            </a:r>
            <a:r>
              <a:rPr lang="de-DE"/>
              <a:t> entwickelt den Umfang</a:t>
            </a:r>
          </a:p>
          <a:p>
            <a:pPr marL="0" indent="0">
              <a:buFontTx/>
              <a:buNone/>
            </a:pPr>
            <a:r>
              <a:rPr lang="de-DE"/>
              <a:t>  3) keine Abdeckung durch den Support</a:t>
            </a:r>
          </a:p>
          <a:p>
            <a:pPr marL="0" indent="0">
              <a:buFontTx/>
              <a:buNone/>
            </a:pPr>
            <a:r>
              <a:rPr lang="de-DE"/>
              <a:t>  4) IDAA EOB 2025 (Lizenzkosten übersteigen das Projektbudget)</a:t>
            </a:r>
          </a:p>
          <a:p>
            <a:pPr marL="0" indent="0">
              <a:buFontTx/>
              <a:buNone/>
            </a:pPr>
            <a:r>
              <a:rPr lang="de-DE"/>
              <a:t>- Für China wird ein eigener </a:t>
            </a:r>
            <a:r>
              <a:rPr lang="de-DE" err="1"/>
              <a:t>Tenant</a:t>
            </a:r>
            <a:r>
              <a:rPr lang="de-DE"/>
              <a:t> durch den GC4IS gefordert, Architektur ist auf AWS / Vanguard ausgelegt, nicht Multi-</a:t>
            </a:r>
            <a:r>
              <a:rPr lang="de-DE" err="1"/>
              <a:t>cloudfähig</a:t>
            </a:r>
            <a:endParaRPr lang="de-DE"/>
          </a:p>
          <a:p>
            <a:pPr marL="0" indent="0">
              <a:buFontTx/>
              <a:buNone/>
            </a:pPr>
            <a:r>
              <a:rPr lang="de-DE"/>
              <a:t>  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1E355-3F50-8A4A-B303-1CA6E43B63C5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47391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E00FE9-537A-CA4E-B1FB-A898AEF39DD0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82905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73F3E-3AE9-73A1-3BD3-DC22A1B27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0739CDF-D637-E343-478D-86FF264530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7F498A6-8CB5-C9FE-C7D1-788E2D7C9E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516E184-AD3B-E6AD-25DE-4C679462AD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30B15F-38D3-7C42-8484-FBB9D349B521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9646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7E9D1-C9B7-1D31-A9C2-2636D2C27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146AF88-81A8-C1CE-514F-429EC33E73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56AB3E3-FD28-1464-B24E-FEBD1818C8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DCD622B-1719-4973-EF44-F30CE74D32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30B15F-38D3-7C42-8484-FBB9D349B521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6827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1 Titelfolie – Farbverlauf"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aphic 6">
            <a:extLst>
              <a:ext uri="{FF2B5EF4-FFF2-40B4-BE49-F238E27FC236}">
                <a16:creationId xmlns:a16="http://schemas.microsoft.com/office/drawing/2014/main" id="{2909720B-E69F-DC75-F3E5-96D06ACC4EE7}"/>
              </a:ext>
            </a:extLst>
          </p:cNvPr>
          <p:cNvSpPr/>
          <p:nvPr/>
        </p:nvSpPr>
        <p:spPr bwMode="invGray"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33000">
                <a:srgbClr val="0D323D"/>
              </a:gs>
              <a:gs pos="85000">
                <a:srgbClr val="002733"/>
              </a:gs>
            </a:gsLst>
            <a:lin ang="20092269" scaled="1"/>
          </a:gradFill>
          <a:ln w="317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GB"/>
          </a:p>
        </p:txBody>
      </p:sp>
      <p:sp>
        <p:nvSpPr>
          <p:cNvPr id="12" name="Graphic 7">
            <a:extLst>
              <a:ext uri="{FF2B5EF4-FFF2-40B4-BE49-F238E27FC236}">
                <a16:creationId xmlns:a16="http://schemas.microsoft.com/office/drawing/2014/main" id="{F12BC0A6-D91F-9207-0969-037B318871B4}"/>
              </a:ext>
            </a:extLst>
          </p:cNvPr>
          <p:cNvSpPr/>
          <p:nvPr userDrawn="1"/>
        </p:nvSpPr>
        <p:spPr bwMode="invGray">
          <a:xfrm>
            <a:off x="0" y="2844800"/>
            <a:ext cx="12192000" cy="4014533"/>
          </a:xfrm>
          <a:custGeom>
            <a:avLst/>
            <a:gdLst>
              <a:gd name="connsiteX0" fmla="*/ 4401566 w 12192000"/>
              <a:gd name="connsiteY0" fmla="*/ 2429574 h 4014533"/>
              <a:gd name="connsiteX1" fmla="*/ 0 w 12192000"/>
              <a:gd name="connsiteY1" fmla="*/ 1914462 h 4014533"/>
              <a:gd name="connsiteX2" fmla="*/ 0 w 12192000"/>
              <a:gd name="connsiteY2" fmla="*/ 4014534 h 4014533"/>
              <a:gd name="connsiteX3" fmla="*/ 12192000 w 12192000"/>
              <a:gd name="connsiteY3" fmla="*/ 4014534 h 4014533"/>
              <a:gd name="connsiteX4" fmla="*/ 12192000 w 12192000"/>
              <a:gd name="connsiteY4" fmla="*/ 0 h 4014533"/>
              <a:gd name="connsiteX5" fmla="*/ 4401566 w 12192000"/>
              <a:gd name="connsiteY5" fmla="*/ 2429574 h 4014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4014533">
                <a:moveTo>
                  <a:pt x="4401566" y="2429574"/>
                </a:moveTo>
                <a:cubicBezTo>
                  <a:pt x="2427827" y="2429574"/>
                  <a:pt x="819023" y="2113820"/>
                  <a:pt x="0" y="1914462"/>
                </a:cubicBezTo>
                <a:lnTo>
                  <a:pt x="0" y="4014534"/>
                </a:lnTo>
                <a:lnTo>
                  <a:pt x="12192000" y="4014534"/>
                </a:lnTo>
                <a:lnTo>
                  <a:pt x="12192000" y="0"/>
                </a:lnTo>
                <a:cubicBezTo>
                  <a:pt x="12192000" y="0"/>
                  <a:pt x="11434255" y="2429574"/>
                  <a:pt x="4401566" y="2429574"/>
                </a:cubicBezTo>
                <a:close/>
              </a:path>
            </a:pathLst>
          </a:custGeom>
          <a:gradFill>
            <a:gsLst>
              <a:gs pos="37000">
                <a:srgbClr val="183F49">
                  <a:alpha val="23000"/>
                </a:srgbClr>
              </a:gs>
              <a:gs pos="24000">
                <a:srgbClr val="0D323D">
                  <a:alpha val="0"/>
                </a:srgbClr>
              </a:gs>
              <a:gs pos="53000">
                <a:srgbClr val="224B55">
                  <a:alpha val="60000"/>
                </a:srgbClr>
              </a:gs>
              <a:gs pos="72000">
                <a:srgbClr val="7E989F">
                  <a:alpha val="45000"/>
                </a:srgbClr>
              </a:gs>
              <a:gs pos="100000">
                <a:srgbClr val="7E989F"/>
              </a:gs>
            </a:gsLst>
            <a:lin ang="18000000" scaled="0"/>
          </a:gradFill>
          <a:ln w="3175" cap="flat">
            <a:noFill/>
            <a:prstDash val="solid"/>
            <a:miter/>
          </a:ln>
          <a:effectLst>
            <a:softEdge rad="0"/>
          </a:effectLst>
        </p:spPr>
        <p:txBody>
          <a:bodyPr rtlCol="0" anchor="ctr"/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27FB70C-E4E1-ECD0-3948-1A319339BA96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 bwMode="black">
          <a:xfrm>
            <a:off x="407036" y="1787174"/>
            <a:ext cx="7584964" cy="1218795"/>
          </a:xfrm>
        </p:spPr>
        <p:txBody>
          <a:bodyPr wrap="square" anchor="b">
            <a:spAutoFit/>
          </a:bodyPr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Title in The Group Head Light 44pt, White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0C6A1CA-6940-3BAD-B4DA-3D7F50B6B4C8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 bwMode="black">
          <a:xfrm>
            <a:off x="407036" y="3141917"/>
            <a:ext cx="7584964" cy="215444"/>
          </a:xfrm>
        </p:spPr>
        <p:txBody>
          <a:bodyPr wrap="square">
            <a:spAutoFit/>
          </a:bodyPr>
          <a:lstStyle>
            <a:lvl1pPr marL="0" indent="0" algn="l">
              <a:buNone/>
              <a:defRPr sz="14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Date / Department </a:t>
            </a:r>
          </a:p>
        </p:txBody>
      </p:sp>
      <p:sp>
        <p:nvSpPr>
          <p:cNvPr id="5" name="Textplatzhalter 8">
            <a:extLst>
              <a:ext uri="{FF2B5EF4-FFF2-40B4-BE49-F238E27FC236}">
                <a16:creationId xmlns:a16="http://schemas.microsoft.com/office/drawing/2014/main" id="{1388FCFE-979D-C9E4-256B-C7A52A69D5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black">
          <a:xfrm>
            <a:off x="407036" y="3424431"/>
            <a:ext cx="7589520" cy="184666"/>
          </a:xfrm>
        </p:spPr>
        <p:txBody>
          <a:bodyPr vert="horz" wrap="square" lIns="0" tIns="0" rIns="0" bIns="0" rtlCol="0">
            <a:noAutofit/>
          </a:bodyPr>
          <a:lstStyle>
            <a:lvl1pPr>
              <a:defRPr lang="de-DE" sz="1200" b="0" cap="all" baseline="0" dirty="0" smtClean="0">
                <a:solidFill>
                  <a:schemeClr val="tx1"/>
                </a:solidFill>
              </a:defRPr>
            </a:lvl1pPr>
          </a:lstStyle>
          <a:p>
            <a:r>
              <a:rPr lang="en-US" sz="1200" cap="all" baseline="0"/>
              <a:t>Click to edit classification</a:t>
            </a:r>
          </a:p>
        </p:txBody>
      </p:sp>
      <p:pic>
        <p:nvPicPr>
          <p:cNvPr id="6" name="Picture 5" descr="A black background with white text&#10;&#10;Description automatically generated with low confidence">
            <a:extLst>
              <a:ext uri="{FF2B5EF4-FFF2-40B4-BE49-F238E27FC236}">
                <a16:creationId xmlns:a16="http://schemas.microsoft.com/office/drawing/2014/main" id="{B1BDE051-A64C-BC06-C922-E1F5412586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9673389" y="206157"/>
            <a:ext cx="2258582" cy="73141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05B9067-30D9-4438-7C75-EBB826D8FF32}"/>
              </a:ext>
            </a:extLst>
          </p:cNvPr>
          <p:cNvSpPr/>
          <p:nvPr userDrawn="1"/>
        </p:nvSpPr>
        <p:spPr>
          <a:xfrm>
            <a:off x="0" y="4913200"/>
            <a:ext cx="12192000" cy="1944799"/>
          </a:xfrm>
          <a:prstGeom prst="rect">
            <a:avLst/>
          </a:prstGeom>
          <a:gradFill flip="none" rotWithShape="1">
            <a:gsLst>
              <a:gs pos="14000">
                <a:srgbClr val="002733">
                  <a:alpha val="0"/>
                </a:srgbClr>
              </a:gs>
              <a:gs pos="88992">
                <a:srgbClr val="002733">
                  <a:alpha val="67687"/>
                </a:srgbClr>
              </a:gs>
              <a:gs pos="100000">
                <a:srgbClr val="002733">
                  <a:alpha val="75000"/>
                </a:srgbClr>
              </a:gs>
            </a:gsLst>
            <a:lin ang="5400000" scaled="1"/>
            <a:tileRect/>
          </a:gradFill>
          <a:ln w="317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7493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2 Titelfolie –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 descr="Ein Bild, das draußen, Baum, Wasser, Himmel enthält.&#10;&#10;Automatisch generierte Beschreibung">
            <a:extLst>
              <a:ext uri="{FF2B5EF4-FFF2-40B4-BE49-F238E27FC236}">
                <a16:creationId xmlns:a16="http://schemas.microsoft.com/office/drawing/2014/main" id="{70372D82-BEEE-A522-604B-3ADAB2C624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/>
          <a:stretch/>
        </p:blipFill>
        <p:spPr>
          <a:xfrm>
            <a:off x="0" y="0"/>
            <a:ext cx="12192002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A27FB70C-E4E1-ECD0-3948-1A319339BA96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 bwMode="gray">
          <a:xfrm>
            <a:off x="407036" y="4295798"/>
            <a:ext cx="7604850" cy="1218795"/>
          </a:xfrm>
        </p:spPr>
        <p:txBody>
          <a:bodyPr wrap="square" anchor="b">
            <a:sp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presentation </a:t>
            </a:r>
            <a:br>
              <a:rPr lang="en-US" noProof="0"/>
            </a:br>
            <a:r>
              <a:rPr lang="en-US" noProof="0"/>
              <a:t>title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0C6A1CA-6940-3BAD-B4DA-3D7F50B6B4C8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407036" y="5810400"/>
            <a:ext cx="7584964" cy="215444"/>
          </a:xfrm>
        </p:spPr>
        <p:txBody>
          <a:bodyPr wrap="square">
            <a:spAutoFit/>
          </a:bodyPr>
          <a:lstStyle>
            <a:lvl1pPr marL="0" indent="0" algn="l">
              <a:buNone/>
              <a:defRPr sz="14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Date / Department </a:t>
            </a:r>
          </a:p>
        </p:txBody>
      </p:sp>
      <p:sp>
        <p:nvSpPr>
          <p:cNvPr id="30" name="Datumsplatzhalter 29">
            <a:extLst>
              <a:ext uri="{FF2B5EF4-FFF2-40B4-BE49-F238E27FC236}">
                <a16:creationId xmlns:a16="http://schemas.microsoft.com/office/drawing/2014/main" id="{7BAC9C67-E2A9-F40C-A076-73D55ED36A14}"/>
              </a:ext>
            </a:extLst>
          </p:cNvPr>
          <p:cNvSpPr>
            <a:spLocks noGrp="1"/>
          </p:cNvSpPr>
          <p:nvPr userDrawn="1">
            <p:ph type="dt" sz="half" idx="15"/>
          </p:nvPr>
        </p:nvSpPr>
        <p:spPr bwMode="gray"/>
        <p:txBody>
          <a:bodyPr/>
          <a:lstStyle/>
          <a:p>
            <a:r>
              <a:rPr lang="de-DE" noProof="0"/>
              <a:t>29.03.2023</a:t>
            </a:r>
            <a:endParaRPr lang="en-US" noProof="0"/>
          </a:p>
        </p:txBody>
      </p:sp>
      <p:sp>
        <p:nvSpPr>
          <p:cNvPr id="31" name="Fußzeilenplatzhalter 30">
            <a:extLst>
              <a:ext uri="{FF2B5EF4-FFF2-40B4-BE49-F238E27FC236}">
                <a16:creationId xmlns:a16="http://schemas.microsoft.com/office/drawing/2014/main" id="{23235CD4-3F56-2640-0F79-7EA108D40DF2}"/>
              </a:ext>
            </a:extLst>
          </p:cNvPr>
          <p:cNvSpPr>
            <a:spLocks noGrp="1"/>
          </p:cNvSpPr>
          <p:nvPr userDrawn="1">
            <p:ph type="ftr" sz="quarter" idx="16"/>
          </p:nvPr>
        </p:nvSpPr>
        <p:spPr bwMode="gray"/>
        <p:txBody>
          <a:bodyPr/>
          <a:lstStyle/>
          <a:p>
            <a:r>
              <a:rPr lang="en-US" noProof="0"/>
              <a:t>Form AV 111 | Volkswagen Group  |  Placeholder for the presentation title (Insert → header and footer)</a:t>
            </a:r>
          </a:p>
        </p:txBody>
      </p:sp>
      <p:sp>
        <p:nvSpPr>
          <p:cNvPr id="32" name="Foliennummernplatzhalter 31">
            <a:extLst>
              <a:ext uri="{FF2B5EF4-FFF2-40B4-BE49-F238E27FC236}">
                <a16:creationId xmlns:a16="http://schemas.microsoft.com/office/drawing/2014/main" id="{D8E3033D-E7AC-0F85-D590-F57F667BA00B}"/>
              </a:ext>
            </a:extLst>
          </p:cNvPr>
          <p:cNvSpPr>
            <a:spLocks noGrp="1"/>
          </p:cNvSpPr>
          <p:nvPr userDrawn="1">
            <p:ph type="sldNum" sz="quarter" idx="17"/>
          </p:nvPr>
        </p:nvSpPr>
        <p:spPr bwMode="gray"/>
        <p:txBody>
          <a:bodyPr/>
          <a:lstStyle/>
          <a:p>
            <a:fld id="{53C98C43-8B83-4748-BA0D-B0C90A16569F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522E341F-5724-69FC-7470-0EC476573E12}"/>
              </a:ext>
            </a:extLst>
          </p:cNvPr>
          <p:cNvSpPr txBox="1"/>
          <p:nvPr userDrawn="1"/>
        </p:nvSpPr>
        <p:spPr>
          <a:xfrm>
            <a:off x="407036" y="6040160"/>
            <a:ext cx="1008444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GB" sz="1200">
                <a:solidFill>
                  <a:schemeClr val="bg1"/>
                </a:solidFill>
              </a:rPr>
              <a:t>Classification:</a:t>
            </a:r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F3942BF0-67C2-346B-A911-24544E7C103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81238" y="6040160"/>
            <a:ext cx="3996000" cy="184666"/>
          </a:xfrm>
        </p:spPr>
        <p:txBody>
          <a:bodyPr vert="horz" wrap="square" lIns="0" tIns="0" rIns="0" bIns="0" rtlCol="0">
            <a:noAutofit/>
          </a:bodyPr>
          <a:lstStyle>
            <a:lvl1pPr>
              <a:defRPr lang="de-DE" sz="1200" b="0" cap="all" baseline="0" dirty="0" smtClean="0">
                <a:solidFill>
                  <a:schemeClr val="bg1"/>
                </a:solidFill>
              </a:defRPr>
            </a:lvl1pPr>
          </a:lstStyle>
          <a:p>
            <a:r>
              <a:rPr lang="en-US" sz="1200" cap="all" baseline="0"/>
              <a:t>Click to edit classification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129D791-3551-8479-D305-EE2C838BDEBF}"/>
              </a:ext>
            </a:extLst>
          </p:cNvPr>
          <p:cNvGrpSpPr/>
          <p:nvPr userDrawn="1"/>
        </p:nvGrpSpPr>
        <p:grpSpPr>
          <a:xfrm>
            <a:off x="8501468" y="340276"/>
            <a:ext cx="3348000" cy="252000"/>
            <a:chOff x="8501468" y="340276"/>
            <a:chExt cx="3348000" cy="252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7ABCDAC-E710-9EFE-E6CA-C2BA22F93175}"/>
                </a:ext>
              </a:extLst>
            </p:cNvPr>
            <p:cNvSpPr/>
            <p:nvPr userDrawn="1"/>
          </p:nvSpPr>
          <p:spPr>
            <a:xfrm>
              <a:off x="8501468" y="340276"/>
              <a:ext cx="3348000" cy="252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t" anchorCtr="0"/>
            <a:lstStyle/>
            <a:p>
              <a:pPr marL="180000" indent="-180000" algn="l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endParaRPr lang="en-GB" sz="1600">
                <a:solidFill>
                  <a:schemeClr val="tx1"/>
                </a:solidFill>
              </a:endParaRP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5745280-37C9-2E2A-1F3F-FFD34CB894A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email">
              <a:lum bright="10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8547188" y="385948"/>
              <a:ext cx="3240000" cy="1755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25868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3 Inhalt – Nur Titel, Deep Space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" descr="A picture containing font, screenshot, graphics, text&#10;&#10;Description automatically generated">
            <a:extLst>
              <a:ext uri="{FF2B5EF4-FFF2-40B4-BE49-F238E27FC236}">
                <a16:creationId xmlns:a16="http://schemas.microsoft.com/office/drawing/2014/main" id="{630CBA1F-848F-339C-42B7-57C20C97EA8B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77521" y="167108"/>
            <a:ext cx="1494856" cy="484088"/>
          </a:xfrm>
          <a:prstGeom prst="rect">
            <a:avLst/>
          </a:prstGeom>
        </p:spPr>
      </p:pic>
      <p:sp>
        <p:nvSpPr>
          <p:cNvPr id="2" name="Title ">
            <a:extLst>
              <a:ext uri="{FF2B5EF4-FFF2-40B4-BE49-F238E27FC236}">
                <a16:creationId xmlns:a16="http://schemas.microsoft.com/office/drawing/2014/main" id="{4E5E5570-2155-1B2C-B171-0A3FC154AC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Headline in The Group Head Light 28pt, White</a:t>
            </a:r>
            <a:endParaRPr/>
          </a:p>
        </p:txBody>
      </p:sp>
      <p:sp>
        <p:nvSpPr>
          <p:cNvPr id="6" name="Action Title">
            <a:extLst>
              <a:ext uri="{FF2B5EF4-FFF2-40B4-BE49-F238E27FC236}">
                <a16:creationId xmlns:a16="http://schemas.microsoft.com/office/drawing/2014/main" id="{1940E3AB-3586-C461-1323-6542B7E6C3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406400" y="1056085"/>
            <a:ext cx="11380751" cy="276999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buFontTx/>
              <a:buNone/>
              <a:defRPr sz="1800" b="0">
                <a:solidFill>
                  <a:schemeClr val="tx2"/>
                </a:solidFill>
                <a:latin typeface="+mj-lt"/>
              </a:defRPr>
            </a:lvl1pPr>
            <a:lvl2pPr marL="0">
              <a:spcBef>
                <a:spcPts val="0"/>
              </a:spcBef>
              <a:buFontTx/>
              <a:buNone/>
              <a:defRPr sz="3200" b="0">
                <a:solidFill>
                  <a:schemeClr val="accent2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3200" b="0">
                <a:solidFill>
                  <a:schemeClr val="accent2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3200" b="0">
                <a:solidFill>
                  <a:schemeClr val="accent2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3200" b="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noProof="0"/>
              <a:t>Action title in The Group Head Light 18pt, White</a:t>
            </a:r>
          </a:p>
        </p:txBody>
      </p:sp>
      <p:sp>
        <p:nvSpPr>
          <p:cNvPr id="8" name="Footer Placeholder ">
            <a:extLst>
              <a:ext uri="{FF2B5EF4-FFF2-40B4-BE49-F238E27FC236}">
                <a16:creationId xmlns:a16="http://schemas.microsoft.com/office/drawing/2014/main" id="{05415EB4-79FA-1E18-AABD-BC3A2B78C85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">
            <a:extLst>
              <a:ext uri="{FF2B5EF4-FFF2-40B4-BE49-F238E27FC236}">
                <a16:creationId xmlns:a16="http://schemas.microsoft.com/office/drawing/2014/main" id="{AF056D49-7F1A-DE55-82B0-F1A9E6B26AD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824CBAC6-7084-0110-F57E-D6D4661086F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4035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4 Inhalt – Nur Titel, Weiß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46C154-68B5-992F-0CF8-EF08F51D5D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 noProof="0"/>
              <a:t>Click to edit slide title (maximum two lines)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25F633-74B1-966B-09BF-401AAD86B6C4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r>
              <a:rPr lang="de-DE" noProof="0"/>
              <a:t>29.03.2023</a:t>
            </a:r>
            <a:endParaRPr lang="en-US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E0C1D7A-B4A9-2164-BBD6-BBAB50840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US" noProof="0"/>
              <a:t>Form AV 111 | Volkswagen Group  |  Placeholder for the presentation title (Insert → header and footer)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B490FCE-2BE3-C232-F8C8-3614C79C9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3C98C43-8B83-4748-BA0D-B0C90A16569F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16392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5 Inhalt – Nur Titel, Deep Space Blue (Variante)">
    <p:bg bwMode="inv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25F633-74B1-966B-09BF-401AAD86B6C4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E0C1D7A-B4A9-2164-BBD6-BBAB50840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B490FCE-2BE3-C232-F8C8-3614C79C9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9BA273D5-E740-B1B2-D718-95C49227DB9B}"/>
              </a:ext>
            </a:extLst>
          </p:cNvPr>
          <p:cNvCxnSpPr/>
          <p:nvPr/>
        </p:nvCxnSpPr>
        <p:spPr bwMode="auto">
          <a:xfrm flipV="1">
            <a:off x="407036" y="-226336"/>
            <a:ext cx="0" cy="1176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3D92A06C-B5C0-54F1-769B-346EFBE73F9C}"/>
              </a:ext>
            </a:extLst>
          </p:cNvPr>
          <p:cNvCxnSpPr/>
          <p:nvPr/>
        </p:nvCxnSpPr>
        <p:spPr bwMode="auto">
          <a:xfrm flipV="1">
            <a:off x="407036" y="-226336"/>
            <a:ext cx="0" cy="1176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10" descr="A black background with white text&#10;&#10;Description automatically generated with low confidence">
            <a:extLst>
              <a:ext uri="{FF2B5EF4-FFF2-40B4-BE49-F238E27FC236}">
                <a16:creationId xmlns:a16="http://schemas.microsoft.com/office/drawing/2014/main" id="{B18777AD-7D41-5D56-A3B3-98FBB19B485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10379738" y="165600"/>
            <a:ext cx="1494000" cy="483812"/>
          </a:xfrm>
          <a:prstGeom prst="rect">
            <a:avLst/>
          </a:prstGeom>
        </p:spPr>
      </p:pic>
      <p:sp>
        <p:nvSpPr>
          <p:cNvPr id="2" name="Textplatzhalter 8">
            <a:extLst>
              <a:ext uri="{FF2B5EF4-FFF2-40B4-BE49-F238E27FC236}">
                <a16:creationId xmlns:a16="http://schemas.microsoft.com/office/drawing/2014/main" id="{E670B96C-0D97-E1AE-953C-968B02DF72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406400" y="1056085"/>
            <a:ext cx="11380751" cy="276999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buFontTx/>
              <a:buNone/>
              <a:defRPr sz="1800" b="0">
                <a:solidFill>
                  <a:schemeClr val="tx2"/>
                </a:solidFill>
                <a:latin typeface="+mj-lt"/>
              </a:defRPr>
            </a:lvl1pPr>
            <a:lvl2pPr marL="0">
              <a:spcBef>
                <a:spcPts val="0"/>
              </a:spcBef>
              <a:buFontTx/>
              <a:buNone/>
              <a:defRPr sz="3200" b="0">
                <a:solidFill>
                  <a:schemeClr val="accent2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3200" b="0">
                <a:solidFill>
                  <a:schemeClr val="accent2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3200" b="0">
                <a:solidFill>
                  <a:schemeClr val="accent2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3200" b="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noProof="0"/>
              <a:t>Action title in The Group Head Light 18pt, White</a:t>
            </a: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AEE5187D-DD06-7FE2-56A8-A9D96509E9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407987" y="644520"/>
            <a:ext cx="11376021" cy="387798"/>
          </a:xfrm>
        </p:spPr>
        <p:txBody>
          <a:bodyPr anchor="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Headline in The Group Head Light 28pt, White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34000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6 Abschlussfolie – Deep Space Blu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6">
            <a:extLst>
              <a:ext uri="{FF2B5EF4-FFF2-40B4-BE49-F238E27FC236}">
                <a16:creationId xmlns:a16="http://schemas.microsoft.com/office/drawing/2014/main" id="{55D32AC2-2455-4D56-3440-7C9BA8B7F247}"/>
              </a:ext>
            </a:extLst>
          </p:cNvPr>
          <p:cNvSpPr/>
          <p:nvPr/>
        </p:nvSpPr>
        <p:spPr bwMode="invGray"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33000">
                <a:srgbClr val="0D323D"/>
              </a:gs>
              <a:gs pos="85000">
                <a:srgbClr val="002733"/>
              </a:gs>
            </a:gsLst>
            <a:lin ang="20092269" scaled="1"/>
          </a:gradFill>
          <a:ln w="317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Graphic 7">
            <a:extLst>
              <a:ext uri="{FF2B5EF4-FFF2-40B4-BE49-F238E27FC236}">
                <a16:creationId xmlns:a16="http://schemas.microsoft.com/office/drawing/2014/main" id="{A0634080-C889-7D14-C351-8FC2414B17B4}"/>
              </a:ext>
            </a:extLst>
          </p:cNvPr>
          <p:cNvSpPr/>
          <p:nvPr/>
        </p:nvSpPr>
        <p:spPr bwMode="invGray">
          <a:xfrm>
            <a:off x="0" y="2844800"/>
            <a:ext cx="12192000" cy="4014533"/>
          </a:xfrm>
          <a:custGeom>
            <a:avLst/>
            <a:gdLst>
              <a:gd name="connsiteX0" fmla="*/ 4401566 w 12192000"/>
              <a:gd name="connsiteY0" fmla="*/ 2429574 h 4014533"/>
              <a:gd name="connsiteX1" fmla="*/ 0 w 12192000"/>
              <a:gd name="connsiteY1" fmla="*/ 1914462 h 4014533"/>
              <a:gd name="connsiteX2" fmla="*/ 0 w 12192000"/>
              <a:gd name="connsiteY2" fmla="*/ 4014534 h 4014533"/>
              <a:gd name="connsiteX3" fmla="*/ 12192000 w 12192000"/>
              <a:gd name="connsiteY3" fmla="*/ 4014534 h 4014533"/>
              <a:gd name="connsiteX4" fmla="*/ 12192000 w 12192000"/>
              <a:gd name="connsiteY4" fmla="*/ 0 h 4014533"/>
              <a:gd name="connsiteX5" fmla="*/ 4401566 w 12192000"/>
              <a:gd name="connsiteY5" fmla="*/ 2429574 h 4014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4014533">
                <a:moveTo>
                  <a:pt x="4401566" y="2429574"/>
                </a:moveTo>
                <a:cubicBezTo>
                  <a:pt x="2427827" y="2429574"/>
                  <a:pt x="819023" y="2113820"/>
                  <a:pt x="0" y="1914462"/>
                </a:cubicBezTo>
                <a:lnTo>
                  <a:pt x="0" y="4014534"/>
                </a:lnTo>
                <a:lnTo>
                  <a:pt x="12192000" y="4014534"/>
                </a:lnTo>
                <a:lnTo>
                  <a:pt x="12192000" y="0"/>
                </a:lnTo>
                <a:cubicBezTo>
                  <a:pt x="12192000" y="0"/>
                  <a:pt x="11434255" y="2429574"/>
                  <a:pt x="4401566" y="2429574"/>
                </a:cubicBezTo>
                <a:close/>
              </a:path>
            </a:pathLst>
          </a:custGeom>
          <a:gradFill>
            <a:gsLst>
              <a:gs pos="37000">
                <a:srgbClr val="183F49">
                  <a:alpha val="23000"/>
                </a:srgbClr>
              </a:gs>
              <a:gs pos="24000">
                <a:srgbClr val="0D323D">
                  <a:alpha val="0"/>
                </a:srgbClr>
              </a:gs>
              <a:gs pos="53000">
                <a:srgbClr val="224B55">
                  <a:alpha val="60000"/>
                </a:srgbClr>
              </a:gs>
              <a:gs pos="72000">
                <a:srgbClr val="7E989F">
                  <a:alpha val="45000"/>
                </a:srgbClr>
              </a:gs>
              <a:gs pos="100000">
                <a:srgbClr val="7E989F"/>
              </a:gs>
            </a:gsLst>
            <a:lin ang="18000000" scaled="0"/>
          </a:gradFill>
          <a:ln w="3175" cap="flat">
            <a:noFill/>
            <a:prstDash val="solid"/>
            <a:miter/>
          </a:ln>
          <a:effectLst>
            <a:softEdge rad="0"/>
          </a:effectLst>
        </p:spPr>
        <p:txBody>
          <a:bodyPr rtlCol="0" anchor="ctr"/>
          <a:lstStyle/>
          <a:p>
            <a:endParaRPr lang="en-GB">
              <a:solidFill>
                <a:schemeClr val="tx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27FB70C-E4E1-ECD0-3948-1A319339BA9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auto">
          <a:xfrm>
            <a:off x="407988" y="1177189"/>
            <a:ext cx="6120000" cy="1828193"/>
          </a:xfrm>
        </p:spPr>
        <p:txBody>
          <a:bodyPr wrap="square" anchor="b">
            <a:spAutoFit/>
          </a:bodyPr>
          <a:lstStyle>
            <a:lvl1pPr algn="l">
              <a:defRPr sz="4400">
                <a:solidFill>
                  <a:srgbClr val="C2FE06"/>
                </a:solidFill>
              </a:defRPr>
            </a:lvl1pPr>
          </a:lstStyle>
          <a:p>
            <a:r>
              <a:rPr lang="en-US" noProof="0"/>
              <a:t>Final message in </a:t>
            </a:r>
            <a:br>
              <a:rPr lang="en-US" noProof="0"/>
            </a:br>
            <a:r>
              <a:rPr lang="en-US" noProof="0"/>
              <a:t>The Group Head Light 44pt, Electric Neon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0C6A1CA-6940-3BAD-B4DA-3D7F50B6B4C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auto">
          <a:xfrm>
            <a:off x="407036" y="3226587"/>
            <a:ext cx="6120000" cy="215444"/>
          </a:xfrm>
        </p:spPr>
        <p:txBody>
          <a:bodyPr wrap="square">
            <a:spAutoFit/>
          </a:bodyPr>
          <a:lstStyle>
            <a:lvl1pPr marL="0" indent="0" algn="l">
              <a:buNone/>
              <a:defRPr sz="14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Contact Details</a:t>
            </a:r>
          </a:p>
        </p:txBody>
      </p:sp>
      <p:sp>
        <p:nvSpPr>
          <p:cNvPr id="30" name="Datumsplatzhalter 29">
            <a:extLst>
              <a:ext uri="{FF2B5EF4-FFF2-40B4-BE49-F238E27FC236}">
                <a16:creationId xmlns:a16="http://schemas.microsoft.com/office/drawing/2014/main" id="{7BAC9C67-E2A9-F40C-A076-73D55ED36A14}"/>
              </a:ext>
            </a:extLst>
          </p:cNvPr>
          <p:cNvSpPr>
            <a:spLocks noGrp="1"/>
          </p:cNvSpPr>
          <p:nvPr>
            <p:ph type="dt" sz="half" idx="15"/>
          </p:nvPr>
        </p:nvSpPr>
        <p:spPr bwMode="auto"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31" name="Fußzeilenplatzhalter 30">
            <a:extLst>
              <a:ext uri="{FF2B5EF4-FFF2-40B4-BE49-F238E27FC236}">
                <a16:creationId xmlns:a16="http://schemas.microsoft.com/office/drawing/2014/main" id="{23235CD4-3F56-2640-0F79-7EA108D40DF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auto"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endParaRPr lang="en-US"/>
          </a:p>
        </p:txBody>
      </p:sp>
      <p:sp>
        <p:nvSpPr>
          <p:cNvPr id="32" name="Foliennummernplatzhalter 31">
            <a:extLst>
              <a:ext uri="{FF2B5EF4-FFF2-40B4-BE49-F238E27FC236}">
                <a16:creationId xmlns:a16="http://schemas.microsoft.com/office/drawing/2014/main" id="{D8E3033D-E7AC-0F85-D590-F57F667BA00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auto">
          <a:xfrm>
            <a:off x="11426400" y="6580800"/>
            <a:ext cx="360000" cy="126000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Picture 3" descr="A black background with white text&#10;&#10;Description automatically generated with low confidence">
            <a:extLst>
              <a:ext uri="{FF2B5EF4-FFF2-40B4-BE49-F238E27FC236}">
                <a16:creationId xmlns:a16="http://schemas.microsoft.com/office/drawing/2014/main" id="{CB8A2DB9-6B9F-4511-38FC-246E1F85D63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9673389" y="206157"/>
            <a:ext cx="2258582" cy="731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9388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 Title only Deep Space Blue">
    <p:bg bwMode="inv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E0C1D7A-B4A9-2164-BBD6-BBAB50840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GB"/>
              <a:t>CSD-class 0.2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B490FCE-2BE3-C232-F8C8-3614C79C9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53C98C43-8B83-4748-BA0D-B0C90A16569F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9BA273D5-E740-B1B2-D718-95C49227DB9B}"/>
              </a:ext>
            </a:extLst>
          </p:cNvPr>
          <p:cNvCxnSpPr/>
          <p:nvPr/>
        </p:nvCxnSpPr>
        <p:spPr bwMode="auto">
          <a:xfrm flipV="1">
            <a:off x="407036" y="-226336"/>
            <a:ext cx="0" cy="1176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3D92A06C-B5C0-54F1-769B-346EFBE73F9C}"/>
              </a:ext>
            </a:extLst>
          </p:cNvPr>
          <p:cNvCxnSpPr/>
          <p:nvPr/>
        </p:nvCxnSpPr>
        <p:spPr bwMode="auto">
          <a:xfrm flipV="1">
            <a:off x="407036" y="-226336"/>
            <a:ext cx="0" cy="1176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10" descr="A black background with white text&#10;&#10;Description automatically generated with low confidence">
            <a:extLst>
              <a:ext uri="{FF2B5EF4-FFF2-40B4-BE49-F238E27FC236}">
                <a16:creationId xmlns:a16="http://schemas.microsoft.com/office/drawing/2014/main" id="{B18777AD-7D41-5D56-A3B3-98FBB19B485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10379738" y="165600"/>
            <a:ext cx="1494000" cy="483812"/>
          </a:xfrm>
          <a:prstGeom prst="rect">
            <a:avLst/>
          </a:prstGeom>
        </p:spPr>
      </p:pic>
      <p:sp>
        <p:nvSpPr>
          <p:cNvPr id="2" name="Textplatzhalter 8">
            <a:extLst>
              <a:ext uri="{FF2B5EF4-FFF2-40B4-BE49-F238E27FC236}">
                <a16:creationId xmlns:a16="http://schemas.microsoft.com/office/drawing/2014/main" id="{E670B96C-0D97-E1AE-953C-968B02DF72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406400" y="1056085"/>
            <a:ext cx="11380751" cy="276999"/>
          </a:xfrm>
        </p:spPr>
        <p:txBody>
          <a:bodyPr wrap="square">
            <a:spAutoFit/>
          </a:bodyPr>
          <a:lstStyle>
            <a:lvl1pPr marL="0">
              <a:spcBef>
                <a:spcPts val="0"/>
              </a:spcBef>
              <a:buFontTx/>
              <a:buNone/>
              <a:defRPr sz="1800" b="0">
                <a:solidFill>
                  <a:schemeClr val="tx2"/>
                </a:solidFill>
                <a:latin typeface="+mj-lt"/>
              </a:defRPr>
            </a:lvl1pPr>
            <a:lvl2pPr marL="0">
              <a:spcBef>
                <a:spcPts val="0"/>
              </a:spcBef>
              <a:buFontTx/>
              <a:buNone/>
              <a:defRPr sz="3200" b="0">
                <a:solidFill>
                  <a:schemeClr val="accent2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3200" b="0">
                <a:solidFill>
                  <a:schemeClr val="accent2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3200" b="0">
                <a:solidFill>
                  <a:schemeClr val="accent2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3200" b="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noProof="0"/>
              <a:t>Action title in The Group Head Light 18pt, White</a:t>
            </a: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AEE5187D-DD06-7FE2-56A8-A9D96509E9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407987" y="644520"/>
            <a:ext cx="11376021" cy="387798"/>
          </a:xfrm>
        </p:spPr>
        <p:txBody>
          <a:bodyPr anchor="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Headline in The Group Head Light 28pt, White</a:t>
            </a:r>
            <a:endParaRPr lang="en-IN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CFD50740-F166-4113-DAD0-312D0F6C540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29031" y="6564486"/>
            <a:ext cx="531813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de-DE" sz="80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530709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0" Type="http://schemas.openxmlformats.org/officeDocument/2006/relationships/oleObject" Target="../embeddings/oleObject1.bin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hink-cell data - do not delete" hidden="1">
            <a:extLst>
              <a:ext uri="{FF2B5EF4-FFF2-40B4-BE49-F238E27FC236}">
                <a16:creationId xmlns:a16="http://schemas.microsoft.com/office/drawing/2014/main" id="{8179C538-ECC3-05CC-AEA9-2ECC1189BBBC}"/>
              </a:ext>
            </a:extLst>
          </p:cNvPr>
          <p:cNvGraphicFramePr>
            <a:graphicFrameLocks/>
          </p:cNvGraphicFramePr>
          <p:nvPr>
            <p:custDataLst>
              <p:tags r:id="rId9"/>
            </p:custDataLst>
            <p:extLst>
              <p:ext uri="{D42A27DB-BD31-4B8C-83A1-F6EECF244321}">
                <p14:modId xmlns:p14="http://schemas.microsoft.com/office/powerpoint/2010/main" val="22388626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324" imgH="324" progId="TCLayout.ActiveDocument.1">
                  <p:embed/>
                </p:oleObj>
              </mc:Choice>
              <mc:Fallback>
                <p:oleObj name="think-cell Slide" r:id="rId10" imgW="324" imgH="324" progId="TCLayout.ActiveDocument.1">
                  <p:embed/>
                  <p:pic>
                    <p:nvPicPr>
                      <p:cNvPr id="1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179C538-ECC3-05CC-AEA9-2ECC1189BB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C56B7EF-4461-AB17-108A-8CC77F48E030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407987" y="644520"/>
            <a:ext cx="11376021" cy="3877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GB" noProof="0"/>
              <a:t>Click to edit slide title (maximum two lines)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C8ACC66-43E9-95B0-51D1-0E28CC3AAC24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407036" y="1853248"/>
            <a:ext cx="11380116" cy="460073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/>
              <a:t>Click to edit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endParaRPr lang="en-GB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90B8C70-311F-31DF-AC29-834B1014A761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11057536" y="6581326"/>
            <a:ext cx="720000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800">
                <a:solidFill>
                  <a:schemeClr val="accent4"/>
                </a:solidFill>
              </a:defRPr>
            </a:lvl1pPr>
          </a:lstStyle>
          <a:p>
            <a:r>
              <a:rPr lang="en-US"/>
              <a:t>CSD-class 0.2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EDB32B8-0E5C-5E72-D00A-DB2CFC81AE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407988" y="6583585"/>
            <a:ext cx="2913710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800">
                <a:solidFill>
                  <a:schemeClr val="accent4"/>
                </a:solidFill>
              </a:defRPr>
            </a:lvl1pPr>
          </a:lstStyle>
          <a:p>
            <a:pPr algn="l"/>
            <a:r>
              <a:rPr lang="en-US"/>
              <a:t>ReCall2 | Quarterly Planning Q4 2026 | 15 &amp; 16 September 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FB3F4DB-4231-A179-AD38-0B2FCE119B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915997" y="6579881"/>
            <a:ext cx="360000" cy="126000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800">
                <a:solidFill>
                  <a:schemeClr val="accent4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EB9F9F1A-BF9E-1C9B-ECE0-00CBA4E944C3}"/>
              </a:ext>
            </a:extLst>
          </p:cNvPr>
          <p:cNvCxnSpPr/>
          <p:nvPr/>
        </p:nvCxnSpPr>
        <p:spPr bwMode="gray">
          <a:xfrm flipH="1">
            <a:off x="-304797" y="6453982"/>
            <a:ext cx="222249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feld 8">
            <a:extLst>
              <a:ext uri="{FF2B5EF4-FFF2-40B4-BE49-F238E27FC236}">
                <a16:creationId xmlns:a16="http://schemas.microsoft.com/office/drawing/2014/main" id="{F1D39479-3EF6-481D-3F86-0392195505A4}"/>
              </a:ext>
            </a:extLst>
          </p:cNvPr>
          <p:cNvSpPr txBox="1"/>
          <p:nvPr/>
        </p:nvSpPr>
        <p:spPr bwMode="gray">
          <a:xfrm>
            <a:off x="-285747" y="6353974"/>
            <a:ext cx="203200" cy="9233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600" b="0" i="0" noProof="0">
                <a:solidFill>
                  <a:schemeClr val="accent4"/>
                </a:solidFill>
                <a:latin typeface="The Group TEXT" panose="00000500000000000000" pitchFamily="2" charset="0"/>
                <a:cs typeface="The Group TEXT" panose="020B0604020202020204" pitchFamily="34" charset="0"/>
              </a:rPr>
              <a:t>8,40</a:t>
            </a:r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3380CEC4-6934-2632-FCBB-4D2C6D39CC10}"/>
              </a:ext>
            </a:extLst>
          </p:cNvPr>
          <p:cNvCxnSpPr/>
          <p:nvPr/>
        </p:nvCxnSpPr>
        <p:spPr bwMode="gray">
          <a:xfrm flipV="1">
            <a:off x="11784013" y="-226336"/>
            <a:ext cx="0" cy="117695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6CFE6950-AE68-5FC6-76AE-86B39D651370}"/>
              </a:ext>
            </a:extLst>
          </p:cNvPr>
          <p:cNvSpPr txBox="1"/>
          <p:nvPr/>
        </p:nvSpPr>
        <p:spPr bwMode="gray">
          <a:xfrm>
            <a:off x="11831643" y="-211931"/>
            <a:ext cx="298449" cy="9233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600" b="0" i="0" noProof="0">
                <a:solidFill>
                  <a:schemeClr val="accent4"/>
                </a:solidFill>
                <a:latin typeface="The Group TEXT" panose="00000500000000000000" pitchFamily="2" charset="0"/>
                <a:cs typeface="The Group TEXT" panose="020B0604020202020204" pitchFamily="34" charset="0"/>
              </a:rPr>
              <a:t>15,80</a:t>
            </a:r>
          </a:p>
        </p:txBody>
      </p: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6CD33B17-2A7F-B878-99CD-DB0B61909B22}"/>
              </a:ext>
            </a:extLst>
          </p:cNvPr>
          <p:cNvCxnSpPr/>
          <p:nvPr/>
        </p:nvCxnSpPr>
        <p:spPr bwMode="gray">
          <a:xfrm flipH="1">
            <a:off x="-304797" y="1844622"/>
            <a:ext cx="222249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feld 12">
            <a:extLst>
              <a:ext uri="{FF2B5EF4-FFF2-40B4-BE49-F238E27FC236}">
                <a16:creationId xmlns:a16="http://schemas.microsoft.com/office/drawing/2014/main" id="{68240D4A-2FDF-B4D6-C1A4-EE11AB75BEA4}"/>
              </a:ext>
            </a:extLst>
          </p:cNvPr>
          <p:cNvSpPr txBox="1"/>
          <p:nvPr/>
        </p:nvSpPr>
        <p:spPr bwMode="gray">
          <a:xfrm>
            <a:off x="-304796" y="1874789"/>
            <a:ext cx="222248" cy="9233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600" b="0" i="0" noProof="0">
                <a:solidFill>
                  <a:schemeClr val="accent4"/>
                </a:solidFill>
                <a:latin typeface="The Group TEXT" panose="00000500000000000000" pitchFamily="2" charset="0"/>
                <a:cs typeface="The Group TEXT" panose="020B0604020202020204" pitchFamily="34" charset="0"/>
              </a:rPr>
              <a:t>4,40</a:t>
            </a:r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CC422DBD-5A09-A843-A73D-20E87D2E4DE8}"/>
              </a:ext>
            </a:extLst>
          </p:cNvPr>
          <p:cNvCxnSpPr/>
          <p:nvPr/>
        </p:nvCxnSpPr>
        <p:spPr bwMode="gray">
          <a:xfrm flipH="1">
            <a:off x="-304798" y="1044837"/>
            <a:ext cx="222249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feld 14">
            <a:extLst>
              <a:ext uri="{FF2B5EF4-FFF2-40B4-BE49-F238E27FC236}">
                <a16:creationId xmlns:a16="http://schemas.microsoft.com/office/drawing/2014/main" id="{4CB12F3C-03C3-49B2-85E0-B16A5349A213}"/>
              </a:ext>
            </a:extLst>
          </p:cNvPr>
          <p:cNvSpPr txBox="1"/>
          <p:nvPr/>
        </p:nvSpPr>
        <p:spPr bwMode="gray">
          <a:xfrm>
            <a:off x="-304797" y="1052513"/>
            <a:ext cx="222249" cy="9233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600" b="0" i="0" noProof="0">
                <a:solidFill>
                  <a:schemeClr val="accent4"/>
                </a:solidFill>
                <a:latin typeface="The Group TEXT" panose="00000500000000000000" pitchFamily="2" charset="0"/>
                <a:cs typeface="The Group TEXT" panose="020B0604020202020204" pitchFamily="34" charset="0"/>
              </a:rPr>
              <a:t>6,60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232F9980-A7F8-E587-210B-67BDCD747B44}"/>
              </a:ext>
            </a:extLst>
          </p:cNvPr>
          <p:cNvSpPr txBox="1"/>
          <p:nvPr/>
        </p:nvSpPr>
        <p:spPr bwMode="gray">
          <a:xfrm>
            <a:off x="60958" y="-211931"/>
            <a:ext cx="298449" cy="9233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n-GB" sz="600" b="0" i="0" noProof="0">
                <a:solidFill>
                  <a:schemeClr val="accent4"/>
                </a:solidFill>
                <a:latin typeface="The Group TEXT" panose="00000500000000000000" pitchFamily="2" charset="0"/>
                <a:cs typeface="The Group TEXT" panose="020B0604020202020204" pitchFamily="34" charset="0"/>
              </a:rPr>
              <a:t>15,80</a:t>
            </a:r>
          </a:p>
        </p:txBody>
      </p: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F93BE442-19B8-0F29-53DE-FFC8335D8624}"/>
              </a:ext>
            </a:extLst>
          </p:cNvPr>
          <p:cNvCxnSpPr/>
          <p:nvPr/>
        </p:nvCxnSpPr>
        <p:spPr bwMode="gray">
          <a:xfrm flipV="1">
            <a:off x="407036" y="-226336"/>
            <a:ext cx="0" cy="117695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574B7751-1650-A0F4-8B24-5D5E22F9CF0F}"/>
              </a:ext>
            </a:extLst>
          </p:cNvPr>
          <p:cNvCxnSpPr/>
          <p:nvPr/>
        </p:nvCxnSpPr>
        <p:spPr bwMode="gray">
          <a:xfrm flipV="1">
            <a:off x="407036" y="-226336"/>
            <a:ext cx="0" cy="117695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5" descr="A picture containing font, screenshot, graphics, text&#10;&#10;Description automatically generated">
            <a:extLst>
              <a:ext uri="{FF2B5EF4-FFF2-40B4-BE49-F238E27FC236}">
                <a16:creationId xmlns:a16="http://schemas.microsoft.com/office/drawing/2014/main" id="{890C9229-FEB3-A487-38D6-95B1C7DC09F1}"/>
              </a:ext>
            </a:extLst>
          </p:cNvPr>
          <p:cNvPicPr>
            <a:picLocks noChangeAspect="1"/>
          </p:cNvPicPr>
          <p:nvPr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77521" y="167108"/>
            <a:ext cx="1494855" cy="484088"/>
          </a:xfrm>
          <a:prstGeom prst="rect">
            <a:avLst/>
          </a:prstGeom>
        </p:spPr>
      </p:pic>
      <p:sp>
        <p:nvSpPr>
          <p:cNvPr id="7" name="TextBox 6"/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72580"/>
            <a:ext cx="531813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88A2E0A-36C9-BBB9-3E8E-6D0EF13B1E03}"/>
              </a:ext>
            </a:extLst>
          </p:cNvPr>
          <p:cNvSpPr txBox="1"/>
          <p:nvPr userDrawn="1"/>
        </p:nvSpPr>
        <p:spPr>
          <a:xfrm rot="16200000">
            <a:off x="10769523" y="5215735"/>
            <a:ext cx="233968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>
                <a:solidFill>
                  <a:schemeClr val="accent4"/>
                </a:solidFill>
              </a:rPr>
              <a:t>202609_Q4_QuarterlyPlanning_RC2_JL_JH</a:t>
            </a:r>
          </a:p>
        </p:txBody>
      </p:sp>
      <p:sp>
        <p:nvSpPr>
          <p:cNvPr id="920" name="FooterFixed">
            <a:extLst>
              <a:ext uri="{FF2B5EF4-FFF2-40B4-BE49-F238E27FC236}">
                <a16:creationId xmlns:a16="http://schemas.microsoft.com/office/drawing/2014/main" id="{3EDB32B8-0E5C-5E72-D00A-DB2CFC81AEA2}"/>
              </a:ext>
            </a:extLst>
          </p:cNvPr>
          <p:cNvSpPr/>
          <p:nvPr/>
        </p:nvSpPr>
        <p:spPr bwMode="gray">
          <a:xfrm>
            <a:off x="407988" y="6583585"/>
            <a:ext cx="2913710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800">
                <a:solidFill>
                  <a:schemeClr val="accent4"/>
                </a:solidFill>
              </a:defRPr>
            </a:lvl1pPr>
          </a:lstStyle>
          <a:p>
            <a:pPr algn="l"/>
            <a:r>
              <a:rPr lang="en-US"/>
              <a:t>ReCall2 | Quarterly Planning Q4 2026 | 15 &amp; 16 September </a:t>
            </a:r>
          </a:p>
        </p:txBody>
      </p:sp>
      <p:sp>
        <p:nvSpPr>
          <p:cNvPr id="921" name="ClassFixed">
            <a:extLst>
              <a:ext uri="{FF2B5EF4-FFF2-40B4-BE49-F238E27FC236}">
                <a16:creationId xmlns:a16="http://schemas.microsoft.com/office/drawing/2014/main" id="{490B8C70-311F-31DF-AC29-834B1014A761}"/>
              </a:ext>
            </a:extLst>
          </p:cNvPr>
          <p:cNvSpPr/>
          <p:nvPr/>
        </p:nvSpPr>
        <p:spPr bwMode="gray">
          <a:xfrm>
            <a:off x="11057536" y="6581326"/>
            <a:ext cx="720000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800">
                <a:solidFill>
                  <a:schemeClr val="accent4"/>
                </a:solidFill>
              </a:defRPr>
            </a:lvl1pPr>
          </a:lstStyle>
          <a:p>
            <a:r>
              <a:rPr lang="en-US"/>
              <a:t>CSD-class 0.2</a:t>
            </a:r>
          </a:p>
        </p:txBody>
      </p:sp>
      <p:sp>
        <p:nvSpPr>
          <p:cNvPr id="922" name="SlideNumFixed">
            <a:extLst>
              <a:ext uri="{FF2B5EF4-FFF2-40B4-BE49-F238E27FC236}">
                <a16:creationId xmlns:a16="http://schemas.microsoft.com/office/drawing/2014/main" id="{7FB3F4DB-4231-A179-AD38-0B2FCE119BDA}"/>
              </a:ext>
            </a:extLst>
          </p:cNvPr>
          <p:cNvSpPr/>
          <p:nvPr/>
        </p:nvSpPr>
        <p:spPr bwMode="gray">
          <a:xfrm>
            <a:off x="5915997" y="6579881"/>
            <a:ext cx="360000" cy="126000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800">
                <a:solidFill>
                  <a:schemeClr val="accent4"/>
                </a:solidFill>
              </a:defRPr>
            </a:lvl1pPr>
          </a:lstStyle>
          <a:p>
            <a:pPr algn="ctr"/>
            <a:fld id="{330EA680-D336-4FF7-8B7A-9848BB0A1C32}" type="slidenum">
              <a:rPr lang="en-US" smtClean="0"/>
              <a:pPr algn="ctr"/>
              <a:t>‹#›</a:t>
            </a:fld>
            <a:endParaRPr lang="en-US"/>
          </a:p>
        </p:txBody>
      </p: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3C79BE6B-CA04-3C95-B0D3-FE14433E7F31}"/>
              </a:ext>
            </a:extLst>
          </p:cNvPr>
          <p:cNvGrpSpPr/>
          <p:nvPr userDrawn="1"/>
        </p:nvGrpSpPr>
        <p:grpSpPr>
          <a:xfrm>
            <a:off x="-2110828" y="-50575"/>
            <a:ext cx="16007626" cy="6908575"/>
            <a:chOff x="-2110828" y="-50575"/>
            <a:chExt cx="16007626" cy="6908575"/>
          </a:xfrm>
        </p:grpSpPr>
        <p:grpSp>
          <p:nvGrpSpPr>
            <p:cNvPr id="20" name="Gruppieren 19">
              <a:extLst>
                <a:ext uri="{FF2B5EF4-FFF2-40B4-BE49-F238E27FC236}">
                  <a16:creationId xmlns:a16="http://schemas.microsoft.com/office/drawing/2014/main" id="{1898D62B-005B-FE4E-38B7-8F7CBC70BA4F}"/>
                </a:ext>
              </a:extLst>
            </p:cNvPr>
            <p:cNvGrpSpPr/>
            <p:nvPr/>
          </p:nvGrpSpPr>
          <p:grpSpPr>
            <a:xfrm>
              <a:off x="-2110828" y="-50575"/>
              <a:ext cx="1548000" cy="6908575"/>
              <a:chOff x="-2110828" y="-50575"/>
              <a:chExt cx="1548000" cy="6908575"/>
            </a:xfrm>
          </p:grpSpPr>
          <p:sp>
            <p:nvSpPr>
              <p:cNvPr id="37" name="Rounded Rectangle 63">
                <a:extLst>
                  <a:ext uri="{FF2B5EF4-FFF2-40B4-BE49-F238E27FC236}">
                    <a16:creationId xmlns:a16="http://schemas.microsoft.com/office/drawing/2014/main" id="{AC9445EF-1677-E3B2-8CB3-234DB97158F3}"/>
                  </a:ext>
                </a:extLst>
              </p:cNvPr>
              <p:cNvSpPr/>
              <p:nvPr/>
            </p:nvSpPr>
            <p:spPr bwMode="gray">
              <a:xfrm>
                <a:off x="-2110000" y="366623"/>
                <a:ext cx="1546344" cy="484188"/>
              </a:xfrm>
              <a:prstGeom prst="rect">
                <a:avLst/>
              </a:prstGeom>
              <a:solidFill>
                <a:srgbClr val="0027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 anchorCtr="0"/>
              <a:lstStyle/>
              <a:p>
                <a:pPr marL="0" marR="0" lvl="0" indent="0" algn="ctr" defTabSz="914400" rtl="0" eaLnBrk="1" fontAlgn="auto" latinLnBrk="0" hangingPunct="1">
                  <a:spcBef>
                    <a:spcPts val="0"/>
                  </a:spcBef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he Group TEXT" panose="00000500000000000000" pitchFamily="2" charset="0"/>
                    <a:ea typeface="+mn-ea"/>
                    <a:cs typeface="The Group TEXT" panose="020B0604020202020204" pitchFamily="34" charset="0"/>
                  </a:rPr>
                  <a:t>Deep Space Blue</a:t>
                </a:r>
              </a:p>
              <a:p>
                <a:pPr marL="0" marR="0" lvl="0" indent="0" algn="ctr" defTabSz="914400" rtl="0" eaLnBrk="1" fontAlgn="auto" latinLnBrk="0" hangingPunct="1">
                  <a:spcBef>
                    <a:spcPts val="0"/>
                  </a:spcBef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he Group TEXT" panose="00000500000000000000" pitchFamily="2" charset="0"/>
                    <a:ea typeface="+mn-ea"/>
                    <a:cs typeface="+mn-cs"/>
                  </a:rPr>
                  <a:t>0 / 39 / 51</a:t>
                </a:r>
              </a:p>
            </p:txBody>
          </p:sp>
          <p:sp>
            <p:nvSpPr>
              <p:cNvPr id="38" name="Titel 2">
                <a:extLst>
                  <a:ext uri="{FF2B5EF4-FFF2-40B4-BE49-F238E27FC236}">
                    <a16:creationId xmlns:a16="http://schemas.microsoft.com/office/drawing/2014/main" id="{8E9CAC52-D7C6-F8EE-D374-E07E7E91B160}"/>
                  </a:ext>
                </a:extLst>
              </p:cNvPr>
              <p:cNvSpPr txBox="1">
                <a:spLocks/>
              </p:cNvSpPr>
              <p:nvPr/>
            </p:nvSpPr>
            <p:spPr bwMode="black">
              <a:xfrm>
                <a:off x="-2087638" y="-50575"/>
                <a:ext cx="1501621" cy="355278"/>
              </a:xfrm>
              <a:prstGeom prst="rect">
                <a:avLst/>
              </a:prstGeom>
            </p:spPr>
            <p:txBody>
              <a:bodyPr vert="horz" lIns="0" tIns="0" rIns="0" bIns="0" rtlCol="0" anchor="ctr">
                <a:noAutofit/>
              </a:bodyPr>
              <a:lstStyle>
                <a:lvl1pPr algn="l" defTabSz="914377" rtl="0" eaLnBrk="1" latinLnBrk="0" hangingPunct="1">
                  <a:lnSpc>
                    <a:spcPct val="100000"/>
                  </a:lnSpc>
                  <a:spcBef>
                    <a:spcPct val="0"/>
                  </a:spcBef>
                  <a:buNone/>
                  <a:defRPr sz="2000" b="1" kern="1200" baseline="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The Group TEXT" panose="00000500000000000000" pitchFamily="2" charset="0"/>
                    <a:ea typeface="+mj-ea"/>
                    <a:cs typeface="The Group TEXT" panose="020B0604020202020204" pitchFamily="34" charset="0"/>
                  </a:rPr>
                  <a:t>Primary palette</a:t>
                </a:r>
                <a:endParaRPr kumimoji="0" lang="en-GB" sz="12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he Group TEXT" panose="00000500000000000000" pitchFamily="2" charset="0"/>
                  <a:ea typeface="+mj-ea"/>
                  <a:cs typeface="The Group TEXT" panose="020B0604020202020204" pitchFamily="34" charset="0"/>
                </a:endParaRPr>
              </a:p>
            </p:txBody>
          </p:sp>
          <p:sp>
            <p:nvSpPr>
              <p:cNvPr id="39" name="Rounded Rectangle 63">
                <a:extLst>
                  <a:ext uri="{FF2B5EF4-FFF2-40B4-BE49-F238E27FC236}">
                    <a16:creationId xmlns:a16="http://schemas.microsoft.com/office/drawing/2014/main" id="{6A671961-D58F-1768-C856-A4558648983D}"/>
                  </a:ext>
                </a:extLst>
              </p:cNvPr>
              <p:cNvSpPr/>
              <p:nvPr/>
            </p:nvSpPr>
            <p:spPr bwMode="gray">
              <a:xfrm>
                <a:off x="-2110000" y="3643271"/>
                <a:ext cx="1546344" cy="484188"/>
              </a:xfrm>
              <a:prstGeom prst="rect">
                <a:avLst/>
              </a:prstGeom>
              <a:solidFill>
                <a:srgbClr val="008C8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 anchorCtr="0"/>
              <a:lstStyle/>
              <a:p>
                <a:pPr marL="0" marR="0" lvl="0" indent="0" algn="ctr" defTabSz="914400" rtl="0" eaLnBrk="1" fontAlgn="auto" latinLnBrk="0" hangingPunct="1">
                  <a:spcBef>
                    <a:spcPts val="0"/>
                  </a:spcBef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The Group TEXT" panose="00000500000000000000" pitchFamily="2" charset="0"/>
                    <a:ea typeface="+mn-ea"/>
                    <a:cs typeface="The Group TEXT" panose="020B0604020202020204" pitchFamily="34" charset="0"/>
                  </a:rPr>
                  <a:t>Vivid Green</a:t>
                </a:r>
              </a:p>
              <a:p>
                <a:pPr marL="0" marR="0" lvl="0" indent="0" algn="ctr" defTabSz="914400" rtl="0" eaLnBrk="1" fontAlgn="auto" latinLnBrk="0" hangingPunct="1">
                  <a:spcBef>
                    <a:spcPts val="0"/>
                  </a:spcBef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0" i="0" u="none" strike="noStrike" kern="120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The Group TEXT" panose="00000500000000000000" pitchFamily="2" charset="0"/>
                    <a:ea typeface="+mn-ea"/>
                    <a:cs typeface="+mn-cs"/>
                  </a:rPr>
                  <a:t>0 / 140 / 130</a:t>
                </a:r>
              </a:p>
            </p:txBody>
          </p:sp>
          <p:sp>
            <p:nvSpPr>
              <p:cNvPr id="40" name="Rectangle 9">
                <a:extLst>
                  <a:ext uri="{FF2B5EF4-FFF2-40B4-BE49-F238E27FC236}">
                    <a16:creationId xmlns:a16="http://schemas.microsoft.com/office/drawing/2014/main" id="{13FCA461-2A47-3F8F-51BB-63ED6B9B527C}"/>
                  </a:ext>
                </a:extLst>
              </p:cNvPr>
              <p:cNvSpPr/>
              <p:nvPr/>
            </p:nvSpPr>
            <p:spPr>
              <a:xfrm>
                <a:off x="-2110828" y="912731"/>
                <a:ext cx="1548000" cy="484188"/>
              </a:xfrm>
              <a:prstGeom prst="rect">
                <a:avLst/>
              </a:prstGeom>
              <a:solidFill>
                <a:srgbClr val="193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 anchorCtr="0"/>
              <a:lstStyle/>
              <a:p>
                <a:pPr algn="ctr"/>
                <a:r>
                  <a:rPr lang="en-GB" sz="1200">
                    <a:solidFill>
                      <a:srgbClr val="FFFFFF"/>
                    </a:solidFill>
                    <a:latin typeface="The Group TEXT" panose="00000500000000000000" pitchFamily="2" charset="0"/>
                    <a:cs typeface="The Group TEXT" panose="020B0604020202020204" pitchFamily="34" charset="0"/>
                  </a:rPr>
                  <a:t>90%</a:t>
                </a:r>
              </a:p>
            </p:txBody>
          </p:sp>
          <p:sp>
            <p:nvSpPr>
              <p:cNvPr id="41" name="Rectangle 12">
                <a:extLst>
                  <a:ext uri="{FF2B5EF4-FFF2-40B4-BE49-F238E27FC236}">
                    <a16:creationId xmlns:a16="http://schemas.microsoft.com/office/drawing/2014/main" id="{7A01537E-030E-747B-E819-D3ED5B484487}"/>
                  </a:ext>
                </a:extLst>
              </p:cNvPr>
              <p:cNvSpPr/>
              <p:nvPr/>
            </p:nvSpPr>
            <p:spPr>
              <a:xfrm>
                <a:off x="-2110828" y="1458839"/>
                <a:ext cx="1548000" cy="484188"/>
              </a:xfrm>
              <a:prstGeom prst="rect">
                <a:avLst/>
              </a:prstGeom>
              <a:solidFill>
                <a:srgbClr val="667D8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 anchorCtr="0"/>
              <a:lstStyle/>
              <a:p>
                <a:pPr algn="ctr"/>
                <a:r>
                  <a:rPr lang="en-GB" sz="1200">
                    <a:solidFill>
                      <a:srgbClr val="FFFFFF"/>
                    </a:solidFill>
                    <a:latin typeface="The Group TEXT" panose="00000500000000000000" pitchFamily="2" charset="0"/>
                    <a:cs typeface="The Group TEXT" panose="020B0604020202020204" pitchFamily="34" charset="0"/>
                  </a:rPr>
                  <a:t>60%</a:t>
                </a:r>
              </a:p>
            </p:txBody>
          </p:sp>
          <p:sp>
            <p:nvSpPr>
              <p:cNvPr id="42" name="Rectangle 14">
                <a:extLst>
                  <a:ext uri="{FF2B5EF4-FFF2-40B4-BE49-F238E27FC236}">
                    <a16:creationId xmlns:a16="http://schemas.microsoft.com/office/drawing/2014/main" id="{9B112F13-B902-563B-6470-CE8277324761}"/>
                  </a:ext>
                </a:extLst>
              </p:cNvPr>
              <p:cNvSpPr/>
              <p:nvPr/>
            </p:nvSpPr>
            <p:spPr>
              <a:xfrm>
                <a:off x="-2110828" y="2004947"/>
                <a:ext cx="1548000" cy="484188"/>
              </a:xfrm>
              <a:prstGeom prst="rect">
                <a:avLst/>
              </a:prstGeom>
              <a:solidFill>
                <a:srgbClr val="99A9A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 anchorCtr="0"/>
              <a:lstStyle/>
              <a:p>
                <a:pPr algn="ctr"/>
                <a:r>
                  <a:rPr lang="en-GB" sz="1200">
                    <a:solidFill>
                      <a:schemeClr val="tx2"/>
                    </a:solidFill>
                    <a:latin typeface="The Group TEXT" panose="00000500000000000000" pitchFamily="2" charset="0"/>
                    <a:cs typeface="The Group TEXT" panose="020B0604020202020204" pitchFamily="34" charset="0"/>
                  </a:rPr>
                  <a:t>40%</a:t>
                </a:r>
              </a:p>
            </p:txBody>
          </p:sp>
          <p:sp>
            <p:nvSpPr>
              <p:cNvPr id="43" name="Rectangle 16">
                <a:extLst>
                  <a:ext uri="{FF2B5EF4-FFF2-40B4-BE49-F238E27FC236}">
                    <a16:creationId xmlns:a16="http://schemas.microsoft.com/office/drawing/2014/main" id="{A1B58832-A547-D2F4-ADA2-73A5CF1CD3AE}"/>
                  </a:ext>
                </a:extLst>
              </p:cNvPr>
              <p:cNvSpPr/>
              <p:nvPr/>
            </p:nvSpPr>
            <p:spPr>
              <a:xfrm>
                <a:off x="-2110828" y="2551055"/>
                <a:ext cx="1548000" cy="484188"/>
              </a:xfrm>
              <a:prstGeom prst="rect">
                <a:avLst/>
              </a:prstGeom>
              <a:solidFill>
                <a:srgbClr val="CCD4D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 anchorCtr="0"/>
              <a:lstStyle/>
              <a:p>
                <a:pPr algn="ctr"/>
                <a:r>
                  <a:rPr lang="en-GB" sz="1200">
                    <a:solidFill>
                      <a:schemeClr val="tx2"/>
                    </a:solidFill>
                    <a:latin typeface="The Group TEXT" panose="00000500000000000000" pitchFamily="2" charset="0"/>
                    <a:cs typeface="The Group TEXT" panose="020B0604020202020204" pitchFamily="34" charset="0"/>
                  </a:rPr>
                  <a:t>20%</a:t>
                </a:r>
              </a:p>
            </p:txBody>
          </p:sp>
          <p:sp>
            <p:nvSpPr>
              <p:cNvPr id="44" name="Rectangle 17">
                <a:extLst>
                  <a:ext uri="{FF2B5EF4-FFF2-40B4-BE49-F238E27FC236}">
                    <a16:creationId xmlns:a16="http://schemas.microsoft.com/office/drawing/2014/main" id="{B95195E1-D509-CEAF-564F-22D0931E9A4D}"/>
                  </a:ext>
                </a:extLst>
              </p:cNvPr>
              <p:cNvSpPr/>
              <p:nvPr/>
            </p:nvSpPr>
            <p:spPr>
              <a:xfrm>
                <a:off x="-2110828" y="3097163"/>
                <a:ext cx="1548000" cy="484188"/>
              </a:xfrm>
              <a:prstGeom prst="rect">
                <a:avLst/>
              </a:prstGeom>
              <a:solidFill>
                <a:srgbClr val="E5E9E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 anchorCtr="0"/>
              <a:lstStyle/>
              <a:p>
                <a:pPr algn="ctr"/>
                <a:r>
                  <a:rPr lang="en-GB" sz="1200">
                    <a:solidFill>
                      <a:schemeClr val="tx2"/>
                    </a:solidFill>
                    <a:latin typeface="The Group TEXT" panose="00000500000000000000" pitchFamily="2" charset="0"/>
                    <a:cs typeface="The Group TEXT" panose="020B0604020202020204" pitchFamily="34" charset="0"/>
                  </a:rPr>
                  <a:t>10%</a:t>
                </a:r>
              </a:p>
            </p:txBody>
          </p:sp>
          <p:sp>
            <p:nvSpPr>
              <p:cNvPr id="45" name="Rectangle 20">
                <a:extLst>
                  <a:ext uri="{FF2B5EF4-FFF2-40B4-BE49-F238E27FC236}">
                    <a16:creationId xmlns:a16="http://schemas.microsoft.com/office/drawing/2014/main" id="{2AEEEE72-C4D1-8F83-A869-1E50BF3CD11C}"/>
                  </a:ext>
                </a:extLst>
              </p:cNvPr>
              <p:cNvSpPr/>
              <p:nvPr/>
            </p:nvSpPr>
            <p:spPr>
              <a:xfrm>
                <a:off x="-2110828" y="4189379"/>
                <a:ext cx="1548000" cy="484188"/>
              </a:xfrm>
              <a:prstGeom prst="rect">
                <a:avLst/>
              </a:prstGeom>
              <a:solidFill>
                <a:srgbClr val="33A39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 anchorCtr="0"/>
              <a:lstStyle/>
              <a:p>
                <a:pPr algn="ctr"/>
                <a:r>
                  <a:rPr lang="en-GB" sz="1200">
                    <a:solidFill>
                      <a:srgbClr val="FFFFFF"/>
                    </a:solidFill>
                    <a:latin typeface="The Group TEXT" panose="00000500000000000000" pitchFamily="2" charset="0"/>
                    <a:cs typeface="The Group TEXT" panose="020B0604020202020204" pitchFamily="34" charset="0"/>
                  </a:rPr>
                  <a:t>80%</a:t>
                </a:r>
              </a:p>
            </p:txBody>
          </p:sp>
          <p:sp>
            <p:nvSpPr>
              <p:cNvPr id="46" name="Rectangle 22">
                <a:extLst>
                  <a:ext uri="{FF2B5EF4-FFF2-40B4-BE49-F238E27FC236}">
                    <a16:creationId xmlns:a16="http://schemas.microsoft.com/office/drawing/2014/main" id="{A45C3012-4E4F-3220-F260-F6DECBFD4C6E}"/>
                  </a:ext>
                </a:extLst>
              </p:cNvPr>
              <p:cNvSpPr/>
              <p:nvPr/>
            </p:nvSpPr>
            <p:spPr>
              <a:xfrm>
                <a:off x="-2110828" y="4735487"/>
                <a:ext cx="1548000" cy="484188"/>
              </a:xfrm>
              <a:prstGeom prst="rect">
                <a:avLst/>
              </a:prstGeom>
              <a:solidFill>
                <a:srgbClr val="66BA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 anchorCtr="0"/>
              <a:lstStyle/>
              <a:p>
                <a:pPr algn="ctr"/>
                <a:r>
                  <a:rPr lang="en-GB" sz="1200">
                    <a:solidFill>
                      <a:srgbClr val="FFFFFF"/>
                    </a:solidFill>
                    <a:latin typeface="The Group TEXT" panose="00000500000000000000" pitchFamily="2" charset="0"/>
                    <a:cs typeface="The Group TEXT" panose="020B0604020202020204" pitchFamily="34" charset="0"/>
                  </a:rPr>
                  <a:t>60%</a:t>
                </a:r>
              </a:p>
            </p:txBody>
          </p:sp>
          <p:sp>
            <p:nvSpPr>
              <p:cNvPr id="47" name="Rectangle 24">
                <a:extLst>
                  <a:ext uri="{FF2B5EF4-FFF2-40B4-BE49-F238E27FC236}">
                    <a16:creationId xmlns:a16="http://schemas.microsoft.com/office/drawing/2014/main" id="{9FF9C458-4B08-6122-9001-9E05A01FC088}"/>
                  </a:ext>
                </a:extLst>
              </p:cNvPr>
              <p:cNvSpPr/>
              <p:nvPr/>
            </p:nvSpPr>
            <p:spPr>
              <a:xfrm>
                <a:off x="-2110828" y="5281595"/>
                <a:ext cx="1548000" cy="484188"/>
              </a:xfrm>
              <a:prstGeom prst="rect">
                <a:avLst/>
              </a:prstGeom>
              <a:solidFill>
                <a:srgbClr val="99D1C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 anchorCtr="0"/>
              <a:lstStyle/>
              <a:p>
                <a:pPr algn="ctr"/>
                <a:r>
                  <a:rPr lang="en-GB" sz="1200">
                    <a:solidFill>
                      <a:schemeClr val="tx2"/>
                    </a:solidFill>
                    <a:latin typeface="The Group TEXT" panose="00000500000000000000" pitchFamily="2" charset="0"/>
                    <a:cs typeface="The Group TEXT" panose="020B0604020202020204" pitchFamily="34" charset="0"/>
                  </a:rPr>
                  <a:t>40%</a:t>
                </a:r>
              </a:p>
            </p:txBody>
          </p:sp>
          <p:sp>
            <p:nvSpPr>
              <p:cNvPr id="48" name="Rectangle 26">
                <a:extLst>
                  <a:ext uri="{FF2B5EF4-FFF2-40B4-BE49-F238E27FC236}">
                    <a16:creationId xmlns:a16="http://schemas.microsoft.com/office/drawing/2014/main" id="{47CA08B7-DF36-B9D8-2066-100307C2A27D}"/>
                  </a:ext>
                </a:extLst>
              </p:cNvPr>
              <p:cNvSpPr/>
              <p:nvPr/>
            </p:nvSpPr>
            <p:spPr>
              <a:xfrm>
                <a:off x="-2110828" y="5827703"/>
                <a:ext cx="1548000" cy="484188"/>
              </a:xfrm>
              <a:prstGeom prst="rect">
                <a:avLst/>
              </a:prstGeom>
              <a:solidFill>
                <a:srgbClr val="CCE8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 anchorCtr="0"/>
              <a:lstStyle/>
              <a:p>
                <a:pPr algn="ctr"/>
                <a:r>
                  <a:rPr lang="en-GB" sz="1200">
                    <a:solidFill>
                      <a:schemeClr val="tx2"/>
                    </a:solidFill>
                    <a:latin typeface="The Group TEXT" panose="00000500000000000000" pitchFamily="2" charset="0"/>
                    <a:cs typeface="The Group TEXT" panose="020B0604020202020204" pitchFamily="34" charset="0"/>
                  </a:rPr>
                  <a:t>20%</a:t>
                </a:r>
              </a:p>
            </p:txBody>
          </p:sp>
          <p:sp>
            <p:nvSpPr>
              <p:cNvPr id="49" name="Rectangle 27">
                <a:extLst>
                  <a:ext uri="{FF2B5EF4-FFF2-40B4-BE49-F238E27FC236}">
                    <a16:creationId xmlns:a16="http://schemas.microsoft.com/office/drawing/2014/main" id="{E8B75FA4-E41A-CC27-3866-3EB72C886CC8}"/>
                  </a:ext>
                </a:extLst>
              </p:cNvPr>
              <p:cNvSpPr/>
              <p:nvPr/>
            </p:nvSpPr>
            <p:spPr>
              <a:xfrm>
                <a:off x="-2110828" y="6373812"/>
                <a:ext cx="1548000" cy="484188"/>
              </a:xfrm>
              <a:prstGeom prst="rect">
                <a:avLst/>
              </a:prstGeom>
              <a:solidFill>
                <a:srgbClr val="E5F3F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 anchorCtr="0"/>
              <a:lstStyle/>
              <a:p>
                <a:pPr algn="ctr"/>
                <a:r>
                  <a:rPr lang="en-GB" sz="1200">
                    <a:solidFill>
                      <a:schemeClr val="tx2"/>
                    </a:solidFill>
                    <a:latin typeface="The Group TEXT" panose="00000500000000000000" pitchFamily="2" charset="0"/>
                    <a:cs typeface="The Group TEXT" panose="020B0604020202020204" pitchFamily="34" charset="0"/>
                  </a:rPr>
                  <a:t>10%</a:t>
                </a:r>
              </a:p>
            </p:txBody>
          </p:sp>
        </p:grpSp>
        <p:grpSp>
          <p:nvGrpSpPr>
            <p:cNvPr id="21" name="Gruppieren 20">
              <a:extLst>
                <a:ext uri="{FF2B5EF4-FFF2-40B4-BE49-F238E27FC236}">
                  <a16:creationId xmlns:a16="http://schemas.microsoft.com/office/drawing/2014/main" id="{BCFEF7A9-890D-89B8-5AE3-C5F96F1A4309}"/>
                </a:ext>
              </a:extLst>
            </p:cNvPr>
            <p:cNvGrpSpPr/>
            <p:nvPr/>
          </p:nvGrpSpPr>
          <p:grpSpPr>
            <a:xfrm>
              <a:off x="12348798" y="-50575"/>
              <a:ext cx="1548000" cy="6908575"/>
              <a:chOff x="12348798" y="-50575"/>
              <a:chExt cx="1548000" cy="6908575"/>
            </a:xfrm>
          </p:grpSpPr>
          <p:sp>
            <p:nvSpPr>
              <p:cNvPr id="23" name="Rounded Rectangle 63">
                <a:extLst>
                  <a:ext uri="{FF2B5EF4-FFF2-40B4-BE49-F238E27FC236}">
                    <a16:creationId xmlns:a16="http://schemas.microsoft.com/office/drawing/2014/main" id="{37BD5E87-2C7D-97DB-8AF4-549A4131330A}"/>
                  </a:ext>
                </a:extLst>
              </p:cNvPr>
              <p:cNvSpPr/>
              <p:nvPr/>
            </p:nvSpPr>
            <p:spPr bwMode="gray">
              <a:xfrm>
                <a:off x="12348798" y="366623"/>
                <a:ext cx="1546344" cy="484188"/>
              </a:xfrm>
              <a:prstGeom prst="rect">
                <a:avLst/>
              </a:prstGeom>
              <a:solidFill>
                <a:srgbClr val="E6736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 anchorCtr="0"/>
              <a:lstStyle/>
              <a:p>
                <a:pPr marL="0" marR="0" lvl="0" indent="0" algn="ctr" defTabSz="914400" rtl="0" eaLnBrk="1" fontAlgn="auto" latinLnBrk="0" hangingPunct="1">
                  <a:spcBef>
                    <a:spcPts val="0"/>
                  </a:spcBef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The Group TEXT" panose="00000500000000000000" pitchFamily="2" charset="0"/>
                    <a:ea typeface="+mn-ea"/>
                    <a:cs typeface="The Group TEXT" panose="020B0604020202020204" pitchFamily="34" charset="0"/>
                  </a:rPr>
                  <a:t>Coral</a:t>
                </a:r>
              </a:p>
              <a:p>
                <a:pPr marL="0" marR="0" lvl="0" indent="0" algn="ctr" defTabSz="914400" rtl="0" eaLnBrk="1" fontAlgn="auto" latinLnBrk="0" hangingPunct="1">
                  <a:spcBef>
                    <a:spcPts val="0"/>
                  </a:spcBef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The Group TEXT" panose="00000500000000000000" pitchFamily="2" charset="0"/>
                    <a:ea typeface="+mn-ea"/>
                    <a:cs typeface="+mn-cs"/>
                  </a:rPr>
                  <a:t>230 / 115 / 100</a:t>
                </a:r>
              </a:p>
            </p:txBody>
          </p:sp>
          <p:sp>
            <p:nvSpPr>
              <p:cNvPr id="26" name="Titel 2">
                <a:extLst>
                  <a:ext uri="{FF2B5EF4-FFF2-40B4-BE49-F238E27FC236}">
                    <a16:creationId xmlns:a16="http://schemas.microsoft.com/office/drawing/2014/main" id="{BCE17160-C3D6-EA44-DFE8-0C0DB2364B20}"/>
                  </a:ext>
                </a:extLst>
              </p:cNvPr>
              <p:cNvSpPr txBox="1">
                <a:spLocks/>
              </p:cNvSpPr>
              <p:nvPr/>
            </p:nvSpPr>
            <p:spPr bwMode="black">
              <a:xfrm>
                <a:off x="12348798" y="-50575"/>
                <a:ext cx="1546344" cy="486000"/>
              </a:xfrm>
              <a:prstGeom prst="rect">
                <a:avLst/>
              </a:prstGeom>
            </p:spPr>
            <p:txBody>
              <a:bodyPr vert="horz" lIns="0" tIns="0" rIns="0" bIns="0" rtlCol="0" anchor="ctr">
                <a:noAutofit/>
              </a:bodyPr>
              <a:lstStyle>
                <a:lvl1pPr algn="l" defTabSz="914377" rtl="0" eaLnBrk="1" latinLnBrk="0" hangingPunct="1">
                  <a:lnSpc>
                    <a:spcPct val="100000"/>
                  </a:lnSpc>
                  <a:spcBef>
                    <a:spcPct val="0"/>
                  </a:spcBef>
                  <a:buNone/>
                  <a:defRPr sz="2000" b="1" kern="1200" baseline="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The Group TEXT" panose="00000500000000000000" pitchFamily="2" charset="0"/>
                    <a:ea typeface="+mj-ea"/>
                    <a:cs typeface="The Group TEXT" panose="020B0604020202020204" pitchFamily="34" charset="0"/>
                  </a:rPr>
                  <a:t>Secondary palette</a:t>
                </a:r>
                <a:endParaRPr lang="en-GB" sz="900" b="0">
                  <a:solidFill>
                    <a:schemeClr val="bg1"/>
                  </a:solidFill>
                  <a:latin typeface="The Group TEXT" panose="00000500000000000000" pitchFamily="2" charset="0"/>
                  <a:cs typeface="The Group TEXT" panose="020B0604020202020204" pitchFamily="34" charset="0"/>
                </a:endParaRPr>
              </a:p>
            </p:txBody>
          </p:sp>
          <p:sp>
            <p:nvSpPr>
              <p:cNvPr id="27" name="Rounded Rectangle 63">
                <a:extLst>
                  <a:ext uri="{FF2B5EF4-FFF2-40B4-BE49-F238E27FC236}">
                    <a16:creationId xmlns:a16="http://schemas.microsoft.com/office/drawing/2014/main" id="{89AAC434-A167-CE97-4A50-391F1C8A3794}"/>
                  </a:ext>
                </a:extLst>
              </p:cNvPr>
              <p:cNvSpPr/>
              <p:nvPr/>
            </p:nvSpPr>
            <p:spPr bwMode="gray">
              <a:xfrm>
                <a:off x="12348798" y="5281595"/>
                <a:ext cx="1546344" cy="484188"/>
              </a:xfrm>
              <a:prstGeom prst="rect">
                <a:avLst/>
              </a:prstGeom>
              <a:solidFill>
                <a:srgbClr val="DA0C1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 anchorCtr="0"/>
              <a:lstStyle/>
              <a:p>
                <a:pPr marL="0" marR="0" lvl="0" indent="0" algn="ctr" defTabSz="914400" rtl="0" eaLnBrk="1" fontAlgn="auto" latinLnBrk="0" hangingPunct="1">
                  <a:spcBef>
                    <a:spcPts val="0"/>
                  </a:spcBef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he Group TEXT" panose="00000500000000000000" pitchFamily="2" charset="0"/>
                    <a:ea typeface="+mn-ea"/>
                    <a:cs typeface="The Group TEXT" panose="020B0604020202020204" pitchFamily="34" charset="0"/>
                  </a:rPr>
                  <a:t>Red</a:t>
                </a:r>
              </a:p>
              <a:p>
                <a:pPr marL="0" marR="0" lvl="0" indent="0" algn="ctr" defTabSz="914400" rtl="0" eaLnBrk="1" fontAlgn="auto" latinLnBrk="0" hangingPunct="1">
                  <a:spcBef>
                    <a:spcPts val="0"/>
                  </a:spcBef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he Group TEXT" panose="00000500000000000000" pitchFamily="2" charset="0"/>
                    <a:ea typeface="+mn-ea"/>
                    <a:cs typeface="+mn-cs"/>
                  </a:rPr>
                  <a:t>218 / 12 / 31 </a:t>
                </a:r>
              </a:p>
            </p:txBody>
          </p:sp>
          <p:sp>
            <p:nvSpPr>
              <p:cNvPr id="28" name="Titel 2">
                <a:extLst>
                  <a:ext uri="{FF2B5EF4-FFF2-40B4-BE49-F238E27FC236}">
                    <a16:creationId xmlns:a16="http://schemas.microsoft.com/office/drawing/2014/main" id="{FB19F9C9-1248-6CDE-8F5D-8A25580850D1}"/>
                  </a:ext>
                </a:extLst>
              </p:cNvPr>
              <p:cNvSpPr txBox="1">
                <a:spLocks/>
              </p:cNvSpPr>
              <p:nvPr/>
            </p:nvSpPr>
            <p:spPr bwMode="black">
              <a:xfrm>
                <a:off x="12348798" y="4735487"/>
                <a:ext cx="1548000" cy="484188"/>
              </a:xfrm>
              <a:prstGeom prst="rect">
                <a:avLst/>
              </a:prstGeom>
            </p:spPr>
            <p:txBody>
              <a:bodyPr vert="horz" lIns="0" tIns="0" rIns="0" bIns="0" rtlCol="0" anchor="ctr">
                <a:noAutofit/>
              </a:bodyPr>
              <a:lstStyle>
                <a:lvl1pPr algn="l" defTabSz="914377" rtl="0" eaLnBrk="1" latinLnBrk="0" hangingPunct="1">
                  <a:lnSpc>
                    <a:spcPct val="100000"/>
                  </a:lnSpc>
                  <a:spcBef>
                    <a:spcPct val="0"/>
                  </a:spcBef>
                  <a:buNone/>
                  <a:defRPr sz="2000" b="1" kern="1200" baseline="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The Group TEXT" panose="00000500000000000000" pitchFamily="2" charset="0"/>
                    <a:ea typeface="+mj-ea"/>
                    <a:cs typeface="The Group TEXT" panose="020B0604020202020204" pitchFamily="34" charset="0"/>
                  </a:rPr>
                  <a:t>Traffic light system </a:t>
                </a:r>
                <a:br>
                  <a:rPr kumimoji="0" lang="en-GB" sz="1400" b="0" i="0" u="none" strike="noStrike" kern="120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The Group TEXT" panose="00000500000000000000" pitchFamily="2" charset="0"/>
                    <a:ea typeface="+mj-ea"/>
                    <a:cs typeface="The Group TEXT" panose="020B0604020202020204" pitchFamily="34" charset="0"/>
                  </a:rPr>
                </a:br>
                <a:r>
                  <a:rPr lang="en-GB" sz="900" b="0">
                    <a:solidFill>
                      <a:schemeClr val="bg1"/>
                    </a:solidFill>
                    <a:latin typeface="The Group TEXT" panose="00000500000000000000" pitchFamily="2" charset="0"/>
                    <a:cs typeface="The Group TEXT" panose="020B0604020202020204" pitchFamily="34" charset="0"/>
                  </a:rPr>
                  <a:t>only for showcasing process</a:t>
                </a:r>
              </a:p>
            </p:txBody>
          </p:sp>
          <p:sp>
            <p:nvSpPr>
              <p:cNvPr id="29" name="Rounded Rectangle 63">
                <a:extLst>
                  <a:ext uri="{FF2B5EF4-FFF2-40B4-BE49-F238E27FC236}">
                    <a16:creationId xmlns:a16="http://schemas.microsoft.com/office/drawing/2014/main" id="{9A660AF7-5608-71BA-CF20-2F0FB29AAF18}"/>
                  </a:ext>
                </a:extLst>
              </p:cNvPr>
              <p:cNvSpPr/>
              <p:nvPr/>
            </p:nvSpPr>
            <p:spPr bwMode="gray">
              <a:xfrm>
                <a:off x="12350753" y="5827703"/>
                <a:ext cx="1542434" cy="484188"/>
              </a:xfrm>
              <a:prstGeom prst="rect">
                <a:avLst/>
              </a:prstGeom>
              <a:solidFill>
                <a:srgbClr val="FCCD2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 anchorCtr="0"/>
              <a:lstStyle/>
              <a:p>
                <a:pPr marL="0" marR="0" lvl="0" indent="0" algn="ctr" defTabSz="914400" rtl="0" eaLnBrk="1" fontAlgn="auto" latinLnBrk="0" hangingPunct="1">
                  <a:spcBef>
                    <a:spcPts val="0"/>
                  </a:spcBef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The Group TEXT" panose="00000500000000000000" pitchFamily="2" charset="0"/>
                    <a:ea typeface="+mn-ea"/>
                    <a:cs typeface="The Group TEXT" panose="020B0604020202020204" pitchFamily="34" charset="0"/>
                  </a:rPr>
                  <a:t>Yellow</a:t>
                </a:r>
              </a:p>
              <a:p>
                <a:pPr marL="0" marR="0" lvl="0" indent="0" algn="ctr" defTabSz="914400" rtl="0" eaLnBrk="1" fontAlgn="auto" latinLnBrk="0" hangingPunct="1">
                  <a:spcBef>
                    <a:spcPts val="0"/>
                  </a:spcBef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The Group TEXT" panose="00000500000000000000" pitchFamily="2" charset="0"/>
                    <a:ea typeface="+mn-ea"/>
                    <a:cs typeface="+mn-cs"/>
                  </a:rPr>
                  <a:t>252 / 205 / 34</a:t>
                </a:r>
              </a:p>
            </p:txBody>
          </p:sp>
          <p:sp>
            <p:nvSpPr>
              <p:cNvPr id="30" name="Rounded Rectangle 63">
                <a:extLst>
                  <a:ext uri="{FF2B5EF4-FFF2-40B4-BE49-F238E27FC236}">
                    <a16:creationId xmlns:a16="http://schemas.microsoft.com/office/drawing/2014/main" id="{8DCDBB82-6883-EA41-65EF-208148E12F68}"/>
                  </a:ext>
                </a:extLst>
              </p:cNvPr>
              <p:cNvSpPr/>
              <p:nvPr/>
            </p:nvSpPr>
            <p:spPr bwMode="gray">
              <a:xfrm>
                <a:off x="12348798" y="912731"/>
                <a:ext cx="1546344" cy="484188"/>
              </a:xfrm>
              <a:prstGeom prst="rect">
                <a:avLst/>
              </a:prstGeom>
              <a:solidFill>
                <a:srgbClr val="FAAA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 anchorCtr="0"/>
              <a:lstStyle/>
              <a:p>
                <a:pPr marL="0" marR="0" lvl="0" indent="0" algn="ctr" defTabSz="914400" rtl="0" eaLnBrk="1" fontAlgn="auto" latinLnBrk="0" hangingPunct="1">
                  <a:spcBef>
                    <a:spcPts val="0"/>
                  </a:spcBef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The Group TEXT" panose="00000500000000000000" pitchFamily="2" charset="0"/>
                    <a:ea typeface="+mn-ea"/>
                    <a:cs typeface="The Group TEXT" panose="020B0604020202020204" pitchFamily="34" charset="0"/>
                  </a:rPr>
                  <a:t>Orange</a:t>
                </a:r>
              </a:p>
              <a:p>
                <a:pPr marL="0" marR="0" lvl="0" indent="0" algn="ctr" defTabSz="914400" rtl="0" eaLnBrk="1" fontAlgn="auto" latinLnBrk="0" hangingPunct="1">
                  <a:spcBef>
                    <a:spcPts val="0"/>
                  </a:spcBef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The Group TEXT" panose="00000500000000000000" pitchFamily="2" charset="0"/>
                    <a:ea typeface="+mn-ea"/>
                    <a:cs typeface="+mn-cs"/>
                  </a:rPr>
                  <a:t>250 / 170 / 60</a:t>
                </a:r>
                <a:endParaRPr kumimoji="0" lang="en-GB" sz="1200" b="0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The Group TEXT" panose="00000500000000000000" pitchFamily="2" charset="0"/>
                  <a:ea typeface="+mn-ea"/>
                  <a:cs typeface="The Group TEXT" panose="020B0604020202020204" pitchFamily="34" charset="0"/>
                </a:endParaRPr>
              </a:p>
            </p:txBody>
          </p:sp>
          <p:sp>
            <p:nvSpPr>
              <p:cNvPr id="31" name="Rounded Rectangle 63">
                <a:extLst>
                  <a:ext uri="{FF2B5EF4-FFF2-40B4-BE49-F238E27FC236}">
                    <a16:creationId xmlns:a16="http://schemas.microsoft.com/office/drawing/2014/main" id="{76D36750-001F-DC7E-ED8C-209CD85FBF27}"/>
                  </a:ext>
                </a:extLst>
              </p:cNvPr>
              <p:cNvSpPr/>
              <p:nvPr/>
            </p:nvSpPr>
            <p:spPr bwMode="gray">
              <a:xfrm>
                <a:off x="12348798" y="1458839"/>
                <a:ext cx="1546344" cy="484188"/>
              </a:xfrm>
              <a:prstGeom prst="rect">
                <a:avLst/>
              </a:prstGeom>
              <a:solidFill>
                <a:srgbClr val="FAD2A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 anchorCtr="0"/>
              <a:lstStyle/>
              <a:p>
                <a:pPr marL="0" marR="0" lvl="0" indent="0" algn="ctr" defTabSz="914400" rtl="0" eaLnBrk="1" fontAlgn="auto" latinLnBrk="0" hangingPunct="1">
                  <a:spcBef>
                    <a:spcPts val="0"/>
                  </a:spcBef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The Group TEXT" panose="00000500000000000000" pitchFamily="2" charset="0"/>
                    <a:ea typeface="+mn-ea"/>
                    <a:cs typeface="The Group TEXT" panose="020B0604020202020204" pitchFamily="34" charset="0"/>
                  </a:rPr>
                  <a:t>Beige</a:t>
                </a:r>
              </a:p>
              <a:p>
                <a:pPr algn="ctr">
                  <a:defRPr/>
                </a:pPr>
                <a:r>
                  <a:rPr lang="en-GB" sz="800">
                    <a:solidFill>
                      <a:schemeClr val="tx2"/>
                    </a:solidFill>
                    <a:latin typeface="The Group TEXT" panose="00000500000000000000" pitchFamily="2" charset="0"/>
                  </a:rPr>
                  <a:t>250 / 210 / 170</a:t>
                </a:r>
              </a:p>
            </p:txBody>
          </p:sp>
          <p:sp>
            <p:nvSpPr>
              <p:cNvPr id="32" name="Rounded Rectangle 63">
                <a:extLst>
                  <a:ext uri="{FF2B5EF4-FFF2-40B4-BE49-F238E27FC236}">
                    <a16:creationId xmlns:a16="http://schemas.microsoft.com/office/drawing/2014/main" id="{48D2C5DD-2AFB-45AE-CC8D-9FA831D5DBB4}"/>
                  </a:ext>
                </a:extLst>
              </p:cNvPr>
              <p:cNvSpPr/>
              <p:nvPr/>
            </p:nvSpPr>
            <p:spPr bwMode="gray">
              <a:xfrm>
                <a:off x="12348798" y="2004947"/>
                <a:ext cx="1546344" cy="484188"/>
              </a:xfrm>
              <a:prstGeom prst="rect">
                <a:avLst/>
              </a:prstGeom>
              <a:solidFill>
                <a:srgbClr val="8CBE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 anchorCtr="0"/>
              <a:lstStyle/>
              <a:p>
                <a:pPr marL="0" marR="0" lvl="0" indent="0" algn="ctr" defTabSz="914400" rtl="0" eaLnBrk="1" fontAlgn="auto" latinLnBrk="0" hangingPunct="1">
                  <a:spcBef>
                    <a:spcPts val="0"/>
                  </a:spcBef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The Group TEXT" panose="00000500000000000000" pitchFamily="2" charset="0"/>
                    <a:ea typeface="+mn-ea"/>
                    <a:cs typeface="The Group TEXT" panose="020B0604020202020204" pitchFamily="34" charset="0"/>
                  </a:rPr>
                  <a:t>Blue</a:t>
                </a:r>
              </a:p>
              <a:p>
                <a:pPr marL="0" marR="0" lvl="0" indent="0" algn="ctr" defTabSz="914400" rtl="0" eaLnBrk="1" fontAlgn="auto" latinLnBrk="0" hangingPunct="1">
                  <a:spcBef>
                    <a:spcPts val="0"/>
                  </a:spcBef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The Group TEXT" panose="00000500000000000000" pitchFamily="2" charset="0"/>
                    <a:ea typeface="+mn-ea"/>
                    <a:cs typeface="+mn-cs"/>
                  </a:rPr>
                  <a:t>140 / 190 / 230</a:t>
                </a:r>
              </a:p>
            </p:txBody>
          </p:sp>
          <p:sp>
            <p:nvSpPr>
              <p:cNvPr id="33" name="Rounded Rectangle 63">
                <a:extLst>
                  <a:ext uri="{FF2B5EF4-FFF2-40B4-BE49-F238E27FC236}">
                    <a16:creationId xmlns:a16="http://schemas.microsoft.com/office/drawing/2014/main" id="{06F6059A-956E-6AF2-B55E-A29FF420D80F}"/>
                  </a:ext>
                </a:extLst>
              </p:cNvPr>
              <p:cNvSpPr/>
              <p:nvPr/>
            </p:nvSpPr>
            <p:spPr bwMode="gray">
              <a:xfrm>
                <a:off x="12348798" y="2551055"/>
                <a:ext cx="1546344" cy="484188"/>
              </a:xfrm>
              <a:prstGeom prst="rect">
                <a:avLst/>
              </a:prstGeom>
              <a:solidFill>
                <a:srgbClr val="C882B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 anchorCtr="0"/>
              <a:lstStyle/>
              <a:p>
                <a:pPr marL="0" marR="0" lvl="0" indent="0" algn="ctr" defTabSz="914400" rtl="0" eaLnBrk="1" fontAlgn="auto" latinLnBrk="0" hangingPunct="1">
                  <a:spcBef>
                    <a:spcPts val="0"/>
                  </a:spcBef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The Group TEXT" panose="00000500000000000000" pitchFamily="2" charset="0"/>
                    <a:ea typeface="+mn-ea"/>
                    <a:cs typeface="The Group TEXT" panose="020B0604020202020204" pitchFamily="34" charset="0"/>
                  </a:rPr>
                  <a:t>Violet</a:t>
                </a:r>
              </a:p>
              <a:p>
                <a:pPr marL="0" marR="0" lvl="0" indent="0" algn="ctr" defTabSz="914400" rtl="0" eaLnBrk="1" fontAlgn="auto" latinLnBrk="0" hangingPunct="1">
                  <a:spcBef>
                    <a:spcPts val="0"/>
                  </a:spcBef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The Group TEXT" panose="00000500000000000000" pitchFamily="2" charset="0"/>
                    <a:ea typeface="+mn-ea"/>
                    <a:cs typeface="+mn-cs"/>
                  </a:rPr>
                  <a:t>200 / 130 / 190</a:t>
                </a:r>
              </a:p>
            </p:txBody>
          </p:sp>
          <p:sp>
            <p:nvSpPr>
              <p:cNvPr id="34" name="Rounded Rectangle 63">
                <a:extLst>
                  <a:ext uri="{FF2B5EF4-FFF2-40B4-BE49-F238E27FC236}">
                    <a16:creationId xmlns:a16="http://schemas.microsoft.com/office/drawing/2014/main" id="{79420749-D481-CA79-0FE7-72FC49BF2240}"/>
                  </a:ext>
                </a:extLst>
              </p:cNvPr>
              <p:cNvSpPr/>
              <p:nvPr/>
            </p:nvSpPr>
            <p:spPr bwMode="gray">
              <a:xfrm>
                <a:off x="12348798" y="3097163"/>
                <a:ext cx="1546344" cy="484188"/>
              </a:xfrm>
              <a:prstGeom prst="rect">
                <a:avLst/>
              </a:prstGeom>
              <a:solidFill>
                <a:srgbClr val="DCCD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 anchorCtr="0"/>
              <a:lstStyle/>
              <a:p>
                <a:pPr marL="0" marR="0" lvl="0" indent="0" algn="ctr" defTabSz="914400" rtl="0" eaLnBrk="1" fontAlgn="auto" latinLnBrk="0" hangingPunct="1">
                  <a:spcBef>
                    <a:spcPts val="0"/>
                  </a:spcBef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The Group TEXT" panose="00000500000000000000" pitchFamily="2" charset="0"/>
                    <a:ea typeface="+mn-ea"/>
                    <a:cs typeface="The Group TEXT" panose="020B0604020202020204" pitchFamily="34" charset="0"/>
                  </a:rPr>
                  <a:t>Lavender</a:t>
                </a:r>
              </a:p>
              <a:p>
                <a:pPr marL="0" marR="0" lvl="0" indent="0" algn="ctr" defTabSz="914400" rtl="0" eaLnBrk="1" fontAlgn="auto" latinLnBrk="0" hangingPunct="1">
                  <a:spcBef>
                    <a:spcPts val="0"/>
                  </a:spcBef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The Group TEXT" panose="00000500000000000000" pitchFamily="2" charset="0"/>
                    <a:ea typeface="+mn-ea"/>
                    <a:cs typeface="+mn-cs"/>
                  </a:rPr>
                  <a:t>220 / 205 / 240</a:t>
                </a:r>
              </a:p>
            </p:txBody>
          </p:sp>
          <p:sp>
            <p:nvSpPr>
              <p:cNvPr id="35" name="Rounded Rectangle 63">
                <a:extLst>
                  <a:ext uri="{FF2B5EF4-FFF2-40B4-BE49-F238E27FC236}">
                    <a16:creationId xmlns:a16="http://schemas.microsoft.com/office/drawing/2014/main" id="{CB581AA6-86D1-40F4-C222-4E6FEE5D4F34}"/>
                  </a:ext>
                </a:extLst>
              </p:cNvPr>
              <p:cNvSpPr/>
              <p:nvPr/>
            </p:nvSpPr>
            <p:spPr bwMode="gray">
              <a:xfrm>
                <a:off x="12350753" y="6373812"/>
                <a:ext cx="1542434" cy="484188"/>
              </a:xfrm>
              <a:prstGeom prst="rect">
                <a:avLst/>
              </a:prstGeom>
              <a:solidFill>
                <a:srgbClr val="64A84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 anchorCtr="0"/>
              <a:lstStyle/>
              <a:p>
                <a:pPr marL="0" marR="0" lvl="0" indent="0" algn="ctr" defTabSz="914400" rtl="0" eaLnBrk="1" fontAlgn="auto" latinLnBrk="0" hangingPunct="1">
                  <a:spcBef>
                    <a:spcPts val="0"/>
                  </a:spcBef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The Group TEXT" panose="00000500000000000000" pitchFamily="2" charset="0"/>
                    <a:ea typeface="+mn-ea"/>
                    <a:cs typeface="The Group TEXT" panose="020B0604020202020204" pitchFamily="34" charset="0"/>
                  </a:rPr>
                  <a:t>Green</a:t>
                </a:r>
              </a:p>
              <a:p>
                <a:pPr marL="0" marR="0" lvl="0" indent="0" algn="ctr" defTabSz="914400" rtl="0" eaLnBrk="1" fontAlgn="auto" latinLnBrk="0" hangingPunct="1">
                  <a:spcBef>
                    <a:spcPts val="0"/>
                  </a:spcBef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0" i="0" u="none" strike="noStrike" kern="120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The Group TEXT" panose="00000500000000000000" pitchFamily="2" charset="0"/>
                    <a:ea typeface="+mn-ea"/>
                    <a:cs typeface="+mn-cs"/>
                  </a:rPr>
                  <a:t>100 / 168 / 68</a:t>
                </a:r>
              </a:p>
            </p:txBody>
          </p:sp>
          <p:sp>
            <p:nvSpPr>
              <p:cNvPr id="36" name="Rounded Rectangle 63">
                <a:extLst>
                  <a:ext uri="{FF2B5EF4-FFF2-40B4-BE49-F238E27FC236}">
                    <a16:creationId xmlns:a16="http://schemas.microsoft.com/office/drawing/2014/main" id="{EEC032FD-0E24-41E3-2492-79FE342A8939}"/>
                  </a:ext>
                </a:extLst>
              </p:cNvPr>
              <p:cNvSpPr/>
              <p:nvPr/>
            </p:nvSpPr>
            <p:spPr bwMode="gray">
              <a:xfrm>
                <a:off x="12348798" y="3643271"/>
                <a:ext cx="1546344" cy="484188"/>
              </a:xfrm>
              <a:prstGeom prst="rect">
                <a:avLst/>
              </a:prstGeom>
              <a:solidFill>
                <a:srgbClr val="C2FE0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 anchorCtr="0"/>
              <a:lstStyle/>
              <a:p>
                <a:pPr marL="0" marR="0" lvl="0" indent="0" algn="ctr" defTabSz="914400" rtl="0" eaLnBrk="1" fontAlgn="auto" latinLnBrk="0" hangingPunct="1">
                  <a:spcBef>
                    <a:spcPts val="0"/>
                  </a:spcBef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The Group TEXT" panose="00000500000000000000" pitchFamily="2" charset="0"/>
                    <a:ea typeface="+mn-ea"/>
                    <a:cs typeface="The Group TEXT" panose="020B0604020202020204" pitchFamily="34" charset="0"/>
                  </a:rPr>
                  <a:t>Electric Neon</a:t>
                </a:r>
              </a:p>
              <a:p>
                <a:pPr marL="0" marR="0" lvl="0" indent="0" algn="ctr" defTabSz="914400" rtl="0" eaLnBrk="1" fontAlgn="auto" latinLnBrk="0" hangingPunct="1">
                  <a:spcBef>
                    <a:spcPts val="0"/>
                  </a:spcBef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The Group TEXT" panose="00000500000000000000" pitchFamily="2" charset="0"/>
                    <a:ea typeface="+mn-ea"/>
                    <a:cs typeface="+mn-cs"/>
                  </a:rPr>
                  <a:t>194 / 254 / 6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56599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buFontTx/>
        <a:buNone/>
        <a:defRPr sz="1400" b="1" kern="1200">
          <a:solidFill>
            <a:schemeClr val="tx2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1000"/>
        </a:spcBef>
        <a:buFontTx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0000"/>
        </a:lnSpc>
        <a:spcBef>
          <a:spcPts val="600"/>
        </a:spcBef>
        <a:buFont typeface="The Group TEXT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432000" indent="-252000" algn="l" defTabSz="914400" rtl="0" eaLnBrk="1" latinLnBrk="0" hangingPunct="1">
        <a:lnSpc>
          <a:spcPct val="100000"/>
        </a:lnSpc>
        <a:spcBef>
          <a:spcPts val="600"/>
        </a:spcBef>
        <a:buFont typeface="Symbol" panose="05050102010706020507" pitchFamily="18" charset="2"/>
        <a:buChar char="-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80000" indent="0" algn="l" defTabSz="914400" rtl="0" eaLnBrk="1" latinLnBrk="0" hangingPunct="1">
        <a:lnSpc>
          <a:spcPct val="100000"/>
        </a:lnSpc>
        <a:spcBef>
          <a:spcPts val="600"/>
        </a:spcBef>
        <a:buFont typeface="Symbol" panose="05050102010706020507" pitchFamily="18" charset="2"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432000" indent="-252000" algn="l" defTabSz="914400" rtl="0" eaLnBrk="1" latinLnBrk="0" hangingPunct="1">
        <a:lnSpc>
          <a:spcPct val="100000"/>
        </a:lnSpc>
        <a:spcBef>
          <a:spcPts val="6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432000" indent="-252000" algn="l" defTabSz="914400" rtl="0" eaLnBrk="1" latinLnBrk="0" hangingPunct="1">
        <a:lnSpc>
          <a:spcPct val="100000"/>
        </a:lnSpc>
        <a:spcBef>
          <a:spcPts val="6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432000" indent="-252000" algn="l" defTabSz="914400" rtl="0" eaLnBrk="1" latinLnBrk="0" hangingPunct="1">
        <a:lnSpc>
          <a:spcPct val="100000"/>
        </a:lnSpc>
        <a:spcBef>
          <a:spcPts val="6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432000" indent="-252000" algn="l" defTabSz="914400" rtl="0" eaLnBrk="1" latinLnBrk="0" hangingPunct="1">
        <a:lnSpc>
          <a:spcPct val="100000"/>
        </a:lnSpc>
        <a:spcBef>
          <a:spcPts val="6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9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3.xml"/><Relationship Id="rId4" Type="http://schemas.openxmlformats.org/officeDocument/2006/relationships/image" Target="../media/image10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4.xml"/><Relationship Id="rId5" Type="http://schemas.openxmlformats.org/officeDocument/2006/relationships/image" Target="../media/image12.png"/><Relationship Id="rId4" Type="http://schemas.openxmlformats.org/officeDocument/2006/relationships/image" Target="../media/image11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5.xml"/><Relationship Id="rId4" Type="http://schemas.openxmlformats.org/officeDocument/2006/relationships/image" Target="../media/image11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7" Type="http://schemas.openxmlformats.org/officeDocument/2006/relationships/hyperlink" Target="https://thecloud.vote/survey-sessions/73657373696f6e2e3634393832.8e9120499219169aeeeb42fc9d937ada9c21e0268836ed4208b73a86ba5a17ff" TargetMode="Externa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6.xml"/><Relationship Id="rId6" Type="http://schemas.openxmlformats.org/officeDocument/2006/relationships/hyperlink" Target="https://www.youtube.com/watch?v=3LUQhPU0wqk&amp;list=RD3LUQhPU0wqk&amp;start_radio=1" TargetMode="External"/><Relationship Id="rId5" Type="http://schemas.openxmlformats.org/officeDocument/2006/relationships/image" Target="../media/image13.png"/><Relationship Id="rId4" Type="http://schemas.openxmlformats.org/officeDocument/2006/relationships/image" Target="../media/image11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7.xml"/><Relationship Id="rId5" Type="http://schemas.openxmlformats.org/officeDocument/2006/relationships/image" Target="../media/image14.jpeg"/><Relationship Id="rId4" Type="http://schemas.openxmlformats.org/officeDocument/2006/relationships/image" Target="../media/image11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8.xml"/><Relationship Id="rId4" Type="http://schemas.openxmlformats.org/officeDocument/2006/relationships/image" Target="../media/image10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16.xml"/><Relationship Id="rId13" Type="http://schemas.openxmlformats.org/officeDocument/2006/relationships/hyperlink" Target="https://devstack.vwgroup.com/jira/secure/PortfolioReportView.jspa?r=76fWg" TargetMode="External"/><Relationship Id="rId18" Type="http://schemas.openxmlformats.org/officeDocument/2006/relationships/image" Target="../media/image19.svg"/><Relationship Id="rId3" Type="http://schemas.openxmlformats.org/officeDocument/2006/relationships/tags" Target="../tags/tag11.xml"/><Relationship Id="rId7" Type="http://schemas.openxmlformats.org/officeDocument/2006/relationships/tags" Target="../tags/tag15.xml"/><Relationship Id="rId12" Type="http://schemas.openxmlformats.org/officeDocument/2006/relationships/image" Target="../media/image11.emf"/><Relationship Id="rId17" Type="http://schemas.openxmlformats.org/officeDocument/2006/relationships/image" Target="../media/image18.svg"/><Relationship Id="rId2" Type="http://schemas.openxmlformats.org/officeDocument/2006/relationships/tags" Target="../tags/tag10.xml"/><Relationship Id="rId16" Type="http://schemas.openxmlformats.org/officeDocument/2006/relationships/image" Target="../media/image17.svg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11" Type="http://schemas.openxmlformats.org/officeDocument/2006/relationships/oleObject" Target="../embeddings/oleObject4.bin"/><Relationship Id="rId5" Type="http://schemas.openxmlformats.org/officeDocument/2006/relationships/tags" Target="../tags/tag13.xml"/><Relationship Id="rId15" Type="http://schemas.openxmlformats.org/officeDocument/2006/relationships/image" Target="../media/image16.svg"/><Relationship Id="rId10" Type="http://schemas.openxmlformats.org/officeDocument/2006/relationships/slideLayout" Target="../slideLayouts/slideLayout5.xml"/><Relationship Id="rId19" Type="http://schemas.openxmlformats.org/officeDocument/2006/relationships/image" Target="../media/image20.svg"/><Relationship Id="rId4" Type="http://schemas.openxmlformats.org/officeDocument/2006/relationships/tags" Target="../tags/tag12.xml"/><Relationship Id="rId9" Type="http://schemas.openxmlformats.org/officeDocument/2006/relationships/tags" Target="../tags/tag17.xml"/><Relationship Id="rId14" Type="http://schemas.openxmlformats.org/officeDocument/2006/relationships/image" Target="../media/image15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slideLayout" Target="../slideLayouts/slideLayout5.xml"/><Relationship Id="rId18" Type="http://schemas.openxmlformats.org/officeDocument/2006/relationships/image" Target="../media/image17.svg"/><Relationship Id="rId3" Type="http://schemas.openxmlformats.org/officeDocument/2006/relationships/tags" Target="../tags/tag20.xml"/><Relationship Id="rId21" Type="http://schemas.openxmlformats.org/officeDocument/2006/relationships/image" Target="../media/image20.svg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17" Type="http://schemas.openxmlformats.org/officeDocument/2006/relationships/image" Target="../media/image16.svg"/><Relationship Id="rId2" Type="http://schemas.openxmlformats.org/officeDocument/2006/relationships/tags" Target="../tags/tag19.xml"/><Relationship Id="rId16" Type="http://schemas.openxmlformats.org/officeDocument/2006/relationships/image" Target="../media/image15.svg"/><Relationship Id="rId20" Type="http://schemas.openxmlformats.org/officeDocument/2006/relationships/image" Target="../media/image19.svg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5" Type="http://schemas.openxmlformats.org/officeDocument/2006/relationships/image" Target="../media/image21.emf"/><Relationship Id="rId23" Type="http://schemas.openxmlformats.org/officeDocument/2006/relationships/image" Target="../media/image23.svg"/><Relationship Id="rId10" Type="http://schemas.openxmlformats.org/officeDocument/2006/relationships/tags" Target="../tags/tag27.xml"/><Relationship Id="rId19" Type="http://schemas.openxmlformats.org/officeDocument/2006/relationships/image" Target="../media/image18.svg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oleObject" Target="../embeddings/oleObject6.bin"/><Relationship Id="rId22" Type="http://schemas.openxmlformats.org/officeDocument/2006/relationships/image" Target="../media/image22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27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0.xml"/><Relationship Id="rId6" Type="http://schemas.openxmlformats.org/officeDocument/2006/relationships/image" Target="../media/image26.png"/><Relationship Id="rId5" Type="http://schemas.openxmlformats.org/officeDocument/2006/relationships/image" Target="../media/image10.emf"/><Relationship Id="rId4" Type="http://schemas.openxmlformats.org/officeDocument/2006/relationships/oleObject" Target="../embeddings/oleObject7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31.xml"/><Relationship Id="rId6" Type="http://schemas.openxmlformats.org/officeDocument/2006/relationships/image" Target="../media/image28.png"/><Relationship Id="rId5" Type="http://schemas.openxmlformats.org/officeDocument/2006/relationships/image" Target="../media/image10.emf"/><Relationship Id="rId4" Type="http://schemas.openxmlformats.org/officeDocument/2006/relationships/oleObject" Target="../embeddings/oleObject8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32.xml"/><Relationship Id="rId6" Type="http://schemas.openxmlformats.org/officeDocument/2006/relationships/image" Target="../media/image28.png"/><Relationship Id="rId5" Type="http://schemas.openxmlformats.org/officeDocument/2006/relationships/image" Target="../media/image10.emf"/><Relationship Id="rId4" Type="http://schemas.openxmlformats.org/officeDocument/2006/relationships/oleObject" Target="../embeddings/oleObject8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33.xml"/><Relationship Id="rId5" Type="http://schemas.openxmlformats.org/officeDocument/2006/relationships/image" Target="../media/image21.emf"/><Relationship Id="rId4" Type="http://schemas.openxmlformats.org/officeDocument/2006/relationships/oleObject" Target="../embeddings/oleObject9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41.xml"/><Relationship Id="rId13" Type="http://schemas.openxmlformats.org/officeDocument/2006/relationships/image" Target="../media/image10.emf"/><Relationship Id="rId18" Type="http://schemas.openxmlformats.org/officeDocument/2006/relationships/image" Target="../media/image19.svg"/><Relationship Id="rId3" Type="http://schemas.openxmlformats.org/officeDocument/2006/relationships/tags" Target="../tags/tag36.xml"/><Relationship Id="rId7" Type="http://schemas.openxmlformats.org/officeDocument/2006/relationships/tags" Target="../tags/tag40.xml"/><Relationship Id="rId12" Type="http://schemas.openxmlformats.org/officeDocument/2006/relationships/oleObject" Target="../embeddings/oleObject10.bin"/><Relationship Id="rId17" Type="http://schemas.openxmlformats.org/officeDocument/2006/relationships/image" Target="../media/image18.svg"/><Relationship Id="rId2" Type="http://schemas.openxmlformats.org/officeDocument/2006/relationships/tags" Target="../tags/tag35.xml"/><Relationship Id="rId16" Type="http://schemas.openxmlformats.org/officeDocument/2006/relationships/image" Target="../media/image17.svg"/><Relationship Id="rId1" Type="http://schemas.openxmlformats.org/officeDocument/2006/relationships/tags" Target="../tags/tag34.xml"/><Relationship Id="rId6" Type="http://schemas.openxmlformats.org/officeDocument/2006/relationships/tags" Target="../tags/tag39.xml"/><Relationship Id="rId11" Type="http://schemas.openxmlformats.org/officeDocument/2006/relationships/notesSlide" Target="../notesSlides/notesSlide7.xml"/><Relationship Id="rId5" Type="http://schemas.openxmlformats.org/officeDocument/2006/relationships/tags" Target="../tags/tag38.xml"/><Relationship Id="rId15" Type="http://schemas.openxmlformats.org/officeDocument/2006/relationships/image" Target="../media/image20.svg"/><Relationship Id="rId10" Type="http://schemas.openxmlformats.org/officeDocument/2006/relationships/slideLayout" Target="../slideLayouts/slideLayout5.xml"/><Relationship Id="rId4" Type="http://schemas.openxmlformats.org/officeDocument/2006/relationships/tags" Target="../tags/tag37.xml"/><Relationship Id="rId9" Type="http://schemas.openxmlformats.org/officeDocument/2006/relationships/tags" Target="../tags/tag42.xml"/><Relationship Id="rId14" Type="http://schemas.openxmlformats.org/officeDocument/2006/relationships/image" Target="../media/image29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50.xml"/><Relationship Id="rId13" Type="http://schemas.openxmlformats.org/officeDocument/2006/relationships/image" Target="../media/image10.emf"/><Relationship Id="rId18" Type="http://schemas.openxmlformats.org/officeDocument/2006/relationships/image" Target="../media/image19.svg"/><Relationship Id="rId3" Type="http://schemas.openxmlformats.org/officeDocument/2006/relationships/tags" Target="../tags/tag45.xml"/><Relationship Id="rId7" Type="http://schemas.openxmlformats.org/officeDocument/2006/relationships/tags" Target="../tags/tag49.xml"/><Relationship Id="rId12" Type="http://schemas.openxmlformats.org/officeDocument/2006/relationships/oleObject" Target="../embeddings/oleObject10.bin"/><Relationship Id="rId17" Type="http://schemas.openxmlformats.org/officeDocument/2006/relationships/image" Target="../media/image18.svg"/><Relationship Id="rId2" Type="http://schemas.openxmlformats.org/officeDocument/2006/relationships/tags" Target="../tags/tag44.xml"/><Relationship Id="rId16" Type="http://schemas.openxmlformats.org/officeDocument/2006/relationships/image" Target="../media/image17.svg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11" Type="http://schemas.openxmlformats.org/officeDocument/2006/relationships/notesSlide" Target="../notesSlides/notesSlide8.xml"/><Relationship Id="rId5" Type="http://schemas.openxmlformats.org/officeDocument/2006/relationships/tags" Target="../tags/tag47.xml"/><Relationship Id="rId15" Type="http://schemas.openxmlformats.org/officeDocument/2006/relationships/image" Target="../media/image20.svg"/><Relationship Id="rId10" Type="http://schemas.openxmlformats.org/officeDocument/2006/relationships/slideLayout" Target="../slideLayouts/slideLayout5.xml"/><Relationship Id="rId4" Type="http://schemas.openxmlformats.org/officeDocument/2006/relationships/tags" Target="../tags/tag46.xml"/><Relationship Id="rId9" Type="http://schemas.openxmlformats.org/officeDocument/2006/relationships/tags" Target="../tags/tag51.xml"/><Relationship Id="rId14" Type="http://schemas.openxmlformats.org/officeDocument/2006/relationships/image" Target="../media/image29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52.xml"/><Relationship Id="rId4" Type="http://schemas.openxmlformats.org/officeDocument/2006/relationships/image" Target="../media/image10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53.xml"/><Relationship Id="rId4" Type="http://schemas.openxmlformats.org/officeDocument/2006/relationships/image" Target="../media/image10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54.xml"/><Relationship Id="rId4" Type="http://schemas.openxmlformats.org/officeDocument/2006/relationships/image" Target="../media/image10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55.xml"/><Relationship Id="rId4" Type="http://schemas.openxmlformats.org/officeDocument/2006/relationships/image" Target="../media/image10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56.xml"/><Relationship Id="rId4" Type="http://schemas.openxmlformats.org/officeDocument/2006/relationships/image" Target="../media/image10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57.xml"/><Relationship Id="rId4" Type="http://schemas.openxmlformats.org/officeDocument/2006/relationships/image" Target="../media/image10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58.xml"/><Relationship Id="rId6" Type="http://schemas.openxmlformats.org/officeDocument/2006/relationships/image" Target="../media/image30.png"/><Relationship Id="rId5" Type="http://schemas.openxmlformats.org/officeDocument/2006/relationships/image" Target="../media/image9.emf"/><Relationship Id="rId4" Type="http://schemas.openxmlformats.org/officeDocument/2006/relationships/oleObject" Target="../embeddings/oleObject12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59.xml"/><Relationship Id="rId6" Type="http://schemas.openxmlformats.org/officeDocument/2006/relationships/image" Target="../media/image30.png"/><Relationship Id="rId5" Type="http://schemas.openxmlformats.org/officeDocument/2006/relationships/image" Target="../media/image10.emf"/><Relationship Id="rId4" Type="http://schemas.openxmlformats.org/officeDocument/2006/relationships/oleObject" Target="../embeddings/oleObject13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60.xml"/><Relationship Id="rId5" Type="http://schemas.openxmlformats.org/officeDocument/2006/relationships/image" Target="../media/image30.png"/><Relationship Id="rId4" Type="http://schemas.openxmlformats.org/officeDocument/2006/relationships/image" Target="../media/image10.e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tags" Target="../tags/tag63.xml"/><Relationship Id="rId7" Type="http://schemas.openxmlformats.org/officeDocument/2006/relationships/image" Target="../media/image10.emf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6" Type="http://schemas.openxmlformats.org/officeDocument/2006/relationships/oleObject" Target="../embeddings/oleObject10.bin"/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20.sv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tags" Target="../tags/tag66.xml"/><Relationship Id="rId7" Type="http://schemas.openxmlformats.org/officeDocument/2006/relationships/image" Target="../media/image10.emf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oleObject" Target="../embeddings/oleObject10.bin"/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20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6" Type="http://schemas.openxmlformats.org/officeDocument/2006/relationships/image" Target="../media/image31.svg"/><Relationship Id="rId5" Type="http://schemas.openxmlformats.org/officeDocument/2006/relationships/image" Target="../media/image10.emf"/><Relationship Id="rId4" Type="http://schemas.openxmlformats.org/officeDocument/2006/relationships/oleObject" Target="../embeddings/oleObject15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69.xml"/><Relationship Id="rId4" Type="http://schemas.openxmlformats.org/officeDocument/2006/relationships/image" Target="../media/image10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70.xml"/><Relationship Id="rId4" Type="http://schemas.openxmlformats.org/officeDocument/2006/relationships/image" Target="../media/image10.e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tags" Target="../tags/tag73.xml"/><Relationship Id="rId7" Type="http://schemas.openxmlformats.org/officeDocument/2006/relationships/image" Target="../media/image10.emf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6" Type="http://schemas.openxmlformats.org/officeDocument/2006/relationships/oleObject" Target="../embeddings/oleObject17.bin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74.xml"/><Relationship Id="rId9" Type="http://schemas.openxmlformats.org/officeDocument/2006/relationships/image" Target="../media/image33.sv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tags" Target="../tags/tag77.xml"/><Relationship Id="rId7" Type="http://schemas.openxmlformats.org/officeDocument/2006/relationships/image" Target="../media/image10.emf"/><Relationship Id="rId12" Type="http://schemas.openxmlformats.org/officeDocument/2006/relationships/image" Target="../media/image35.png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6" Type="http://schemas.openxmlformats.org/officeDocument/2006/relationships/oleObject" Target="../embeddings/oleObject18.bin"/><Relationship Id="rId11" Type="http://schemas.openxmlformats.org/officeDocument/2006/relationships/image" Target="../media/image34.png"/><Relationship Id="rId5" Type="http://schemas.openxmlformats.org/officeDocument/2006/relationships/slideLayout" Target="../slideLayouts/slideLayout5.xml"/><Relationship Id="rId10" Type="http://schemas.openxmlformats.org/officeDocument/2006/relationships/hyperlink" Target="https://www.figma.com/board/GSSPGAwqJdsf6MoMj1Ga9o/Planning-26.4?node-id=24-423&amp;t=Lpt4rHa0tGHdgvNM-1" TargetMode="External"/><Relationship Id="rId4" Type="http://schemas.openxmlformats.org/officeDocument/2006/relationships/tags" Target="../tags/tag78.xml"/><Relationship Id="rId9" Type="http://schemas.openxmlformats.org/officeDocument/2006/relationships/image" Target="../media/image33.sv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6" Type="http://schemas.openxmlformats.org/officeDocument/2006/relationships/image" Target="../media/image31.svg"/><Relationship Id="rId5" Type="http://schemas.openxmlformats.org/officeDocument/2006/relationships/image" Target="../media/image10.emf"/><Relationship Id="rId4" Type="http://schemas.openxmlformats.org/officeDocument/2006/relationships/oleObject" Target="../embeddings/oleObject15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oleObject" Target="../embeddings/oleObject18.bin"/><Relationship Id="rId7" Type="http://schemas.openxmlformats.org/officeDocument/2006/relationships/image" Target="../media/image38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8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10" Type="http://schemas.openxmlformats.org/officeDocument/2006/relationships/hyperlink" Target="https://thecloud.vote/survey-sessions/73657373696f6e2e3634393432.06efa7f9327f5387b32aec122c0dc7976f24013cd04a36bee5e96bc94e6d0ccf" TargetMode="External"/><Relationship Id="rId4" Type="http://schemas.openxmlformats.org/officeDocument/2006/relationships/image" Target="../media/image10.emf"/><Relationship Id="rId9" Type="http://schemas.openxmlformats.org/officeDocument/2006/relationships/hyperlink" Target="https://www.figma.com/board/In5zwn1p9Uh8PQhNSUKKNJ/Retrospectives?node-id=0-1&amp;t=Naj7FVIk4IZUD6qL-1" TargetMode="Externa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82.xml"/><Relationship Id="rId4" Type="http://schemas.openxmlformats.org/officeDocument/2006/relationships/image" Target="../media/image10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9D5A0B4E-2ACA-1925-4B4B-B186974AED3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D5A0B4E-2ACA-1925-4B4B-B186974AED3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D273E9FE-8D15-1B4A-35CC-AEDAA8F95D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036" y="3719667"/>
            <a:ext cx="10902648" cy="1218795"/>
          </a:xfrm>
        </p:spPr>
        <p:txBody>
          <a:bodyPr vert="horz"/>
          <a:lstStyle/>
          <a:p>
            <a:r>
              <a:rPr lang="de-DE" b="1"/>
              <a:t>ReCall 2 </a:t>
            </a:r>
            <a:r>
              <a:rPr lang="en-US" b="1"/>
              <a:t>| Quarterly Planning Q4 / 2026</a:t>
            </a:r>
            <a:br>
              <a:rPr lang="de-DE"/>
            </a:b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E98C77-9D97-E37B-E46E-F4D00E5687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036" y="5074410"/>
            <a:ext cx="7584964" cy="215444"/>
          </a:xfrm>
        </p:spPr>
        <p:txBody>
          <a:bodyPr/>
          <a:lstStyle/>
          <a:p>
            <a:r>
              <a:rPr lang="en-US"/>
              <a:t>15</a:t>
            </a:r>
            <a:r>
              <a:rPr lang="en-US" baseline="30000"/>
              <a:t>th</a:t>
            </a:r>
            <a:r>
              <a:rPr lang="en-US"/>
              <a:t> and 16</a:t>
            </a:r>
            <a:r>
              <a:rPr lang="en-US" baseline="30000"/>
              <a:t>th</a:t>
            </a:r>
            <a:r>
              <a:rPr lang="en-US"/>
              <a:t> September 2026  Barcelona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31F692-7B6E-EF3F-5A94-90C3C04C92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07036" y="5356924"/>
            <a:ext cx="7589520" cy="184666"/>
          </a:xfrm>
        </p:spPr>
        <p:txBody>
          <a:bodyPr/>
          <a:lstStyle/>
          <a:p>
            <a:r>
              <a:rPr lang="de-DE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91987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0C1F3D43-B997-A540-1296-D3A4D777D82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400834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C1F3D43-B997-A540-1296-D3A4D777D82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2671D27-941B-6462-B09E-E2D2A57F2B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D419278-5240-094E-A207-D577202CC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>
            <a:spAutoFit/>
          </a:bodyPr>
          <a:lstStyle/>
          <a:p>
            <a:r>
              <a:rPr lang="en-US"/>
              <a:t>ReCall 2 | Agenda Quarterly Planning</a:t>
            </a:r>
          </a:p>
        </p:txBody>
      </p:sp>
      <p:sp>
        <p:nvSpPr>
          <p:cNvPr id="102" name="D0Hdr"/>
          <p:cNvSpPr/>
          <p:nvPr/>
        </p:nvSpPr>
        <p:spPr>
          <a:xfrm>
            <a:off x="685800" y="1520000"/>
            <a:ext cx="5060000" cy="700000"/>
          </a:xfrm>
          <a:prstGeom prst="roundRect">
            <a:avLst>
              <a:gd name="adj" fmla="val 6000"/>
            </a:avLst>
          </a:prstGeom>
          <a:solidFill>
            <a:srgbClr val="008C8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D0HdrTxt"/>
          <p:cNvSpPr txBox="1"/>
          <p:nvPr/>
        </p:nvSpPr>
        <p:spPr>
          <a:xfrm>
            <a:off x="945800" y="1650000"/>
            <a:ext cx="4540000" cy="4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1" spc="300">
                <a:solidFill>
                  <a:srgbClr val="99D1CD"/>
                </a:solidFill>
                <a:latin typeface="The Group HEAD Light"/>
              </a:rPr>
              <a:t>DAY 1   </a:t>
            </a:r>
            <a:r>
              <a:rPr lang="en-US" sz="1600" b="1">
                <a:solidFill>
                  <a:srgbClr val="FFFFFF"/>
                </a:solidFill>
                <a:latin typeface="The Group HEAD Light"/>
              </a:rPr>
              <a:t>Tuesday 15.09.2026</a:t>
            </a:r>
          </a:p>
          <a:p>
            <a:pPr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000" b="0">
                <a:solidFill>
                  <a:srgbClr val="99D1CD"/>
                </a:solidFill>
                <a:latin typeface="The Group TEXT"/>
              </a:rPr>
              <a:t>09:00 – </a:t>
            </a:r>
            <a:r>
              <a:rPr lang="en-US" sz="1000">
                <a:solidFill>
                  <a:srgbClr val="99D1CD"/>
                </a:solidFill>
                <a:latin typeface="The Group TEXT"/>
              </a:rPr>
              <a:t>18:</a:t>
            </a:r>
            <a:r>
              <a:rPr lang="en-US" sz="1000" b="0">
                <a:solidFill>
                  <a:srgbClr val="99D1CD"/>
                </a:solidFill>
                <a:latin typeface="The Group TEXT"/>
              </a:rPr>
              <a:t>00</a:t>
            </a:r>
          </a:p>
        </p:txBody>
      </p:sp>
      <p:sp>
        <p:nvSpPr>
          <p:cNvPr id="104" name="D0B0Card"/>
          <p:cNvSpPr/>
          <p:nvPr/>
        </p:nvSpPr>
        <p:spPr>
          <a:xfrm>
            <a:off x="685800" y="2303188"/>
            <a:ext cx="5060000" cy="2300000"/>
          </a:xfrm>
          <a:prstGeom prst="roundRect">
            <a:avLst>
              <a:gd name="adj" fmla="val 6000"/>
            </a:avLst>
          </a:prstGeom>
          <a:solidFill>
            <a:srgbClr val="0A3A4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5" name="D0B0Bar"/>
          <p:cNvSpPr/>
          <p:nvPr/>
        </p:nvSpPr>
        <p:spPr>
          <a:xfrm>
            <a:off x="685800" y="2393188"/>
            <a:ext cx="55000" cy="2120000"/>
          </a:xfrm>
          <a:prstGeom prst="rect">
            <a:avLst/>
          </a:prstGeom>
          <a:solidFill>
            <a:srgbClr val="008C8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6" name="D0B0Txt"/>
          <p:cNvSpPr txBox="1"/>
          <p:nvPr/>
        </p:nvSpPr>
        <p:spPr>
          <a:xfrm>
            <a:off x="985800" y="2493188"/>
            <a:ext cx="4500000" cy="19200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1" spc="250">
                <a:solidFill>
                  <a:srgbClr val="99D1CD"/>
                </a:solidFill>
                <a:latin typeface="The Group HEAD Light"/>
              </a:rPr>
              <a:t>MORNING</a:t>
            </a:r>
          </a:p>
          <a:p>
            <a:pPr>
              <a:lnSpc>
                <a:spcPct val="100000"/>
              </a:lnSpc>
              <a:spcBef>
                <a:spcPts val="650"/>
              </a:spcBef>
              <a:buNone/>
            </a:pPr>
            <a:r>
              <a:rPr lang="en-US" sz="1250" b="1">
                <a:solidFill>
                  <a:srgbClr val="FFFFFF"/>
                </a:solidFill>
                <a:latin typeface="The Group TEXT"/>
              </a:rPr>
              <a:t>Welcome</a:t>
            </a:r>
          </a:p>
          <a:p>
            <a:pPr>
              <a:lnSpc>
                <a:spcPct val="100000"/>
              </a:lnSpc>
              <a:spcBef>
                <a:spcPts val="650"/>
              </a:spcBef>
              <a:buNone/>
            </a:pPr>
            <a:r>
              <a:rPr lang="en-US" sz="1250" b="1">
                <a:solidFill>
                  <a:srgbClr val="FFFFFF"/>
                </a:solidFill>
                <a:latin typeface="The Group TEXT"/>
              </a:rPr>
              <a:t>Get to know &amp; Ice Breakers</a:t>
            </a:r>
          </a:p>
          <a:p>
            <a:pPr>
              <a:lnSpc>
                <a:spcPct val="100000"/>
              </a:lnSpc>
              <a:spcBef>
                <a:spcPts val="650"/>
              </a:spcBef>
              <a:buNone/>
            </a:pPr>
            <a:r>
              <a:rPr lang="en-US" sz="1250" b="1">
                <a:solidFill>
                  <a:srgbClr val="FFFFFF"/>
                </a:solidFill>
                <a:latin typeface="The Group TEXT"/>
              </a:rPr>
              <a:t>Vision 2027 Update</a:t>
            </a:r>
          </a:p>
          <a:p>
            <a:pPr marL="200000" indent="-200000">
              <a:lnSpc>
                <a:spcPct val="100000"/>
              </a:lnSpc>
              <a:spcBef>
                <a:spcPts val="380"/>
              </a:spcBef>
              <a:buFont typeface="Arial"/>
              <a:buChar char="•"/>
            </a:pPr>
            <a:r>
              <a:rPr lang="en-US" sz="1150" b="0">
                <a:solidFill>
                  <a:srgbClr val="DFE7E9"/>
                </a:solidFill>
                <a:latin typeface="The Group TEXT"/>
              </a:rPr>
              <a:t>Product vision · Architectural vision</a:t>
            </a:r>
          </a:p>
          <a:p>
            <a:pPr marL="200000" indent="-200000">
              <a:lnSpc>
                <a:spcPct val="100000"/>
              </a:lnSpc>
              <a:spcBef>
                <a:spcPts val="380"/>
              </a:spcBef>
              <a:buFont typeface="Arial"/>
              <a:buChar char="•"/>
            </a:pPr>
            <a:r>
              <a:rPr lang="en-US" sz="1150" b="0">
                <a:solidFill>
                  <a:srgbClr val="DFE7E9"/>
                </a:solidFill>
                <a:latin typeface="The Group TEXT"/>
              </a:rPr>
              <a:t>External milestones · Focus topics</a:t>
            </a:r>
          </a:p>
          <a:p>
            <a:pPr marL="200000" indent="-200000">
              <a:lnSpc>
                <a:spcPct val="100000"/>
              </a:lnSpc>
              <a:spcBef>
                <a:spcPts val="380"/>
              </a:spcBef>
              <a:buFont typeface="Arial"/>
              <a:buChar char="•"/>
            </a:pPr>
            <a:r>
              <a:rPr lang="en-US" sz="1150" b="0">
                <a:solidFill>
                  <a:srgbClr val="DFE7E9"/>
                </a:solidFill>
                <a:latin typeface="The Group TEXT"/>
              </a:rPr>
              <a:t>Architecture: GVF · Cognos · ORU/RVT</a:t>
            </a:r>
          </a:p>
          <a:p>
            <a:pPr marL="200000" indent="-200000">
              <a:lnSpc>
                <a:spcPct val="100000"/>
              </a:lnSpc>
              <a:spcBef>
                <a:spcPts val="380"/>
              </a:spcBef>
              <a:buFont typeface="Arial"/>
              <a:buChar char="•"/>
            </a:pPr>
            <a:r>
              <a:rPr lang="en-US" sz="1150" b="0">
                <a:solidFill>
                  <a:srgbClr val="DFE7E9"/>
                </a:solidFill>
                <a:latin typeface="The Group TEXT"/>
              </a:rPr>
              <a:t>SDV Background</a:t>
            </a:r>
          </a:p>
          <a:p>
            <a:pPr>
              <a:lnSpc>
                <a:spcPct val="100000"/>
              </a:lnSpc>
              <a:spcBef>
                <a:spcPts val="650"/>
              </a:spcBef>
              <a:buNone/>
            </a:pPr>
            <a:r>
              <a:rPr lang="en-US" sz="1250" b="1">
                <a:solidFill>
                  <a:srgbClr val="FFFFFF"/>
                </a:solidFill>
                <a:latin typeface="The Group TEXT"/>
              </a:rPr>
              <a:t>Review &amp; Live Demo Q3</a:t>
            </a:r>
          </a:p>
        </p:txBody>
      </p:sp>
      <p:sp>
        <p:nvSpPr>
          <p:cNvPr id="107" name="D0B1Card"/>
          <p:cNvSpPr/>
          <p:nvPr/>
        </p:nvSpPr>
        <p:spPr>
          <a:xfrm>
            <a:off x="685800" y="5023188"/>
            <a:ext cx="5060000" cy="1000000"/>
          </a:xfrm>
          <a:prstGeom prst="roundRect">
            <a:avLst>
              <a:gd name="adj" fmla="val 6000"/>
            </a:avLst>
          </a:prstGeom>
          <a:solidFill>
            <a:srgbClr val="0A3A4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8" name="D0B1Bar"/>
          <p:cNvSpPr/>
          <p:nvPr/>
        </p:nvSpPr>
        <p:spPr>
          <a:xfrm>
            <a:off x="685800" y="5103188"/>
            <a:ext cx="55000" cy="840000"/>
          </a:xfrm>
          <a:prstGeom prst="rect">
            <a:avLst/>
          </a:prstGeom>
          <a:solidFill>
            <a:srgbClr val="008C8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D0B1Txt"/>
          <p:cNvSpPr txBox="1"/>
          <p:nvPr/>
        </p:nvSpPr>
        <p:spPr>
          <a:xfrm>
            <a:off x="985800" y="5053188"/>
            <a:ext cx="4500000" cy="8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1" spc="250">
                <a:solidFill>
                  <a:srgbClr val="99D1CD"/>
                </a:solidFill>
                <a:latin typeface="The Group HEAD Light"/>
              </a:rPr>
              <a:t>AFTERNOON</a:t>
            </a:r>
          </a:p>
          <a:p>
            <a:pPr>
              <a:lnSpc>
                <a:spcPct val="100000"/>
              </a:lnSpc>
              <a:spcBef>
                <a:spcPts val="650"/>
              </a:spcBef>
              <a:buNone/>
            </a:pPr>
            <a:r>
              <a:rPr lang="en-US" sz="1250" b="1">
                <a:solidFill>
                  <a:srgbClr val="FFFFFF"/>
                </a:solidFill>
                <a:latin typeface="The Group TEXT"/>
              </a:rPr>
              <a:t>Farewell Inma</a:t>
            </a:r>
          </a:p>
          <a:p>
            <a:pPr>
              <a:lnSpc>
                <a:spcPct val="100000"/>
              </a:lnSpc>
              <a:spcBef>
                <a:spcPts val="650"/>
              </a:spcBef>
              <a:buNone/>
            </a:pPr>
            <a:r>
              <a:rPr lang="en-US" sz="1250" b="1">
                <a:solidFill>
                  <a:srgbClr val="FFFFFF"/>
                </a:solidFill>
                <a:latin typeface="The Group TEXT"/>
              </a:rPr>
              <a:t>Intercultural Training</a:t>
            </a:r>
          </a:p>
        </p:txBody>
      </p:sp>
      <p:sp>
        <p:nvSpPr>
          <p:cNvPr id="110" name="D0Lunch"/>
          <p:cNvSpPr/>
          <p:nvPr/>
        </p:nvSpPr>
        <p:spPr>
          <a:xfrm>
            <a:off x="685800" y="4628188"/>
            <a:ext cx="5060000" cy="260000"/>
          </a:xfrm>
          <a:prstGeom prst="roundRect">
            <a:avLst>
              <a:gd name="adj" fmla="val 6000"/>
            </a:avLst>
          </a:prstGeom>
          <a:solidFill>
            <a:srgbClr val="002733"/>
          </a:solidFill>
          <a:ln w="12700">
            <a:solidFill>
              <a:srgbClr val="008C8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1" name="D0LunchTxt"/>
          <p:cNvSpPr txBox="1"/>
          <p:nvPr/>
        </p:nvSpPr>
        <p:spPr>
          <a:xfrm>
            <a:off x="985800" y="4568188"/>
            <a:ext cx="4460000" cy="38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1" spc="250">
                <a:solidFill>
                  <a:srgbClr val="99D1CD"/>
                </a:solidFill>
                <a:latin typeface="The Group HEAD Light"/>
              </a:rPr>
              <a:t>LUNCH BREAK</a:t>
            </a:r>
          </a:p>
        </p:txBody>
      </p:sp>
      <p:sp>
        <p:nvSpPr>
          <p:cNvPr id="112" name="D1Hdr"/>
          <p:cNvSpPr/>
          <p:nvPr/>
        </p:nvSpPr>
        <p:spPr>
          <a:xfrm>
            <a:off x="6446200" y="1520000"/>
            <a:ext cx="5060000" cy="700000"/>
          </a:xfrm>
          <a:prstGeom prst="roundRect">
            <a:avLst>
              <a:gd name="adj" fmla="val 6000"/>
            </a:avLst>
          </a:prstGeom>
          <a:solidFill>
            <a:srgbClr val="008C8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D1HdrTxt"/>
          <p:cNvSpPr txBox="1"/>
          <p:nvPr/>
        </p:nvSpPr>
        <p:spPr>
          <a:xfrm>
            <a:off x="6706200" y="1650000"/>
            <a:ext cx="4540000" cy="4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1" spc="300">
                <a:solidFill>
                  <a:srgbClr val="99D1CD"/>
                </a:solidFill>
                <a:latin typeface="The Group HEAD Light"/>
              </a:rPr>
              <a:t>DAY 2   </a:t>
            </a:r>
            <a:r>
              <a:rPr lang="en-US" sz="1600" b="1">
                <a:solidFill>
                  <a:srgbClr val="FFFFFF"/>
                </a:solidFill>
                <a:latin typeface="The Group HEAD Light"/>
              </a:rPr>
              <a:t>Wednesday 16.09.2026</a:t>
            </a:r>
          </a:p>
          <a:p>
            <a:pPr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000" b="0">
                <a:solidFill>
                  <a:srgbClr val="99D1CD"/>
                </a:solidFill>
                <a:latin typeface="The Group TEXT"/>
              </a:rPr>
              <a:t>09:00 - 15:00</a:t>
            </a:r>
          </a:p>
        </p:txBody>
      </p:sp>
      <p:sp>
        <p:nvSpPr>
          <p:cNvPr id="114" name="D1B0Card"/>
          <p:cNvSpPr/>
          <p:nvPr/>
        </p:nvSpPr>
        <p:spPr>
          <a:xfrm>
            <a:off x="6446200" y="2303188"/>
            <a:ext cx="5060000" cy="2250000"/>
          </a:xfrm>
          <a:prstGeom prst="roundRect">
            <a:avLst>
              <a:gd name="adj" fmla="val 6000"/>
            </a:avLst>
          </a:prstGeom>
          <a:solidFill>
            <a:srgbClr val="0A3A4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5" name="D1B0Bar"/>
          <p:cNvSpPr/>
          <p:nvPr/>
        </p:nvSpPr>
        <p:spPr>
          <a:xfrm>
            <a:off x="6446200" y="2393188"/>
            <a:ext cx="55000" cy="2120000"/>
          </a:xfrm>
          <a:prstGeom prst="rect">
            <a:avLst/>
          </a:prstGeom>
          <a:solidFill>
            <a:srgbClr val="008C8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6" name="D1B0Txt"/>
          <p:cNvSpPr txBox="1"/>
          <p:nvPr/>
        </p:nvSpPr>
        <p:spPr>
          <a:xfrm>
            <a:off x="6746200" y="2493188"/>
            <a:ext cx="4500000" cy="19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1" spc="250">
                <a:solidFill>
                  <a:srgbClr val="99D1CD"/>
                </a:solidFill>
                <a:latin typeface="The Group HEAD Light"/>
              </a:rPr>
              <a:t>MORNING</a:t>
            </a:r>
          </a:p>
          <a:p>
            <a:pPr>
              <a:lnSpc>
                <a:spcPct val="100000"/>
              </a:lnSpc>
              <a:spcBef>
                <a:spcPts val="650"/>
              </a:spcBef>
              <a:buNone/>
            </a:pPr>
            <a:r>
              <a:rPr lang="en-US" sz="1250" b="1">
                <a:solidFill>
                  <a:srgbClr val="FFFFFF"/>
                </a:solidFill>
                <a:latin typeface="The Group TEXT"/>
              </a:rPr>
              <a:t>Roadmap Q4</a:t>
            </a:r>
          </a:p>
          <a:p>
            <a:pPr marL="200000" indent="-200000">
              <a:lnSpc>
                <a:spcPct val="100000"/>
              </a:lnSpc>
              <a:spcBef>
                <a:spcPts val="380"/>
              </a:spcBef>
              <a:buFont typeface="Arial"/>
              <a:buChar char="•"/>
            </a:pPr>
            <a:r>
              <a:rPr lang="en-US" sz="1150" b="0">
                <a:solidFill>
                  <a:srgbClr val="DFE7E9"/>
                </a:solidFill>
                <a:latin typeface="The Group TEXT"/>
              </a:rPr>
              <a:t>Prioritization &amp; team division</a:t>
            </a:r>
          </a:p>
          <a:p>
            <a:pPr marL="657200" lvl="1" indent="-200000">
              <a:spcBef>
                <a:spcPts val="380"/>
              </a:spcBef>
              <a:buFont typeface="Arial"/>
              <a:buChar char="•"/>
            </a:pPr>
            <a:r>
              <a:rPr lang="en-US" sz="1150" b="0">
                <a:solidFill>
                  <a:srgbClr val="DFE7E9"/>
                </a:solidFill>
                <a:latin typeface="The Group TEXT"/>
              </a:rPr>
              <a:t>Features: (</a:t>
            </a:r>
            <a:r>
              <a:rPr lang="en-US" sz="1150" b="0" err="1">
                <a:solidFill>
                  <a:srgbClr val="DFE7E9"/>
                </a:solidFill>
                <a:latin typeface="The Group TEXT"/>
              </a:rPr>
              <a:t>Bandicode</a:t>
            </a:r>
            <a:r>
              <a:rPr lang="en-US" sz="1150" b="0">
                <a:solidFill>
                  <a:srgbClr val="DFE7E9"/>
                </a:solidFill>
                <a:latin typeface="The Group TEXT"/>
              </a:rPr>
              <a:t> · </a:t>
            </a:r>
            <a:r>
              <a:rPr lang="en-US" sz="1150" b="0" err="1">
                <a:solidFill>
                  <a:srgbClr val="DFE7E9"/>
                </a:solidFill>
                <a:latin typeface="The Group TEXT"/>
              </a:rPr>
              <a:t>Bugbusters</a:t>
            </a:r>
            <a:r>
              <a:rPr lang="en-US" sz="1150" b="0">
                <a:solidFill>
                  <a:srgbClr val="DFE7E9"/>
                </a:solidFill>
                <a:latin typeface="The Group TEXT"/>
              </a:rPr>
              <a:t>)</a:t>
            </a:r>
          </a:p>
          <a:p>
            <a:pPr marL="657200" lvl="1" indent="-200000">
              <a:spcBef>
                <a:spcPts val="380"/>
              </a:spcBef>
              <a:buFont typeface="Arial"/>
              <a:buChar char="•"/>
            </a:pPr>
            <a:r>
              <a:rPr lang="en-US" sz="1150" b="0">
                <a:solidFill>
                  <a:srgbClr val="DFE7E9"/>
                </a:solidFill>
                <a:latin typeface="The Group TEXT"/>
              </a:rPr>
              <a:t>Architecture</a:t>
            </a:r>
          </a:p>
          <a:p>
            <a:pPr marL="200000" indent="-200000">
              <a:lnSpc>
                <a:spcPct val="100000"/>
              </a:lnSpc>
              <a:spcBef>
                <a:spcPts val="380"/>
              </a:spcBef>
              <a:buFont typeface="Arial"/>
              <a:buChar char="•"/>
            </a:pPr>
            <a:r>
              <a:rPr lang="en-US" sz="1150" b="0">
                <a:solidFill>
                  <a:srgbClr val="DFE7E9"/>
                </a:solidFill>
                <a:latin typeface="The Group TEXT"/>
              </a:rPr>
              <a:t>Feature refinement → breakout sessions</a:t>
            </a:r>
          </a:p>
          <a:p>
            <a:pPr marL="200000" indent="-200000">
              <a:lnSpc>
                <a:spcPct val="100000"/>
              </a:lnSpc>
              <a:spcBef>
                <a:spcPts val="380"/>
              </a:spcBef>
              <a:buFont typeface="Arial"/>
              <a:buChar char="•"/>
            </a:pPr>
            <a:r>
              <a:rPr lang="en-US" sz="1150" b="0">
                <a:solidFill>
                  <a:srgbClr val="DFE7E9"/>
                </a:solidFill>
                <a:latin typeface="The Group TEXT"/>
              </a:rPr>
              <a:t>Planned objectives for next 3 months</a:t>
            </a:r>
          </a:p>
        </p:txBody>
      </p:sp>
      <p:sp>
        <p:nvSpPr>
          <p:cNvPr id="120" name="D1Lunch"/>
          <p:cNvSpPr/>
          <p:nvPr/>
        </p:nvSpPr>
        <p:spPr>
          <a:xfrm>
            <a:off x="6446200" y="4628188"/>
            <a:ext cx="5060000" cy="260000"/>
          </a:xfrm>
          <a:prstGeom prst="roundRect">
            <a:avLst>
              <a:gd name="adj" fmla="val 6000"/>
            </a:avLst>
          </a:prstGeom>
          <a:solidFill>
            <a:srgbClr val="002733"/>
          </a:solidFill>
          <a:ln w="12700">
            <a:solidFill>
              <a:srgbClr val="008C8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1" name="D1LunchTxt"/>
          <p:cNvSpPr txBox="1"/>
          <p:nvPr/>
        </p:nvSpPr>
        <p:spPr>
          <a:xfrm>
            <a:off x="6746200" y="4568188"/>
            <a:ext cx="4460000" cy="38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1" spc="250">
                <a:solidFill>
                  <a:srgbClr val="99D1CD"/>
                </a:solidFill>
                <a:latin typeface="The Group HEAD Light"/>
              </a:rPr>
              <a:t>LUNCH BREAK</a:t>
            </a:r>
          </a:p>
        </p:txBody>
      </p:sp>
      <p:sp>
        <p:nvSpPr>
          <p:cNvPr id="130" name="D0Evening"/>
          <p:cNvSpPr/>
          <p:nvPr/>
        </p:nvSpPr>
        <p:spPr>
          <a:xfrm>
            <a:off x="685800" y="6073188"/>
            <a:ext cx="5060000" cy="380000"/>
          </a:xfrm>
          <a:prstGeom prst="roundRect">
            <a:avLst>
              <a:gd name="adj" fmla="val 6000"/>
            </a:avLst>
          </a:prstGeom>
          <a:solidFill>
            <a:srgbClr val="002733"/>
          </a:solidFill>
          <a:ln w="12700">
            <a:solidFill>
              <a:srgbClr val="008C8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1" name="D0EveningTxt"/>
          <p:cNvSpPr txBox="1"/>
          <p:nvPr/>
        </p:nvSpPr>
        <p:spPr>
          <a:xfrm>
            <a:off x="985800" y="6073188"/>
            <a:ext cx="4460000" cy="38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1" spc="250">
                <a:solidFill>
                  <a:srgbClr val="99D1CD"/>
                </a:solidFill>
                <a:latin typeface="The Group HEAD Light"/>
              </a:rPr>
              <a:t>EVENING  · Seat Code Terrace</a:t>
            </a:r>
          </a:p>
        </p:txBody>
      </p:sp>
      <p:sp>
        <p:nvSpPr>
          <p:cNvPr id="6" name="D0B1Card">
            <a:extLst>
              <a:ext uri="{FF2B5EF4-FFF2-40B4-BE49-F238E27FC236}">
                <a16:creationId xmlns:a16="http://schemas.microsoft.com/office/drawing/2014/main" id="{50B9B8C5-8656-714F-C751-D37C9079F936}"/>
              </a:ext>
            </a:extLst>
          </p:cNvPr>
          <p:cNvSpPr/>
          <p:nvPr/>
        </p:nvSpPr>
        <p:spPr>
          <a:xfrm>
            <a:off x="6446200" y="5023188"/>
            <a:ext cx="5060000" cy="1000000"/>
          </a:xfrm>
          <a:prstGeom prst="roundRect">
            <a:avLst>
              <a:gd name="adj" fmla="val 6000"/>
            </a:avLst>
          </a:prstGeom>
          <a:solidFill>
            <a:srgbClr val="0A3A4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D0B1Bar">
            <a:extLst>
              <a:ext uri="{FF2B5EF4-FFF2-40B4-BE49-F238E27FC236}">
                <a16:creationId xmlns:a16="http://schemas.microsoft.com/office/drawing/2014/main" id="{1A94BA0E-4CC7-2F94-4803-3CE6E5BD4D77}"/>
              </a:ext>
            </a:extLst>
          </p:cNvPr>
          <p:cNvSpPr/>
          <p:nvPr/>
        </p:nvSpPr>
        <p:spPr>
          <a:xfrm>
            <a:off x="6446200" y="5103188"/>
            <a:ext cx="55000" cy="840000"/>
          </a:xfrm>
          <a:prstGeom prst="rect">
            <a:avLst/>
          </a:prstGeom>
          <a:solidFill>
            <a:srgbClr val="008C8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D1B1Txt">
            <a:extLst>
              <a:ext uri="{FF2B5EF4-FFF2-40B4-BE49-F238E27FC236}">
                <a16:creationId xmlns:a16="http://schemas.microsoft.com/office/drawing/2014/main" id="{F19E199D-D9EF-924A-7910-FE853FEC4585}"/>
              </a:ext>
            </a:extLst>
          </p:cNvPr>
          <p:cNvSpPr txBox="1"/>
          <p:nvPr/>
        </p:nvSpPr>
        <p:spPr>
          <a:xfrm>
            <a:off x="6746200" y="5083188"/>
            <a:ext cx="4500000" cy="8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1" spc="250">
                <a:solidFill>
                  <a:srgbClr val="99D1CD"/>
                </a:solidFill>
                <a:latin typeface="The Group HEAD Light"/>
              </a:rPr>
              <a:t>AFTERNOON</a:t>
            </a:r>
          </a:p>
          <a:p>
            <a:pPr>
              <a:lnSpc>
                <a:spcPct val="100000"/>
              </a:lnSpc>
              <a:spcBef>
                <a:spcPts val="650"/>
              </a:spcBef>
              <a:buNone/>
            </a:pPr>
            <a:r>
              <a:rPr lang="en-US" sz="1250" b="1">
                <a:solidFill>
                  <a:srgbClr val="FFFFFF"/>
                </a:solidFill>
                <a:latin typeface="The Group TEXT"/>
              </a:rPr>
              <a:t>Status Update Reboot Plan</a:t>
            </a:r>
          </a:p>
          <a:p>
            <a:pPr>
              <a:lnSpc>
                <a:spcPct val="100000"/>
              </a:lnSpc>
              <a:spcBef>
                <a:spcPts val="650"/>
              </a:spcBef>
              <a:buNone/>
            </a:pPr>
            <a:r>
              <a:rPr lang="en-US" sz="1250" b="1">
                <a:solidFill>
                  <a:srgbClr val="FFFFFF"/>
                </a:solidFill>
                <a:latin typeface="The Group TEXT"/>
              </a:rPr>
              <a:t>Retro (focus on AllHands)</a:t>
            </a:r>
          </a:p>
        </p:txBody>
      </p:sp>
    </p:spTree>
    <p:extLst>
      <p:ext uri="{BB962C8B-B14F-4D97-AF65-F5344CB8AC3E}">
        <p14:creationId xmlns:p14="http://schemas.microsoft.com/office/powerpoint/2010/main" val="3472173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C9A8A-EB34-3DF1-85FF-050539D8D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31196958-8721-0BFC-A98B-95453D7C7040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1196958-8721-0BFC-A98B-95453D7C704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el 2">
            <a:extLst>
              <a:ext uri="{FF2B5EF4-FFF2-40B4-BE49-F238E27FC236}">
                <a16:creationId xmlns:a16="http://schemas.microsoft.com/office/drawing/2014/main" id="{8E43F789-8F78-94AA-2C8F-26F96568D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>
            <a:spAutoFit/>
          </a:bodyPr>
          <a:lstStyle/>
          <a:p>
            <a:r>
              <a:rPr lang="en-US"/>
              <a:t>Get to know and icebreaker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13E547-B50D-5197-9A1C-4A7DA647FC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Objective 02">
            <a:extLst>
              <a:ext uri="{FF2B5EF4-FFF2-40B4-BE49-F238E27FC236}">
                <a16:creationId xmlns:a16="http://schemas.microsoft.com/office/drawing/2014/main" id="{9E2CF263-E490-6FEC-7B6D-601757A1BC94}"/>
              </a:ext>
            </a:extLst>
          </p:cNvPr>
          <p:cNvSpPr/>
          <p:nvPr/>
        </p:nvSpPr>
        <p:spPr>
          <a:xfrm>
            <a:off x="1371954" y="2881917"/>
            <a:ext cx="2922848" cy="2811735"/>
          </a:xfrm>
          <a:prstGeom prst="roundRect">
            <a:avLst>
              <a:gd name="adj" fmla="val 6000"/>
            </a:avLst>
          </a:prstGeom>
          <a:solidFill>
            <a:schemeClr val="tx2">
              <a:lumMod val="85000"/>
            </a:schemeClr>
          </a:solidFill>
          <a:ln>
            <a:noFill/>
          </a:ln>
        </p:spPr>
        <p:txBody>
          <a:bodyPr wrap="square" lIns="108000" tIns="3600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endParaRPr lang="en-US" sz="1050" b="1">
              <a:solidFill>
                <a:schemeClr val="bg1"/>
              </a:solidFill>
            </a:endParaRPr>
          </a:p>
        </p:txBody>
      </p:sp>
      <p:sp>
        <p:nvSpPr>
          <p:cNvPr id="8" name="Rectangle: Rounded Corners 32">
            <a:extLst>
              <a:ext uri="{FF2B5EF4-FFF2-40B4-BE49-F238E27FC236}">
                <a16:creationId xmlns:a16="http://schemas.microsoft.com/office/drawing/2014/main" id="{3F1CE618-D95E-C7D7-734F-344974057CB6}"/>
              </a:ext>
            </a:extLst>
          </p:cNvPr>
          <p:cNvSpPr/>
          <p:nvPr/>
        </p:nvSpPr>
        <p:spPr>
          <a:xfrm>
            <a:off x="415861" y="1911802"/>
            <a:ext cx="5223226" cy="577015"/>
          </a:xfrm>
          <a:prstGeom prst="roundRect">
            <a:avLst>
              <a:gd name="adj" fmla="val 6000"/>
            </a:avLst>
          </a:prstGeom>
          <a:solidFill>
            <a:schemeClr val="accent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45720" rIns="137160" bIns="45720" rtlCol="0" anchor="ctr">
            <a:normAutofit/>
          </a:bodyPr>
          <a:lstStyle/>
          <a:p>
            <a:pPr algn="ctr">
              <a:buNone/>
            </a:pPr>
            <a:endParaRPr lang="en-US" sz="1400" b="1">
              <a:solidFill>
                <a:srgbClr val="C2FE06"/>
              </a:solidFill>
            </a:endParaRPr>
          </a:p>
        </p:txBody>
      </p:sp>
      <p:sp>
        <p:nvSpPr>
          <p:cNvPr id="12" name="Rectangle: Rounded Corners 16">
            <a:extLst>
              <a:ext uri="{FF2B5EF4-FFF2-40B4-BE49-F238E27FC236}">
                <a16:creationId xmlns:a16="http://schemas.microsoft.com/office/drawing/2014/main" id="{183BC3A0-B8E7-CAE4-F0B2-4A96088F32FC}"/>
              </a:ext>
            </a:extLst>
          </p:cNvPr>
          <p:cNvSpPr/>
          <p:nvPr/>
        </p:nvSpPr>
        <p:spPr>
          <a:xfrm>
            <a:off x="633344" y="1930542"/>
            <a:ext cx="4768877" cy="55391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>
                <a:solidFill>
                  <a:schemeClr val="tx1"/>
                </a:solidFill>
                <a:latin typeface="The Group TEXT"/>
              </a:rPr>
              <a:t>Icebreaker - </a:t>
            </a:r>
            <a:r>
              <a:rPr lang="en-US" sz="1600" b="1">
                <a:solidFill>
                  <a:schemeClr val="tx1"/>
                </a:solidFill>
                <a:ea typeface="+mn-lt"/>
                <a:cs typeface="+mn-lt"/>
              </a:rPr>
              <a:t>Chocolates</a:t>
            </a:r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29" name="D1B0Card">
            <a:extLst>
              <a:ext uri="{FF2B5EF4-FFF2-40B4-BE49-F238E27FC236}">
                <a16:creationId xmlns:a16="http://schemas.microsoft.com/office/drawing/2014/main" id="{FCF618D8-52CD-E7EB-05D2-A6D7341BA874}"/>
              </a:ext>
            </a:extLst>
          </p:cNvPr>
          <p:cNvSpPr/>
          <p:nvPr/>
        </p:nvSpPr>
        <p:spPr>
          <a:xfrm>
            <a:off x="6093954" y="1928434"/>
            <a:ext cx="5498509" cy="4427934"/>
          </a:xfrm>
          <a:prstGeom prst="roundRect">
            <a:avLst>
              <a:gd name="adj" fmla="val 6000"/>
            </a:avLst>
          </a:prstGeom>
          <a:solidFill>
            <a:srgbClr val="0A3A4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B4D1D62-F4BB-5708-9959-B3C28B51E675}"/>
              </a:ext>
            </a:extLst>
          </p:cNvPr>
          <p:cNvSpPr txBox="1"/>
          <p:nvPr/>
        </p:nvSpPr>
        <p:spPr>
          <a:xfrm>
            <a:off x="6096186" y="1986960"/>
            <a:ext cx="5488762" cy="430887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endParaRPr lang="en-US" sz="1400">
              <a:solidFill>
                <a:srgbClr val="FFFFFF"/>
              </a:solidFill>
              <a:latin typeface="The Group TEXT"/>
              <a:cs typeface="Arial"/>
            </a:endParaRPr>
          </a:p>
          <a:p>
            <a:pPr marL="800100" lvl="1" indent="-342900">
              <a:buAutoNum type="arabicPeriod"/>
            </a:pPr>
            <a:r>
              <a:rPr lang="en-US" sz="1400" dirty="0">
                <a:solidFill>
                  <a:srgbClr val="FFFFFF"/>
                </a:solidFill>
                <a:latin typeface="The Group TEXT"/>
                <a:cs typeface="Arial"/>
              </a:rPr>
              <a:t>Each person chooses a chocolate color and joins the group of people who have chosen the same color. Based on the chosen color, they are assigned a prompt. </a:t>
            </a:r>
          </a:p>
          <a:p>
            <a:pPr marL="800100" lvl="1" indent="-342900">
              <a:buAutoNum type="arabicPeriod"/>
            </a:pPr>
            <a:endParaRPr lang="en-US" sz="1400">
              <a:solidFill>
                <a:srgbClr val="FFFFFF"/>
              </a:solidFill>
              <a:latin typeface="The Group TEXT"/>
              <a:cs typeface="Arial"/>
            </a:endParaRPr>
          </a:p>
          <a:p>
            <a:pPr marL="800100" lvl="1" indent="-342900">
              <a:buAutoNum type="arabicPeriod"/>
            </a:pPr>
            <a:r>
              <a:rPr lang="en-US" sz="1400" dirty="0">
                <a:solidFill>
                  <a:srgbClr val="FFFFFF"/>
                </a:solidFill>
                <a:latin typeface="The Group TEXT"/>
                <a:cs typeface="Arial"/>
              </a:rPr>
              <a:t>A conversation regarding the assigned prompt is taken, encouraging active interaction of everyone. Group members should also come together to discuss and align their expectations regarding the Q4 Planning.</a:t>
            </a:r>
          </a:p>
          <a:p>
            <a:pPr marL="800100" lvl="1" indent="-342900">
              <a:buAutoNum type="arabicPeriod"/>
            </a:pPr>
            <a:endParaRPr lang="en-US" sz="1400">
              <a:solidFill>
                <a:srgbClr val="FFFFFF"/>
              </a:solidFill>
              <a:latin typeface="The Group TEXT"/>
              <a:cs typeface="Arial"/>
            </a:endParaRPr>
          </a:p>
          <a:p>
            <a:pPr marL="800100" lvl="1" indent="-342900">
              <a:buAutoNum type="arabicPeriod"/>
            </a:pPr>
            <a:r>
              <a:rPr lang="en-US" sz="1400" dirty="0">
                <a:solidFill>
                  <a:srgbClr val="FFFFFF"/>
                </a:solidFill>
                <a:latin typeface="The Group TEXT"/>
                <a:cs typeface="Arial"/>
              </a:rPr>
              <a:t>Then, a representative of each group shares what they discussed (key insights) with everyone, highlighting commonalities, differences, and interesting findings. For example: “We discovered that several of us share paella as our favorite dish,” or “We all enjoy going to the beach on vacation,” etc.</a:t>
            </a:r>
          </a:p>
          <a:p>
            <a:pPr marL="800100" lvl="1" indent="-342900">
              <a:buAutoNum type="arabicPeriod"/>
            </a:pPr>
            <a:endParaRPr lang="en-US" sz="1400">
              <a:solidFill>
                <a:srgbClr val="FFFFFF"/>
              </a:solidFill>
              <a:latin typeface="The Group TEXT"/>
              <a:cs typeface="Arial"/>
            </a:endParaRPr>
          </a:p>
          <a:p>
            <a:pPr marL="800100" lvl="1" indent="-342900">
              <a:buAutoNum type="arabicPeriod"/>
            </a:pPr>
            <a:r>
              <a:rPr lang="en-US" sz="1400" dirty="0">
                <a:solidFill>
                  <a:srgbClr val="FFFFFF"/>
                </a:solidFill>
                <a:latin typeface="The Group TEXT"/>
                <a:cs typeface="Arial"/>
              </a:rPr>
              <a:t>Finally, your group's expectations regarding this Q4 planning is shared by this representative.</a:t>
            </a:r>
            <a:endParaRPr lang="en-US" dirty="0"/>
          </a:p>
          <a:p>
            <a:pPr marL="342900" indent="-342900">
              <a:buAutoNum type="arabicPeriod"/>
            </a:pPr>
            <a:endParaRPr lang="en-US" sz="1400">
              <a:solidFill>
                <a:srgbClr val="FFFFFF"/>
              </a:solidFill>
              <a:latin typeface="The Group TEXT"/>
              <a:cs typeface="Arial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2D319FD-3B6E-91E7-9E94-7E66A3BE50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6201" y="2885440"/>
            <a:ext cx="2327678" cy="280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1742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1126E-5E0A-F98A-ED96-6771711B5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AC255AC-0D90-8593-4F6F-92630477FB1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AC255AC-0D90-8593-4F6F-92630477FB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el 2">
            <a:extLst>
              <a:ext uri="{FF2B5EF4-FFF2-40B4-BE49-F238E27FC236}">
                <a16:creationId xmlns:a16="http://schemas.microsoft.com/office/drawing/2014/main" id="{F20EC34C-8BE2-2FA8-EE69-89DF78D31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>
            <a:spAutoFit/>
          </a:bodyPr>
          <a:lstStyle/>
          <a:p>
            <a:r>
              <a:rPr lang="en-US"/>
              <a:t>Get to know and icebreaker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A2A394-0017-E7BC-548B-DE3CD62CF10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: Rounded Corners 32">
            <a:extLst>
              <a:ext uri="{FF2B5EF4-FFF2-40B4-BE49-F238E27FC236}">
                <a16:creationId xmlns:a16="http://schemas.microsoft.com/office/drawing/2014/main" id="{BF79F504-89BA-6BCF-72A7-5DFFE43DDF6B}"/>
              </a:ext>
            </a:extLst>
          </p:cNvPr>
          <p:cNvSpPr/>
          <p:nvPr/>
        </p:nvSpPr>
        <p:spPr>
          <a:xfrm>
            <a:off x="3484181" y="1413962"/>
            <a:ext cx="5223226" cy="577015"/>
          </a:xfrm>
          <a:prstGeom prst="roundRect">
            <a:avLst>
              <a:gd name="adj" fmla="val 6000"/>
            </a:avLst>
          </a:prstGeom>
          <a:solidFill>
            <a:schemeClr val="accent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45720" rIns="137160" bIns="45720" rtlCol="0" anchor="ctr">
            <a:normAutofit/>
          </a:bodyPr>
          <a:lstStyle/>
          <a:p>
            <a:pPr algn="ctr">
              <a:buNone/>
            </a:pPr>
            <a:endParaRPr lang="en-US" sz="1400" b="1">
              <a:solidFill>
                <a:srgbClr val="C2FE06"/>
              </a:solidFill>
            </a:endParaRPr>
          </a:p>
        </p:txBody>
      </p:sp>
      <p:sp>
        <p:nvSpPr>
          <p:cNvPr id="12" name="Rectangle: Rounded Corners 16">
            <a:extLst>
              <a:ext uri="{FF2B5EF4-FFF2-40B4-BE49-F238E27FC236}">
                <a16:creationId xmlns:a16="http://schemas.microsoft.com/office/drawing/2014/main" id="{0E420B3C-1005-4950-9527-A9C44AD04962}"/>
              </a:ext>
            </a:extLst>
          </p:cNvPr>
          <p:cNvSpPr/>
          <p:nvPr/>
        </p:nvSpPr>
        <p:spPr>
          <a:xfrm>
            <a:off x="3711824" y="1432702"/>
            <a:ext cx="4768877" cy="55391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>
                <a:solidFill>
                  <a:schemeClr val="tx1"/>
                </a:solidFill>
                <a:latin typeface="The Group TEXT"/>
              </a:rPr>
              <a:t>Colors and prompts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D1B0Card">
            <a:extLst>
              <a:ext uri="{FF2B5EF4-FFF2-40B4-BE49-F238E27FC236}">
                <a16:creationId xmlns:a16="http://schemas.microsoft.com/office/drawing/2014/main" id="{85E74D06-BEAA-7442-AC0E-C9FB64D2F7D0}"/>
              </a:ext>
            </a:extLst>
          </p:cNvPr>
          <p:cNvSpPr/>
          <p:nvPr/>
        </p:nvSpPr>
        <p:spPr>
          <a:xfrm>
            <a:off x="414514" y="2115229"/>
            <a:ext cx="11381149" cy="4176565"/>
          </a:xfrm>
          <a:prstGeom prst="roundRect">
            <a:avLst>
              <a:gd name="adj" fmla="val 6000"/>
            </a:avLst>
          </a:prstGeom>
          <a:solidFill>
            <a:srgbClr val="0A3A4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3179697-9D89-BA0D-1F08-B47D7037C9C5}"/>
              </a:ext>
            </a:extLst>
          </p:cNvPr>
          <p:cNvSpPr/>
          <p:nvPr/>
        </p:nvSpPr>
        <p:spPr>
          <a:xfrm>
            <a:off x="1351280" y="2758440"/>
            <a:ext cx="914400" cy="9144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algn="ctr"/>
            <a:endParaRPr lang="en-US" sz="1400" err="1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E9A7014-8CDA-3092-755A-18949C5B4F58}"/>
              </a:ext>
            </a:extLst>
          </p:cNvPr>
          <p:cNvSpPr/>
          <p:nvPr/>
        </p:nvSpPr>
        <p:spPr>
          <a:xfrm>
            <a:off x="3484880" y="2758439"/>
            <a:ext cx="914400" cy="9144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algn="ctr"/>
            <a:endParaRPr lang="en-US" sz="1400" err="1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9D4ACAC-4537-CD0F-0598-09C46735C055}"/>
              </a:ext>
            </a:extLst>
          </p:cNvPr>
          <p:cNvSpPr/>
          <p:nvPr/>
        </p:nvSpPr>
        <p:spPr>
          <a:xfrm>
            <a:off x="5638800" y="2758438"/>
            <a:ext cx="914400" cy="914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algn="ctr"/>
            <a:endParaRPr lang="en-US" sz="1400" err="1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6B2D317-F628-8E32-20CC-7200ADB59C83}"/>
              </a:ext>
            </a:extLst>
          </p:cNvPr>
          <p:cNvSpPr/>
          <p:nvPr/>
        </p:nvSpPr>
        <p:spPr>
          <a:xfrm>
            <a:off x="8026399" y="2758437"/>
            <a:ext cx="914400" cy="9144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algn="ctr"/>
            <a:endParaRPr lang="en-US" sz="1400" err="1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FFCEDDB-F25D-7B48-DBAE-527239B674F0}"/>
              </a:ext>
            </a:extLst>
          </p:cNvPr>
          <p:cNvSpPr/>
          <p:nvPr/>
        </p:nvSpPr>
        <p:spPr>
          <a:xfrm>
            <a:off x="10149838" y="2758436"/>
            <a:ext cx="914400" cy="914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algn="ctr"/>
            <a:endParaRPr lang="en-US" sz="1400" err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0335A7-942B-CA29-6D4A-5CF4F09C5255}"/>
              </a:ext>
            </a:extLst>
          </p:cNvPr>
          <p:cNvSpPr txBox="1"/>
          <p:nvPr/>
        </p:nvSpPr>
        <p:spPr>
          <a:xfrm>
            <a:off x="5513859" y="4634881"/>
            <a:ext cx="1170596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solidFill>
                  <a:schemeClr val="tx2"/>
                </a:solidFill>
                <a:latin typeface="The Group TEXT"/>
              </a:rPr>
              <a:t>Favorite food</a:t>
            </a:r>
            <a:endParaRPr lang="en-US" sz="1400" err="1">
              <a:solidFill>
                <a:schemeClr val="tx2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4266F9-30C3-DD91-2988-5411D22FD11E}"/>
              </a:ext>
            </a:extLst>
          </p:cNvPr>
          <p:cNvSpPr txBox="1"/>
          <p:nvPr/>
        </p:nvSpPr>
        <p:spPr>
          <a:xfrm>
            <a:off x="7872513" y="4627691"/>
            <a:ext cx="1211236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solidFill>
                  <a:schemeClr val="tx2"/>
                </a:solidFill>
                <a:latin typeface="The Group TEXT"/>
              </a:rPr>
              <a:t>Hobbie or favorite  sport</a:t>
            </a:r>
            <a:endParaRPr lang="en-US" sz="1400">
              <a:solidFill>
                <a:schemeClr val="tx2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BCE172-F25A-43C0-D8C4-1D1B3D4C5C57}"/>
              </a:ext>
            </a:extLst>
          </p:cNvPr>
          <p:cNvSpPr txBox="1"/>
          <p:nvPr/>
        </p:nvSpPr>
        <p:spPr>
          <a:xfrm>
            <a:off x="10004579" y="4523120"/>
            <a:ext cx="121123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solidFill>
                  <a:schemeClr val="tx2"/>
                </a:solidFill>
                <a:latin typeface="The Group TEXT"/>
              </a:rPr>
              <a:t>Desired destination to travel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AB9953-4EAD-495F-A330-EF5CBD7D66CD}"/>
              </a:ext>
            </a:extLst>
          </p:cNvPr>
          <p:cNvSpPr txBox="1"/>
          <p:nvPr/>
        </p:nvSpPr>
        <p:spPr>
          <a:xfrm>
            <a:off x="3339619" y="4645040"/>
            <a:ext cx="1211236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solidFill>
                  <a:schemeClr val="tx2"/>
                </a:solidFill>
                <a:latin typeface="The Group TEXT"/>
              </a:rPr>
              <a:t>Favorite music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AF938C-ADA6-D311-982A-D09DB12574D3}"/>
              </a:ext>
            </a:extLst>
          </p:cNvPr>
          <p:cNvSpPr txBox="1"/>
          <p:nvPr/>
        </p:nvSpPr>
        <p:spPr>
          <a:xfrm>
            <a:off x="1206019" y="4634880"/>
            <a:ext cx="1211236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solidFill>
                  <a:schemeClr val="tx2"/>
                </a:solidFill>
                <a:latin typeface="The Group TEXT"/>
              </a:rPr>
              <a:t>Favorite pet or animal</a:t>
            </a:r>
            <a:endParaRPr 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92541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A148974-5AD9-B1B4-BB59-B8AE1D31E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264E5B06-01F8-B919-80A4-A4E47D84B99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64E5B06-01F8-B919-80A4-A4E47D84B9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el 2">
            <a:extLst>
              <a:ext uri="{FF2B5EF4-FFF2-40B4-BE49-F238E27FC236}">
                <a16:creationId xmlns:a16="http://schemas.microsoft.com/office/drawing/2014/main" id="{6B2CF88A-D19E-C069-E943-D3FA95330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>
            <a:spAutoFit/>
          </a:bodyPr>
          <a:lstStyle/>
          <a:p>
            <a:r>
              <a:rPr lang="en-US"/>
              <a:t>Get to know and icebreaker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25C71A-1A38-7811-3FA5-648D54A112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Objective 02">
            <a:extLst>
              <a:ext uri="{FF2B5EF4-FFF2-40B4-BE49-F238E27FC236}">
                <a16:creationId xmlns:a16="http://schemas.microsoft.com/office/drawing/2014/main" id="{A582E105-C804-43E5-E566-56AA0B88878B}"/>
              </a:ext>
            </a:extLst>
          </p:cNvPr>
          <p:cNvSpPr/>
          <p:nvPr/>
        </p:nvSpPr>
        <p:spPr>
          <a:xfrm>
            <a:off x="1371954" y="2881917"/>
            <a:ext cx="2922848" cy="2811735"/>
          </a:xfrm>
          <a:prstGeom prst="roundRect">
            <a:avLst>
              <a:gd name="adj" fmla="val 6000"/>
            </a:avLst>
          </a:prstGeom>
          <a:solidFill>
            <a:schemeClr val="tx2">
              <a:lumMod val="85000"/>
            </a:schemeClr>
          </a:solidFill>
          <a:ln>
            <a:noFill/>
          </a:ln>
        </p:spPr>
        <p:txBody>
          <a:bodyPr wrap="square" lIns="108000" tIns="3600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endParaRPr lang="en-US" sz="1050" b="1">
              <a:solidFill>
                <a:schemeClr val="bg1"/>
              </a:solidFill>
            </a:endParaRPr>
          </a:p>
        </p:txBody>
      </p:sp>
      <p:sp>
        <p:nvSpPr>
          <p:cNvPr id="8" name="Rectangle: Rounded Corners 32">
            <a:extLst>
              <a:ext uri="{FF2B5EF4-FFF2-40B4-BE49-F238E27FC236}">
                <a16:creationId xmlns:a16="http://schemas.microsoft.com/office/drawing/2014/main" id="{3B6E2B8F-A56F-2917-2951-606460F0E739}"/>
              </a:ext>
            </a:extLst>
          </p:cNvPr>
          <p:cNvSpPr/>
          <p:nvPr/>
        </p:nvSpPr>
        <p:spPr>
          <a:xfrm>
            <a:off x="415861" y="1911802"/>
            <a:ext cx="5223226" cy="577015"/>
          </a:xfrm>
          <a:prstGeom prst="roundRect">
            <a:avLst>
              <a:gd name="adj" fmla="val 6000"/>
            </a:avLst>
          </a:prstGeom>
          <a:solidFill>
            <a:schemeClr val="accent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45720" rIns="137160" bIns="45720" rtlCol="0" anchor="ctr">
            <a:normAutofit/>
          </a:bodyPr>
          <a:lstStyle/>
          <a:p>
            <a:pPr algn="ctr">
              <a:buNone/>
            </a:pPr>
            <a:endParaRPr lang="en-US" sz="1400" b="1">
              <a:solidFill>
                <a:srgbClr val="C2FE06"/>
              </a:solidFill>
            </a:endParaRPr>
          </a:p>
        </p:txBody>
      </p:sp>
      <p:sp>
        <p:nvSpPr>
          <p:cNvPr id="12" name="Rectangle: Rounded Corners 16">
            <a:extLst>
              <a:ext uri="{FF2B5EF4-FFF2-40B4-BE49-F238E27FC236}">
                <a16:creationId xmlns:a16="http://schemas.microsoft.com/office/drawing/2014/main" id="{8AEB040A-13A9-DD69-C950-6F0DA7843003}"/>
              </a:ext>
            </a:extLst>
          </p:cNvPr>
          <p:cNvSpPr/>
          <p:nvPr/>
        </p:nvSpPr>
        <p:spPr>
          <a:xfrm>
            <a:off x="633344" y="1930542"/>
            <a:ext cx="4768877" cy="55391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>
                <a:solidFill>
                  <a:schemeClr val="tx1"/>
                </a:solidFill>
                <a:latin typeface="The Group TEXT"/>
              </a:rPr>
              <a:t>Icebreaker - </a:t>
            </a:r>
            <a:r>
              <a:rPr lang="en-US" sz="1600" b="1">
                <a:solidFill>
                  <a:schemeClr val="tx1"/>
                </a:solidFill>
                <a:ea typeface="+mn-lt"/>
                <a:cs typeface="+mn-lt"/>
              </a:rPr>
              <a:t>Impromptu networking</a:t>
            </a:r>
            <a:endParaRPr lang="en-US" b="1">
              <a:solidFill>
                <a:schemeClr val="tx1"/>
              </a:solidFill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E40DB0A-77AD-B58B-4EF4-E192E895B2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8518" y="3030388"/>
            <a:ext cx="2552341" cy="2522507"/>
          </a:xfrm>
          <a:prstGeom prst="rect">
            <a:avLst/>
          </a:prstGeom>
        </p:spPr>
      </p:pic>
      <p:sp>
        <p:nvSpPr>
          <p:cNvPr id="29" name="D1B0Card">
            <a:extLst>
              <a:ext uri="{FF2B5EF4-FFF2-40B4-BE49-F238E27FC236}">
                <a16:creationId xmlns:a16="http://schemas.microsoft.com/office/drawing/2014/main" id="{CA815F0C-9ADA-D495-EACD-D5393D183A52}"/>
              </a:ext>
            </a:extLst>
          </p:cNvPr>
          <p:cNvSpPr/>
          <p:nvPr/>
        </p:nvSpPr>
        <p:spPr>
          <a:xfrm>
            <a:off x="6093954" y="1922189"/>
            <a:ext cx="5498509" cy="4176565"/>
          </a:xfrm>
          <a:prstGeom prst="roundRect">
            <a:avLst>
              <a:gd name="adj" fmla="val 6000"/>
            </a:avLst>
          </a:prstGeom>
          <a:solidFill>
            <a:srgbClr val="0A3A4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F12B020-767B-D068-CF02-B5D6F4BA4455}"/>
              </a:ext>
            </a:extLst>
          </p:cNvPr>
          <p:cNvSpPr txBox="1"/>
          <p:nvPr/>
        </p:nvSpPr>
        <p:spPr>
          <a:xfrm>
            <a:off x="6238426" y="2290583"/>
            <a:ext cx="5208197" cy="40934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r>
              <a:rPr lang="en-US" sz="1400">
                <a:latin typeface="The Group TEXT"/>
                <a:cs typeface="Arial"/>
              </a:rPr>
              <a:t>Participants</a:t>
            </a:r>
            <a:r>
              <a:rPr lang="en-US" sz="1400">
                <a:solidFill>
                  <a:srgbClr val="FFFFFF"/>
                </a:solidFill>
                <a:latin typeface="The Group TEXT"/>
                <a:cs typeface="Arial"/>
              </a:rPr>
              <a:t> walk around the space when the </a:t>
            </a:r>
            <a:r>
              <a:rPr lang="en-US" sz="1400">
                <a:solidFill>
                  <a:srgbClr val="FFFFFF"/>
                </a:solidFill>
                <a:latin typeface="The Group TEXT"/>
                <a:cs typeface="Arial"/>
                <a:hlinkClick r:id="rId6"/>
              </a:rPr>
              <a:t>music</a:t>
            </a:r>
            <a:r>
              <a:rPr lang="en-US" sz="1400">
                <a:solidFill>
                  <a:srgbClr val="FFFFFF"/>
                </a:solidFill>
                <a:latin typeface="The Group TEXT"/>
                <a:cs typeface="Arial"/>
              </a:rPr>
              <a:t> begins.</a:t>
            </a:r>
            <a:endParaRPr lang="en-US">
              <a:solidFill>
                <a:srgbClr val="FFFFFF"/>
              </a:solidFill>
              <a:latin typeface="The Group TEXT"/>
              <a:cs typeface="Arial"/>
            </a:endParaRPr>
          </a:p>
          <a:p>
            <a:pPr marL="342900" indent="-342900">
              <a:buAutoNum type="arabicPeriod"/>
            </a:pPr>
            <a:endParaRPr lang="en-US" sz="1400">
              <a:latin typeface="The Group TEXT"/>
              <a:cs typeface="Arial"/>
            </a:endParaRPr>
          </a:p>
          <a:p>
            <a:pPr marL="285750" indent="-285750">
              <a:buFontTx/>
              <a:buAutoNum type="arabicPeriod"/>
            </a:pPr>
            <a:r>
              <a:rPr lang="en-US" sz="1400">
                <a:solidFill>
                  <a:srgbClr val="FFFFFF"/>
                </a:solidFill>
                <a:latin typeface="The Group TEXT"/>
                <a:cs typeface="Arial"/>
              </a:rPr>
              <a:t>The music stops: they quickly pair up with the closest person.</a:t>
            </a:r>
          </a:p>
          <a:p>
            <a:pPr marL="285750" indent="-285750">
              <a:buFontTx/>
              <a:buAutoNum type="arabicPeriod"/>
            </a:pPr>
            <a:endParaRPr lang="en-US" sz="1400">
              <a:solidFill>
                <a:srgbClr val="FFFFFF"/>
              </a:solidFill>
              <a:latin typeface="The Group TEXT"/>
              <a:cs typeface="Arial"/>
            </a:endParaRPr>
          </a:p>
          <a:p>
            <a:pPr marL="285750" indent="-285750">
              <a:buFontTx/>
              <a:buAutoNum type="arabicPeriod"/>
            </a:pPr>
            <a:r>
              <a:rPr lang="en-US" sz="1400">
                <a:solidFill>
                  <a:srgbClr val="FFFFFF"/>
                </a:solidFill>
                <a:latin typeface="The Group TEXT"/>
                <a:cs typeface="Arial"/>
              </a:rPr>
              <a:t>They ask each other questions :</a:t>
            </a:r>
            <a:endParaRPr lang="en-US">
              <a:solidFill>
                <a:srgbClr val="FFFFFF"/>
              </a:solidFill>
              <a:latin typeface="The Group TEXT"/>
              <a:cs typeface="Arial"/>
            </a:endParaRPr>
          </a:p>
          <a:p>
            <a:pPr marL="285750" indent="-285750">
              <a:buFontTx/>
              <a:buAutoNum type="arabicPeriod"/>
            </a:pPr>
            <a:endParaRPr lang="en-US" sz="1400">
              <a:solidFill>
                <a:srgbClr val="FFFFFF"/>
              </a:solidFill>
              <a:latin typeface="The Group TEXT"/>
              <a:cs typeface="Arial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1400">
                <a:solidFill>
                  <a:srgbClr val="FFFFFF"/>
                </a:solidFill>
                <a:latin typeface="The Group TEXT"/>
                <a:cs typeface="Arial"/>
              </a:rPr>
              <a:t>Share how you’re arriving at the session.</a:t>
            </a:r>
            <a:endParaRPr lang="en-US" sz="1400">
              <a:solidFill>
                <a:srgbClr val="FFFFFF"/>
              </a:solidFill>
              <a:latin typeface="The Group TEXT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1400">
                <a:solidFill>
                  <a:srgbClr val="FFFFFF"/>
                </a:solidFill>
                <a:latin typeface="The Group TEXT"/>
                <a:cs typeface="Arial"/>
              </a:rPr>
              <a:t>What outcomes do I expect from this session?</a:t>
            </a:r>
            <a:endParaRPr lang="en-US">
              <a:solidFill>
                <a:srgbClr val="FFFFFF"/>
              </a:solidFill>
              <a:latin typeface="The Group TEXT"/>
              <a:cs typeface="Arial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1400">
                <a:solidFill>
                  <a:srgbClr val="FFFFFF"/>
                </a:solidFill>
                <a:latin typeface="The Group TEXT"/>
                <a:cs typeface="Arial"/>
              </a:rPr>
              <a:t>What challenges do I see in this event?</a:t>
            </a:r>
            <a:endParaRPr lang="en-US">
              <a:solidFill>
                <a:srgbClr val="FFFFFF"/>
              </a:solidFill>
              <a:latin typeface="The Group TEXT"/>
              <a:cs typeface="Arial"/>
            </a:endParaRPr>
          </a:p>
          <a:p>
            <a:pPr marL="742950" lvl="1" indent="-285750">
              <a:buFont typeface="Arial"/>
              <a:buChar char="•"/>
            </a:pPr>
            <a:endParaRPr lang="en-US" sz="1400"/>
          </a:p>
          <a:p>
            <a:pPr marL="285750" indent="-285750">
              <a:buFontTx/>
              <a:buAutoNum type="arabicPeriod"/>
            </a:pPr>
            <a:r>
              <a:rPr lang="en-US" sz="1400">
                <a:solidFill>
                  <a:srgbClr val="FFFFFF"/>
                </a:solidFill>
                <a:latin typeface="The Group TEXT"/>
                <a:cs typeface="Arial"/>
              </a:rPr>
              <a:t>The music plays again; participants thank each other and resume walking. When the music stops again, they form a new pair and repeat the dynamic. This continues for several rounds (2-3).</a:t>
            </a:r>
            <a:endParaRPr lang="en-US" sz="1400">
              <a:solidFill>
                <a:srgbClr val="FFFFFF"/>
              </a:solidFill>
              <a:latin typeface="The Group TEXT"/>
            </a:endParaRPr>
          </a:p>
          <a:p>
            <a:pPr marL="285750" indent="-285750" algn="l">
              <a:buAutoNum type="arabicPeriod"/>
            </a:pPr>
            <a:endParaRPr lang="en-US" sz="1400">
              <a:latin typeface="The Group TEXT"/>
              <a:cs typeface="Arial"/>
            </a:endParaRPr>
          </a:p>
          <a:p>
            <a:pPr marL="285750" indent="-285750">
              <a:buAutoNum type="arabicPeriod"/>
            </a:pPr>
            <a:r>
              <a:rPr lang="en-US" sz="1400">
                <a:latin typeface="The Group TEXT"/>
                <a:cs typeface="Arial"/>
              </a:rPr>
              <a:t>Then we share voluntarily the main idea or conclusion in this </a:t>
            </a:r>
            <a:r>
              <a:rPr lang="en-US" sz="1400">
                <a:latin typeface="The Group TEXT"/>
                <a:cs typeface="Arial"/>
                <a:hlinkClick r:id="rId7"/>
              </a:rPr>
              <a:t>survey</a:t>
            </a:r>
            <a:r>
              <a:rPr lang="en-US" sz="1400">
                <a:latin typeface="The Group TEXT"/>
                <a:cs typeface="Arial"/>
              </a:rPr>
              <a:t>.</a:t>
            </a:r>
          </a:p>
          <a:p>
            <a:endParaRPr lang="en-US" sz="1400">
              <a:latin typeface="The Group TEXT"/>
            </a:endParaRPr>
          </a:p>
        </p:txBody>
      </p:sp>
    </p:spTree>
    <p:extLst>
      <p:ext uri="{BB962C8B-B14F-4D97-AF65-F5344CB8AC3E}">
        <p14:creationId xmlns:p14="http://schemas.microsoft.com/office/powerpoint/2010/main" val="7507115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35F9352-A084-7A46-1E70-95D787C35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2561A1DD-32D0-B08A-EE8A-15380265401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561A1DD-32D0-B08A-EE8A-1538026540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el 2">
            <a:extLst>
              <a:ext uri="{FF2B5EF4-FFF2-40B4-BE49-F238E27FC236}">
                <a16:creationId xmlns:a16="http://schemas.microsoft.com/office/drawing/2014/main" id="{502B604E-DE91-7659-6879-4BCB41993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>
            <a:spAutoFit/>
          </a:bodyPr>
          <a:lstStyle/>
          <a:p>
            <a:r>
              <a:rPr lang="en-US"/>
              <a:t>Get to know and icebreaker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046A05-3D05-AEF2-FBB3-6CF6D19659D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: Rounded Corners 32">
            <a:extLst>
              <a:ext uri="{FF2B5EF4-FFF2-40B4-BE49-F238E27FC236}">
                <a16:creationId xmlns:a16="http://schemas.microsoft.com/office/drawing/2014/main" id="{A211B7A9-6FF4-028B-0281-A3F6404074FA}"/>
              </a:ext>
            </a:extLst>
          </p:cNvPr>
          <p:cNvSpPr/>
          <p:nvPr/>
        </p:nvSpPr>
        <p:spPr>
          <a:xfrm>
            <a:off x="3484181" y="1413962"/>
            <a:ext cx="5223226" cy="577015"/>
          </a:xfrm>
          <a:prstGeom prst="roundRect">
            <a:avLst>
              <a:gd name="adj" fmla="val 6000"/>
            </a:avLst>
          </a:prstGeom>
          <a:solidFill>
            <a:schemeClr val="accent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45720" rIns="137160" bIns="45720" rtlCol="0" anchor="ctr">
            <a:normAutofit/>
          </a:bodyPr>
          <a:lstStyle/>
          <a:p>
            <a:pPr algn="ctr">
              <a:buNone/>
            </a:pPr>
            <a:endParaRPr lang="en-US" sz="1400" b="1">
              <a:solidFill>
                <a:srgbClr val="C2FE06"/>
              </a:solidFill>
            </a:endParaRPr>
          </a:p>
        </p:txBody>
      </p:sp>
      <p:sp>
        <p:nvSpPr>
          <p:cNvPr id="12" name="Rectangle: Rounded Corners 16">
            <a:extLst>
              <a:ext uri="{FF2B5EF4-FFF2-40B4-BE49-F238E27FC236}">
                <a16:creationId xmlns:a16="http://schemas.microsoft.com/office/drawing/2014/main" id="{EFEB1F9E-9428-882F-6493-05F7EC76C276}"/>
              </a:ext>
            </a:extLst>
          </p:cNvPr>
          <p:cNvSpPr/>
          <p:nvPr/>
        </p:nvSpPr>
        <p:spPr>
          <a:xfrm>
            <a:off x="3711824" y="1432702"/>
            <a:ext cx="4768877" cy="55391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>
                <a:solidFill>
                  <a:schemeClr val="tx1"/>
                </a:solidFill>
                <a:latin typeface="The Group TEXT"/>
              </a:rPr>
              <a:t>Your ideas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D1B0Card">
            <a:extLst>
              <a:ext uri="{FF2B5EF4-FFF2-40B4-BE49-F238E27FC236}">
                <a16:creationId xmlns:a16="http://schemas.microsoft.com/office/drawing/2014/main" id="{131E9CB1-9BD0-C751-0734-B82315C0D3FD}"/>
              </a:ext>
            </a:extLst>
          </p:cNvPr>
          <p:cNvSpPr/>
          <p:nvPr/>
        </p:nvSpPr>
        <p:spPr>
          <a:xfrm>
            <a:off x="414514" y="2115229"/>
            <a:ext cx="11381149" cy="4176565"/>
          </a:xfrm>
          <a:prstGeom prst="roundRect">
            <a:avLst>
              <a:gd name="adj" fmla="val 6000"/>
            </a:avLst>
          </a:prstGeom>
          <a:solidFill>
            <a:srgbClr val="0A3A4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55B0273-DDC8-A0FD-95F3-9FE3636A8A0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-386" b="386"/>
          <a:stretch>
            <a:fillRect/>
          </a:stretch>
        </p:blipFill>
        <p:spPr>
          <a:xfrm>
            <a:off x="1058228" y="2887345"/>
            <a:ext cx="2648611" cy="2637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6929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9E055C94-2CC6-3AD0-0CE6-E38CA35C6C6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11111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E055C94-2CC6-3AD0-0CE6-E38CA35C6C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66D4DE3-E5AC-0342-1EFB-29F67BEFC39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1249" y="1761980"/>
            <a:ext cx="11380751" cy="3046988"/>
          </a:xfrm>
        </p:spPr>
        <p:txBody>
          <a:bodyPr/>
          <a:lstStyle/>
          <a:p>
            <a:r>
              <a:rPr lang="en-US"/>
              <a:t>Vision 2027 Update</a:t>
            </a:r>
            <a:br>
              <a:rPr lang="en-US"/>
            </a:br>
            <a:r>
              <a:rPr lang="en-US"/>
              <a:t>•  Product vision</a:t>
            </a:r>
            <a:br>
              <a:rPr lang="en-US"/>
            </a:br>
            <a:r>
              <a:rPr lang="en-US"/>
              <a:t>o  	 Updated slide (Thomas)</a:t>
            </a:r>
            <a:br>
              <a:rPr lang="en-US"/>
            </a:br>
            <a:r>
              <a:rPr lang="en-US"/>
              <a:t>•  Why SDV</a:t>
            </a:r>
            <a:br>
              <a:rPr lang="en-US"/>
            </a:br>
            <a:r>
              <a:rPr lang="en-US"/>
              <a:t>o  	 Jens‘ slides</a:t>
            </a:r>
            <a:br>
              <a:rPr lang="en-US"/>
            </a:br>
            <a:r>
              <a:rPr lang="en-US"/>
              <a:t>•  Architectural Vision</a:t>
            </a:r>
            <a:br>
              <a:rPr lang="en-US"/>
            </a:br>
            <a:r>
              <a:rPr lang="en-US"/>
              <a:t>o  	 Martins 3 step RVT slides</a:t>
            </a:r>
            <a:br>
              <a:rPr lang="en-US"/>
            </a:br>
            <a:r>
              <a:rPr lang="en-US"/>
              <a:t>•  External Milestones</a:t>
            </a:r>
            <a:br>
              <a:rPr lang="en-US"/>
            </a:br>
            <a:r>
              <a:rPr lang="en-US"/>
              <a:t>o  	 from steering </a:t>
            </a:r>
            <a:r>
              <a:rPr lang="en-US" err="1"/>
              <a:t>commitee</a:t>
            </a:r>
            <a:r>
              <a:rPr lang="en-US"/>
              <a:t> slides</a:t>
            </a:r>
            <a:br>
              <a:rPr lang="en-US"/>
            </a:br>
            <a:r>
              <a:rPr lang="en-US"/>
              <a:t>•  Missed Campaigns</a:t>
            </a:r>
            <a:br>
              <a:rPr lang="en-US"/>
            </a:br>
            <a:r>
              <a:rPr lang="en-US"/>
              <a:t>o  	@Thomas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0DFC86E-8D58-A4F1-3B52-17B42743B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>
            <a:spAutoFit/>
          </a:bodyPr>
          <a:lstStyle/>
          <a:p>
            <a:r>
              <a:rPr lang="en-US"/>
              <a:t>Todo</a:t>
            </a:r>
          </a:p>
        </p:txBody>
      </p:sp>
    </p:spTree>
    <p:extLst>
      <p:ext uri="{BB962C8B-B14F-4D97-AF65-F5344CB8AC3E}">
        <p14:creationId xmlns:p14="http://schemas.microsoft.com/office/powerpoint/2010/main" val="3279585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393A3CBA-25B8-4020-D261-E4C0CE61D9B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407511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25" imgH="425" progId="TCLayout.ActiveDocument.1">
                  <p:embed/>
                </p:oleObj>
              </mc:Choice>
              <mc:Fallback>
                <p:oleObj name="think-cell Slide" r:id="rId11" imgW="425" imgH="42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93A3CBA-25B8-4020-D261-E4C0CE61D9B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57F032B-FB7E-3111-D303-597BBADF8FB1}"/>
              </a:ext>
            </a:extLst>
          </p:cNvPr>
          <p:cNvSpPr/>
          <p:nvPr/>
        </p:nvSpPr>
        <p:spPr>
          <a:xfrm>
            <a:off x="9110204" y="2007577"/>
            <a:ext cx="2673809" cy="1076027"/>
          </a:xfrm>
          <a:prstGeom prst="roundRect">
            <a:avLst/>
          </a:prstGeom>
          <a:solidFill>
            <a:schemeClr val="bg2"/>
          </a:solidFill>
          <a:ln w="38100">
            <a:solidFill>
              <a:srgbClr val="008C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180000" rIns="72000" bIns="180000" rtlCol="0" anchor="b"/>
          <a:lstStyle/>
          <a:p>
            <a:pPr algn="ctr"/>
            <a:endParaRPr lang="de-DE" b="1">
              <a:solidFill>
                <a:schemeClr val="tx1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8C12270-3B17-FB93-DCA6-931197EF4CB5}"/>
              </a:ext>
            </a:extLst>
          </p:cNvPr>
          <p:cNvSpPr/>
          <p:nvPr/>
        </p:nvSpPr>
        <p:spPr>
          <a:xfrm>
            <a:off x="6209466" y="2007577"/>
            <a:ext cx="2673809" cy="1076027"/>
          </a:xfrm>
          <a:prstGeom prst="roundRect">
            <a:avLst/>
          </a:prstGeom>
          <a:solidFill>
            <a:schemeClr val="bg2"/>
          </a:solidFill>
          <a:ln w="38100">
            <a:solidFill>
              <a:srgbClr val="008C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180000" rIns="72000" bIns="180000" rtlCol="0" anchor="b"/>
          <a:lstStyle/>
          <a:p>
            <a:pPr algn="ctr"/>
            <a:endParaRPr lang="de-DE" b="1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C56A4A8-E1F8-8BAF-FDD6-9E7B2FB6E664}"/>
              </a:ext>
            </a:extLst>
          </p:cNvPr>
          <p:cNvSpPr/>
          <p:nvPr/>
        </p:nvSpPr>
        <p:spPr>
          <a:xfrm>
            <a:off x="3308727" y="2007577"/>
            <a:ext cx="2673809" cy="1076027"/>
          </a:xfrm>
          <a:prstGeom prst="roundRect">
            <a:avLst/>
          </a:prstGeom>
          <a:solidFill>
            <a:schemeClr val="bg2"/>
          </a:solidFill>
          <a:ln w="38100">
            <a:solidFill>
              <a:srgbClr val="008C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180000" rIns="72000" bIns="180000" rtlCol="0" anchor="b"/>
          <a:lstStyle/>
          <a:p>
            <a:pPr algn="ctr"/>
            <a:endParaRPr lang="de-DE" b="1">
              <a:solidFill>
                <a:schemeClr val="tx1"/>
              </a:solidFill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D0B69ABD-3AB7-BB9D-9F49-03EC10C09FB5}"/>
              </a:ext>
            </a:extLst>
          </p:cNvPr>
          <p:cNvGrpSpPr/>
          <p:nvPr/>
        </p:nvGrpSpPr>
        <p:grpSpPr>
          <a:xfrm>
            <a:off x="1143000" y="5944352"/>
            <a:ext cx="10641011" cy="468000"/>
            <a:chOff x="1143000" y="5944352"/>
            <a:chExt cx="10641011" cy="468000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AE6235DE-B29D-07AE-DF73-72D5F9AF06F1}"/>
                </a:ext>
              </a:extLst>
            </p:cNvPr>
            <p:cNvSpPr txBox="1"/>
            <p:nvPr/>
          </p:nvSpPr>
          <p:spPr>
            <a:xfrm>
              <a:off x="1143000" y="6013562"/>
              <a:ext cx="10641011" cy="2769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GB" b="1"/>
                <a:t>Further details for the roadmap in the </a:t>
              </a:r>
              <a:r>
                <a:rPr lang="en-GB" b="1">
                  <a:solidFill>
                    <a:schemeClr val="accent1">
                      <a:lumMod val="25000"/>
                      <a:lumOff val="75000"/>
                    </a:schemeClr>
                  </a:solidFill>
                  <a:hlinkClick r:id="rId1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JIRA</a:t>
              </a:r>
              <a:r>
                <a:rPr lang="en-GB" b="1"/>
                <a:t> roadmap board</a:t>
              </a:r>
              <a:endParaRPr lang="en-GB" noProof="0"/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77638858-2233-E8BF-6FAD-02E60A038B86}"/>
                </a:ext>
              </a:extLst>
            </p:cNvPr>
            <p:cNvGrpSpPr/>
            <p:nvPr/>
          </p:nvGrpSpPr>
          <p:grpSpPr>
            <a:xfrm>
              <a:off x="2761355" y="5944352"/>
              <a:ext cx="468000" cy="468000"/>
              <a:chOff x="3243639" y="5382349"/>
              <a:chExt cx="468000" cy="468000"/>
            </a:xfrm>
          </p:grpSpPr>
          <p:pic>
            <p:nvPicPr>
              <p:cNvPr id="49" name="Graphic 48" descr="Exclamation mark with solid fill">
                <a:extLst>
                  <a:ext uri="{FF2B5EF4-FFF2-40B4-BE49-F238E27FC236}">
                    <a16:creationId xmlns:a16="http://schemas.microsoft.com/office/drawing/2014/main" id="{348B5B4E-5075-1983-0CCE-F35BEA867F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rcRect/>
              <a:stretch/>
            </p:blipFill>
            <p:spPr>
              <a:xfrm flipH="1">
                <a:off x="3271465" y="5399853"/>
                <a:ext cx="412960" cy="412960"/>
              </a:xfrm>
              <a:prstGeom prst="rect">
                <a:avLst/>
              </a:prstGeom>
            </p:spPr>
          </p:pic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560502DC-66B7-7C3F-175D-17B60567DE86}"/>
                  </a:ext>
                </a:extLst>
              </p:cNvPr>
              <p:cNvSpPr/>
              <p:nvPr/>
            </p:nvSpPr>
            <p:spPr>
              <a:xfrm>
                <a:off x="3243639" y="5382349"/>
                <a:ext cx="468000" cy="468000"/>
              </a:xfrm>
              <a:prstGeom prst="ellipse">
                <a:avLst/>
              </a:prstGeom>
              <a:noFill/>
              <a:ln>
                <a:solidFill>
                  <a:srgbClr val="C2FE0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0000" tIns="180000" rIns="180000" bIns="180000" rtlCol="0" anchor="ctr"/>
              <a:lstStyle/>
              <a:p>
                <a:pPr algn="ctr"/>
                <a:endParaRPr lang="en-GB" sz="1400" err="1"/>
              </a:p>
            </p:txBody>
          </p:sp>
        </p:grpSp>
      </p:grp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BDE7E19-6F15-4727-DC01-45A3E9ADC2DD}"/>
              </a:ext>
            </a:extLst>
          </p:cNvPr>
          <p:cNvSpPr/>
          <p:nvPr/>
        </p:nvSpPr>
        <p:spPr>
          <a:xfrm>
            <a:off x="407988" y="2007577"/>
            <a:ext cx="2673809" cy="1076027"/>
          </a:xfrm>
          <a:prstGeom prst="roundRect">
            <a:avLst/>
          </a:prstGeom>
          <a:solidFill>
            <a:schemeClr val="bg2"/>
          </a:solidFill>
          <a:ln w="38100">
            <a:solidFill>
              <a:srgbClr val="008C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180000" rIns="72000" bIns="180000" rtlCol="0" anchor="b"/>
          <a:lstStyle/>
          <a:p>
            <a:pPr algn="ctr"/>
            <a:endParaRPr lang="de-DE" b="1">
              <a:solidFill>
                <a:schemeClr val="tx1"/>
              </a:solidFill>
            </a:endParaRPr>
          </a:p>
        </p:txBody>
      </p:sp>
      <p:sp>
        <p:nvSpPr>
          <p:cNvPr id="2" name="Textplatzhalter 1">
            <a:extLst>
              <a:ext uri="{FF2B5EF4-FFF2-40B4-BE49-F238E27FC236}">
                <a16:creationId xmlns:a16="http://schemas.microsoft.com/office/drawing/2014/main" id="{5A71CAE8-7AD9-813E-5014-7C5329ED1BB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/>
              <a:t>Vision 2028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4333AA83-7B06-A02A-8964-99393D1FA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>
            <a:spAutoFit/>
          </a:bodyPr>
          <a:lstStyle/>
          <a:p>
            <a:r>
              <a:rPr lang="en-US" err="1"/>
              <a:t>ReCall</a:t>
            </a:r>
            <a:r>
              <a:rPr lang="en-US"/>
              <a:t> 2 | Long Term Product Roadmap</a:t>
            </a:r>
            <a:endParaRPr lang="de-DE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A199DD91-60ED-D2A6-5E6F-99FBAA2F7CDA}"/>
              </a:ext>
            </a:extLst>
          </p:cNvPr>
          <p:cNvSpPr/>
          <p:nvPr/>
        </p:nvSpPr>
        <p:spPr>
          <a:xfrm rot="10800000">
            <a:off x="3264226" y="4832025"/>
            <a:ext cx="5689600" cy="29310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algn="ctr"/>
            <a:endParaRPr lang="de-DE" sz="1400" err="1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5C55B9E-AEB2-3E6F-3F40-808751F17F5A}"/>
              </a:ext>
            </a:extLst>
          </p:cNvPr>
          <p:cNvSpPr/>
          <p:nvPr/>
        </p:nvSpPr>
        <p:spPr>
          <a:xfrm>
            <a:off x="4772121" y="5246178"/>
            <a:ext cx="2673809" cy="646331"/>
          </a:xfrm>
          <a:prstGeom prst="roundRect">
            <a:avLst/>
          </a:prstGeom>
          <a:solidFill>
            <a:schemeClr val="bg2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180000" rIns="72000" bIns="180000" rtlCol="0" anchor="ctr"/>
          <a:lstStyle/>
          <a:p>
            <a:pPr algn="ctr"/>
            <a:r>
              <a:rPr lang="de-DE" sz="2400" b="1">
                <a:solidFill>
                  <a:srgbClr val="C2FE06"/>
                </a:solidFill>
              </a:rPr>
              <a:t>Focus Q3/26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170F5E3-2F3E-5EC2-6989-9864AA698633}"/>
              </a:ext>
            </a:extLst>
          </p:cNvPr>
          <p:cNvSpPr/>
          <p:nvPr/>
        </p:nvSpPr>
        <p:spPr>
          <a:xfrm>
            <a:off x="6280017" y="3445725"/>
            <a:ext cx="2673809" cy="1076027"/>
          </a:xfrm>
          <a:prstGeom prst="roundRect">
            <a:avLst/>
          </a:prstGeom>
          <a:solidFill>
            <a:schemeClr val="bg2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180000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>
                <a:solidFill>
                  <a:schemeClr val="tx2"/>
                </a:solidFill>
              </a:rPr>
              <a:t>Modul 1,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>
                <a:solidFill>
                  <a:schemeClr val="tx2"/>
                </a:solidFill>
              </a:rPr>
              <a:t>Modul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>
                <a:solidFill>
                  <a:schemeClr val="tx2"/>
                </a:solidFill>
              </a:rPr>
              <a:t>Feature </a:t>
            </a:r>
            <a:r>
              <a:rPr lang="de-DE" err="1">
                <a:solidFill>
                  <a:schemeClr val="tx2"/>
                </a:solidFill>
              </a:rPr>
              <a:t>needed</a:t>
            </a:r>
            <a:r>
              <a:rPr lang="de-DE">
                <a:solidFill>
                  <a:schemeClr val="tx2"/>
                </a:solidFill>
              </a:rPr>
              <a:t> for Support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FEE08D0-36EB-A6EA-9042-80948D38E1BB}"/>
              </a:ext>
            </a:extLst>
          </p:cNvPr>
          <p:cNvSpPr/>
          <p:nvPr/>
        </p:nvSpPr>
        <p:spPr>
          <a:xfrm>
            <a:off x="3308727" y="3453198"/>
            <a:ext cx="2673809" cy="1076027"/>
          </a:xfrm>
          <a:prstGeom prst="roundRect">
            <a:avLst/>
          </a:prstGeom>
          <a:solidFill>
            <a:schemeClr val="bg2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180000" rtlCol="0" anchor="t"/>
          <a:lstStyle/>
          <a:p>
            <a:r>
              <a:rPr lang="de-DE">
                <a:solidFill>
                  <a:schemeClr val="tx2"/>
                </a:solidFill>
              </a:rPr>
              <a:t>Details </a:t>
            </a:r>
            <a:r>
              <a:rPr lang="de-DE" err="1">
                <a:solidFill>
                  <a:schemeClr val="tx2"/>
                </a:solidFill>
              </a:rPr>
              <a:t>see</a:t>
            </a:r>
            <a:r>
              <a:rPr lang="de-DE">
                <a:solidFill>
                  <a:schemeClr val="tx2"/>
                </a:solidFill>
              </a:rPr>
              <a:t> </a:t>
            </a:r>
            <a:r>
              <a:rPr lang="de-DE" err="1">
                <a:solidFill>
                  <a:schemeClr val="tx2"/>
                </a:solidFill>
              </a:rPr>
              <a:t>architectural</a:t>
            </a:r>
            <a:r>
              <a:rPr lang="de-DE">
                <a:solidFill>
                  <a:schemeClr val="tx2"/>
                </a:solidFill>
              </a:rPr>
              <a:t> </a:t>
            </a:r>
            <a:r>
              <a:rPr lang="de-DE" err="1">
                <a:solidFill>
                  <a:schemeClr val="tx2"/>
                </a:solidFill>
              </a:rPr>
              <a:t>roadmap</a:t>
            </a:r>
            <a:endParaRPr lang="de-DE">
              <a:solidFill>
                <a:schemeClr val="tx2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3835D22-F848-F36F-D822-E06BE1ADEB0B}"/>
              </a:ext>
            </a:extLst>
          </p:cNvPr>
          <p:cNvSpPr/>
          <p:nvPr/>
        </p:nvSpPr>
        <p:spPr>
          <a:xfrm>
            <a:off x="9153163" y="3434026"/>
            <a:ext cx="2673809" cy="1076027"/>
          </a:xfrm>
          <a:prstGeom prst="roundRect">
            <a:avLst/>
          </a:prstGeom>
          <a:solidFill>
            <a:schemeClr val="bg2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180000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>
                <a:solidFill>
                  <a:schemeClr val="tx2"/>
                </a:solidFill>
              </a:rPr>
              <a:t>China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>
                <a:solidFill>
                  <a:schemeClr val="tx2"/>
                </a:solidFill>
              </a:rPr>
              <a:t>Scout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>
                <a:solidFill>
                  <a:schemeClr val="tx2"/>
                </a:solidFill>
              </a:rPr>
              <a:t>MOIA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A04CE69-18D0-1C38-E30E-7ACE269B7E21}"/>
              </a:ext>
            </a:extLst>
          </p:cNvPr>
          <p:cNvSpPr/>
          <p:nvPr/>
        </p:nvSpPr>
        <p:spPr>
          <a:xfrm>
            <a:off x="406396" y="3453198"/>
            <a:ext cx="2673809" cy="1076027"/>
          </a:xfrm>
          <a:prstGeom prst="roundRect">
            <a:avLst/>
          </a:prstGeom>
          <a:solidFill>
            <a:schemeClr val="bg2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180000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>
                <a:solidFill>
                  <a:schemeClr val="tx2"/>
                </a:solidFill>
              </a:rPr>
              <a:t>ORU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>
                <a:solidFill>
                  <a:schemeClr val="tx2"/>
                </a:solidFill>
              </a:rPr>
              <a:t>GVF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>
                <a:solidFill>
                  <a:schemeClr val="tx2"/>
                </a:solidFill>
              </a:rPr>
              <a:t>Vehicle </a:t>
            </a:r>
            <a:r>
              <a:rPr lang="de-DE" err="1">
                <a:solidFill>
                  <a:schemeClr val="tx2"/>
                </a:solidFill>
              </a:rPr>
              <a:t>selection</a:t>
            </a:r>
            <a:endParaRPr lang="de-DE">
              <a:solidFill>
                <a:schemeClr val="tx2"/>
              </a:solidFill>
            </a:endParaRPr>
          </a:p>
        </p:txBody>
      </p:sp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385BA1BA-FFC6-0A9C-C6B0-7736D1BE8EC2}"/>
              </a:ext>
            </a:extLst>
          </p:cNvPr>
          <p:cNvSpPr/>
          <p:nvPr/>
        </p:nvSpPr>
        <p:spPr>
          <a:xfrm>
            <a:off x="7099540" y="94891"/>
            <a:ext cx="3174521" cy="422694"/>
          </a:xfrm>
          <a:prstGeom prst="roundRect">
            <a:avLst/>
          </a:prstGeom>
          <a:solidFill>
            <a:srgbClr val="C882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algn="ctr"/>
            <a:r>
              <a:rPr lang="de-DE" sz="1400"/>
              <a:t>@Thomas: Updaten für Q4</a:t>
            </a: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EB7E701F-0FBB-2E91-49F3-38F590FAB212}"/>
              </a:ext>
            </a:extLst>
          </p:cNvPr>
          <p:cNvGrpSpPr/>
          <p:nvPr/>
        </p:nvGrpSpPr>
        <p:grpSpPr>
          <a:xfrm>
            <a:off x="3509129" y="2289520"/>
            <a:ext cx="2273004" cy="560411"/>
            <a:chOff x="4589689" y="1143237"/>
            <a:chExt cx="2273004" cy="560411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4D376C42-3A5B-7793-54E8-059B6CD35E99}"/>
                </a:ext>
              </a:extLst>
            </p:cNvPr>
            <p:cNvSpPr/>
            <p:nvPr/>
          </p:nvSpPr>
          <p:spPr>
            <a:xfrm>
              <a:off x="5163493" y="1156924"/>
              <a:ext cx="1699200" cy="546724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08000" rIns="180000" bIns="180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8C82">
                      <a:lumMod val="40000"/>
                      <a:lumOff val="60000"/>
                    </a:srgbClr>
                  </a:solidFill>
                  <a:effectLst/>
                  <a:uLnTx/>
                  <a:uFillTx/>
                  <a:latin typeface="The Group TEXT"/>
                  <a:ea typeface="+mn-ea"/>
                  <a:cs typeface="+mn-cs"/>
                </a:rPr>
                <a:t>Architecture Roadmap</a:t>
              </a:r>
            </a:p>
          </p:txBody>
        </p:sp>
        <p:pic>
          <p:nvPicPr>
            <p:cNvPr id="57" name="Pic">
              <a:extLst>
                <a:ext uri="{FF2B5EF4-FFF2-40B4-BE49-F238E27FC236}">
                  <a16:creationId xmlns:a16="http://schemas.microsoft.com/office/drawing/2014/main" id="{61478D67-378A-9B03-27CD-F3AD1F021E72}"/>
                </a:ext>
              </a:extLst>
            </p:cNvPr>
            <p:cNvPicPr>
              <a:picLocks/>
            </p:cNvPicPr>
            <p:nvPr>
              <p:custDataLst>
                <p:tags r:id="rId8"/>
              </p:custDataLst>
            </p:nvPr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  <a:ext uri="{6F801314-5768-4EAC-8CED-0F2297F94238}"/>
              </a:extLst>
            </a:blip>
            <a:stretch>
              <a:fillRect/>
            </a:stretch>
          </p:blipFill>
          <p:spPr bwMode="auto">
            <a:xfrm>
              <a:off x="4589689" y="1143237"/>
              <a:ext cx="530225" cy="530225"/>
            </a:xfrm>
            <a:prstGeom prst="rect">
              <a:avLst/>
            </a:prstGeom>
            <a:noFill/>
            <a:ln>
              <a:noFill/>
            </a:ln>
            <a:effectLst/>
          </p:spPr>
        </p:pic>
        <p:pic>
          <p:nvPicPr>
            <p:cNvPr id="59" name="Pic">
              <a:extLst>
                <a:ext uri="{FF2B5EF4-FFF2-40B4-BE49-F238E27FC236}">
                  <a16:creationId xmlns:a16="http://schemas.microsoft.com/office/drawing/2014/main" id="{786C9E8E-5F5E-9FC4-89EC-46399EB700DF}"/>
                </a:ext>
              </a:extLst>
            </p:cNvPr>
            <p:cNvPicPr>
              <a:picLocks/>
            </p:cNvPicPr>
            <p:nvPr>
              <p:custDataLst>
                <p:tags r:id="rId9"/>
              </p:custDataLst>
            </p:nvPr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  <a:ext uri="{6F801314-5768-4EAC-8CED-0F2297F94238}"/>
              </a:extLst>
            </a:blip>
            <a:stretch>
              <a:fillRect/>
            </a:stretch>
          </p:blipFill>
          <p:spPr bwMode="auto">
            <a:xfrm>
              <a:off x="4727801" y="1209912"/>
              <a:ext cx="254000" cy="254000"/>
            </a:xfrm>
            <a:prstGeom prst="rect">
              <a:avLst/>
            </a:prstGeom>
            <a:noFill/>
            <a:ln>
              <a:noFill/>
            </a:ln>
            <a:effectLst/>
          </p:spPr>
        </p:pic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9FA6E856-58A3-123E-C6C9-071CF1A4E281}"/>
              </a:ext>
            </a:extLst>
          </p:cNvPr>
          <p:cNvGrpSpPr/>
          <p:nvPr/>
        </p:nvGrpSpPr>
        <p:grpSpPr>
          <a:xfrm>
            <a:off x="6363363" y="2289520"/>
            <a:ext cx="2366015" cy="560411"/>
            <a:chOff x="7009039" y="1143237"/>
            <a:chExt cx="2366015" cy="560411"/>
          </a:xfrm>
        </p:grpSpPr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12320791-FB34-4276-0DCA-1C57A7B5152D}"/>
                </a:ext>
              </a:extLst>
            </p:cNvPr>
            <p:cNvSpPr/>
            <p:nvPr/>
          </p:nvSpPr>
          <p:spPr>
            <a:xfrm>
              <a:off x="7584252" y="1156924"/>
              <a:ext cx="1790802" cy="546724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108000" rIns="0" bIns="180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8C82">
                      <a:lumMod val="40000"/>
                      <a:lumOff val="60000"/>
                    </a:srgbClr>
                  </a:solidFill>
                  <a:effectLst/>
                  <a:uLnTx/>
                  <a:uFillTx/>
                  <a:latin typeface="The Group TEXT"/>
                  <a:ea typeface="+mn-ea"/>
                  <a:cs typeface="+mn-cs"/>
                </a:rPr>
                <a:t>Enrichment of existing functions</a:t>
              </a:r>
            </a:p>
          </p:txBody>
        </p:sp>
        <p:pic>
          <p:nvPicPr>
            <p:cNvPr id="61" name="Pic">
              <a:extLst>
                <a:ext uri="{FF2B5EF4-FFF2-40B4-BE49-F238E27FC236}">
                  <a16:creationId xmlns:a16="http://schemas.microsoft.com/office/drawing/2014/main" id="{206E6027-5CDD-4A3E-A125-9A7FD3CFA17D}"/>
                </a:ext>
              </a:extLst>
            </p:cNvPr>
            <p:cNvPicPr>
              <a:picLocks/>
            </p:cNvPicPr>
            <p:nvPr>
              <p:custDataLst>
                <p:tags r:id="rId6"/>
              </p:custDataLst>
            </p:nvPr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  <a:ext uri="{6F801314-5768-4EAC-8CED-0F2297F94238}"/>
              </a:extLst>
            </a:blip>
            <a:stretch>
              <a:fillRect/>
            </a:stretch>
          </p:blipFill>
          <p:spPr bwMode="auto">
            <a:xfrm>
              <a:off x="7009039" y="1143237"/>
              <a:ext cx="530225" cy="530225"/>
            </a:xfrm>
            <a:prstGeom prst="rect">
              <a:avLst/>
            </a:prstGeom>
            <a:noFill/>
            <a:ln>
              <a:noFill/>
            </a:ln>
            <a:effectLst/>
          </p:spPr>
        </p:pic>
        <p:pic>
          <p:nvPicPr>
            <p:cNvPr id="63" name="Pic">
              <a:extLst>
                <a:ext uri="{FF2B5EF4-FFF2-40B4-BE49-F238E27FC236}">
                  <a16:creationId xmlns:a16="http://schemas.microsoft.com/office/drawing/2014/main" id="{4B53A2A1-4487-555E-5424-7D120FF5E31D}"/>
                </a:ext>
              </a:extLst>
            </p:cNvPr>
            <p:cNvPicPr>
              <a:picLocks/>
            </p:cNvPicPr>
            <p:nvPr>
              <p:custDataLst>
                <p:tags r:id="rId7"/>
              </p:custDataLst>
            </p:nvPr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  <a:ext uri="{6F801314-5768-4EAC-8CED-0F2297F94238}"/>
              </a:extLst>
            </a:blip>
            <a:stretch>
              <a:fillRect/>
            </a:stretch>
          </p:blipFill>
          <p:spPr bwMode="auto">
            <a:xfrm>
              <a:off x="7147151" y="1209912"/>
              <a:ext cx="254000" cy="254000"/>
            </a:xfrm>
            <a:prstGeom prst="rect">
              <a:avLst/>
            </a:prstGeom>
            <a:noFill/>
            <a:ln>
              <a:noFill/>
            </a:ln>
            <a:effectLst/>
          </p:spPr>
        </p:pic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26572F45-5C4B-3A46-67F4-616204401E6C}"/>
              </a:ext>
            </a:extLst>
          </p:cNvPr>
          <p:cNvGrpSpPr/>
          <p:nvPr/>
        </p:nvGrpSpPr>
        <p:grpSpPr>
          <a:xfrm>
            <a:off x="9401452" y="2289520"/>
            <a:ext cx="2091312" cy="560411"/>
            <a:chOff x="9591247" y="1142039"/>
            <a:chExt cx="2091312" cy="560411"/>
          </a:xfrm>
        </p:grpSpPr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0DF4613F-7632-F10D-D1D9-960F541AD3A0}"/>
                </a:ext>
              </a:extLst>
            </p:cNvPr>
            <p:cNvSpPr/>
            <p:nvPr/>
          </p:nvSpPr>
          <p:spPr>
            <a:xfrm>
              <a:off x="9983359" y="1155726"/>
              <a:ext cx="1699200" cy="546724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08000" rIns="180000" bIns="180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8C82">
                      <a:lumMod val="40000"/>
                      <a:lumOff val="60000"/>
                    </a:srgbClr>
                  </a:solidFill>
                  <a:effectLst/>
                  <a:uLnTx/>
                  <a:uFillTx/>
                  <a:latin typeface="The Group TEXT"/>
                  <a:ea typeface="+mn-ea"/>
                  <a:cs typeface="+mn-cs"/>
                </a:rPr>
                <a:t>New Markets &amp; Brands</a:t>
              </a:r>
            </a:p>
          </p:txBody>
        </p:sp>
        <p:pic>
          <p:nvPicPr>
            <p:cNvPr id="65" name="Pic">
              <a:extLst>
                <a:ext uri="{FF2B5EF4-FFF2-40B4-BE49-F238E27FC236}">
                  <a16:creationId xmlns:a16="http://schemas.microsoft.com/office/drawing/2014/main" id="{89B0A3E9-84A2-2098-4D35-68B5A97E7854}"/>
                </a:ext>
              </a:extLst>
            </p:cNvPr>
            <p:cNvPicPr>
              <a:picLocks/>
            </p:cNvPicPr>
            <p:nvPr>
              <p:custDataLst>
                <p:tags r:id="rId4"/>
              </p:custDataLst>
            </p:nvPr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  <a:ext uri="{6F801314-5768-4EAC-8CED-0F2297F94238}"/>
              </a:extLst>
            </a:blip>
            <a:stretch>
              <a:fillRect/>
            </a:stretch>
          </p:blipFill>
          <p:spPr bwMode="auto">
            <a:xfrm>
              <a:off x="9591247" y="1142039"/>
              <a:ext cx="530225" cy="530225"/>
            </a:xfrm>
            <a:prstGeom prst="rect">
              <a:avLst/>
            </a:prstGeom>
            <a:noFill/>
            <a:ln>
              <a:noFill/>
            </a:ln>
            <a:effectLst/>
          </p:spPr>
        </p:pic>
        <p:pic>
          <p:nvPicPr>
            <p:cNvPr id="67" name="Pic">
              <a:extLst>
                <a:ext uri="{FF2B5EF4-FFF2-40B4-BE49-F238E27FC236}">
                  <a16:creationId xmlns:a16="http://schemas.microsoft.com/office/drawing/2014/main" id="{EE1E4C6C-5CAC-B5B7-8A92-FE817FDEA790}"/>
                </a:ext>
              </a:extLst>
            </p:cNvPr>
            <p:cNvPicPr>
              <a:picLocks/>
            </p:cNvPicPr>
            <p:nvPr>
              <p:custDataLst>
                <p:tags r:id="rId5"/>
              </p:custDataLst>
            </p:nvPr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  <a:ext uri="{6F801314-5768-4EAC-8CED-0F2297F94238}"/>
              </a:extLst>
            </a:blip>
            <a:stretch>
              <a:fillRect/>
            </a:stretch>
          </p:blipFill>
          <p:spPr bwMode="auto">
            <a:xfrm>
              <a:off x="9729359" y="1208714"/>
              <a:ext cx="254000" cy="254000"/>
            </a:xfrm>
            <a:prstGeom prst="rect">
              <a:avLst/>
            </a:prstGeom>
            <a:noFill/>
            <a:ln>
              <a:noFill/>
            </a:ln>
            <a:effectLst/>
          </p:spPr>
        </p:pic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CA266DD0-9BF3-37DF-F381-F48D135404F3}"/>
              </a:ext>
            </a:extLst>
          </p:cNvPr>
          <p:cNvGrpSpPr/>
          <p:nvPr/>
        </p:nvGrpSpPr>
        <p:grpSpPr>
          <a:xfrm>
            <a:off x="608280" y="2291619"/>
            <a:ext cx="2273224" cy="556213"/>
            <a:chOff x="2167241" y="1155123"/>
            <a:chExt cx="2273224" cy="556213"/>
          </a:xfrm>
        </p:grpSpPr>
        <p:pic>
          <p:nvPicPr>
            <p:cNvPr id="69" name="Pic">
              <a:extLst>
                <a:ext uri="{FF2B5EF4-FFF2-40B4-BE49-F238E27FC236}">
                  <a16:creationId xmlns:a16="http://schemas.microsoft.com/office/drawing/2014/main" id="{2D842003-F214-0905-2A45-2BF4C4987777}"/>
                </a:ext>
              </a:extLst>
            </p:cNvPr>
            <p:cNvPicPr>
              <a:picLocks/>
            </p:cNvPicPr>
            <p:nvPr>
              <p:custDataLst>
                <p:tags r:id="rId2"/>
              </p:custDataLst>
            </p:nvPr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  <a:ext uri="{6F801314-5768-4EAC-8CED-0F2297F94238}"/>
              </a:extLst>
            </a:blip>
            <a:stretch>
              <a:fillRect/>
            </a:stretch>
          </p:blipFill>
          <p:spPr bwMode="auto">
            <a:xfrm>
              <a:off x="2167241" y="1155123"/>
              <a:ext cx="530225" cy="530225"/>
            </a:xfrm>
            <a:prstGeom prst="rect">
              <a:avLst/>
            </a:prstGeom>
            <a:noFill/>
            <a:ln>
              <a:noFill/>
            </a:ln>
            <a:effectLst/>
          </p:spPr>
        </p:pic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CBFD5812-1408-17F9-7CA9-696D4E303BFB}"/>
                </a:ext>
              </a:extLst>
            </p:cNvPr>
            <p:cNvGrpSpPr/>
            <p:nvPr/>
          </p:nvGrpSpPr>
          <p:grpSpPr>
            <a:xfrm>
              <a:off x="2305353" y="1164612"/>
              <a:ext cx="2135112" cy="546724"/>
              <a:chOff x="2305353" y="1164612"/>
              <a:chExt cx="2135112" cy="546724"/>
            </a:xfrm>
          </p:grpSpPr>
          <p:sp>
            <p:nvSpPr>
              <p:cNvPr id="55" name="Rectangle: Rounded Corners 54">
                <a:extLst>
                  <a:ext uri="{FF2B5EF4-FFF2-40B4-BE49-F238E27FC236}">
                    <a16:creationId xmlns:a16="http://schemas.microsoft.com/office/drawing/2014/main" id="{3E5153A7-B83E-A333-0C6C-6D7E5613D210}"/>
                  </a:ext>
                </a:extLst>
              </p:cNvPr>
              <p:cNvSpPr/>
              <p:nvPr/>
            </p:nvSpPr>
            <p:spPr>
              <a:xfrm>
                <a:off x="2741045" y="1164612"/>
                <a:ext cx="1699420" cy="546724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0000" tIns="108000" rIns="180000" bIns="1800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1200" cap="none" spc="0" normalizeH="0" baseline="0" noProof="0">
                    <a:ln>
                      <a:noFill/>
                    </a:ln>
                    <a:solidFill>
                      <a:srgbClr val="008C82">
                        <a:lumMod val="40000"/>
                        <a:lumOff val="60000"/>
                      </a:srgbClr>
                    </a:solidFill>
                    <a:effectLst/>
                    <a:uLnTx/>
                    <a:uFillTx/>
                    <a:latin typeface="The Group TEXT"/>
                    <a:ea typeface="+mn-ea"/>
                    <a:cs typeface="+mn-cs"/>
                  </a:rPr>
                  <a:t>New vehicle architecture</a:t>
                </a:r>
              </a:p>
            </p:txBody>
          </p:sp>
          <p:pic>
            <p:nvPicPr>
              <p:cNvPr id="71" name="Pic">
                <a:extLst>
                  <a:ext uri="{FF2B5EF4-FFF2-40B4-BE49-F238E27FC236}">
                    <a16:creationId xmlns:a16="http://schemas.microsoft.com/office/drawing/2014/main" id="{4FDF729A-3286-748A-ECC3-F770D89F41F7}"/>
                  </a:ext>
                </a:extLst>
              </p:cNvPr>
              <p:cNvPicPr>
                <a:picLocks/>
              </p:cNvPicPr>
              <p:nvPr>
                <p:custDataLst>
                  <p:tags r:id="rId3"/>
                </p:custDataLst>
              </p:nvPr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9"/>
                  </a:ext>
                  <a:ext uri="{6F801314-5768-4EAC-8CED-0F2297F94238}"/>
                </a:extLst>
              </a:blip>
              <a:stretch>
                <a:fillRect/>
              </a:stretch>
            </p:blipFill>
            <p:spPr bwMode="auto">
              <a:xfrm>
                <a:off x="2305353" y="1221798"/>
                <a:ext cx="254000" cy="254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</p:pic>
        </p:grpSp>
      </p:grpSp>
    </p:spTree>
    <p:extLst>
      <p:ext uri="{BB962C8B-B14F-4D97-AF65-F5344CB8AC3E}">
        <p14:creationId xmlns:p14="http://schemas.microsoft.com/office/powerpoint/2010/main" val="27391917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>
            <a:extLst>
              <a:ext uri="{FF2B5EF4-FFF2-40B4-BE49-F238E27FC236}">
                <a16:creationId xmlns:a16="http://schemas.microsoft.com/office/drawing/2014/main" id="{83F26DA9-3909-5811-EA74-E70325DF76D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288192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306" imgH="306" progId="TCLayout.ActiveDocument.1">
                  <p:embed/>
                </p:oleObj>
              </mc:Choice>
              <mc:Fallback>
                <p:oleObj name="think-cell Slide" r:id="rId14" imgW="306" imgH="306" progId="TCLayout.ActiveDocument.1">
                  <p:embed/>
                  <p:pic>
                    <p:nvPicPr>
                      <p:cNvPr id="1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3F26DA9-3909-5811-EA74-E70325DF76D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5" name="Trapezoid 124">
            <a:extLst>
              <a:ext uri="{FF2B5EF4-FFF2-40B4-BE49-F238E27FC236}">
                <a16:creationId xmlns:a16="http://schemas.microsoft.com/office/drawing/2014/main" id="{870E2B1A-EAD9-B7DF-DC2F-292AF58E12D9}"/>
              </a:ext>
            </a:extLst>
          </p:cNvPr>
          <p:cNvSpPr/>
          <p:nvPr/>
        </p:nvSpPr>
        <p:spPr>
          <a:xfrm>
            <a:off x="407988" y="2714649"/>
            <a:ext cx="11376025" cy="695279"/>
          </a:xfrm>
          <a:prstGeom prst="trapezoid">
            <a:avLst>
              <a:gd name="adj" fmla="val 63284"/>
            </a:avLst>
          </a:prstGeom>
          <a:gradFill flip="none" rotWithShape="1">
            <a:gsLst>
              <a:gs pos="0">
                <a:srgbClr val="002733">
                  <a:alpha val="0"/>
                </a:srgbClr>
              </a:gs>
              <a:gs pos="80000">
                <a:schemeClr val="accent2">
                  <a:lumMod val="95000"/>
                  <a:lumOff val="5000"/>
                  <a:alpha val="43000"/>
                </a:schemeClr>
              </a:gs>
              <a:gs pos="100000">
                <a:schemeClr val="accent2">
                  <a:lumMod val="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he Group TEXT"/>
              <a:ea typeface="+mn-ea"/>
              <a:cs typeface="+mn-cs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E6E21CB-1DCC-9B0F-3345-106877EACB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6400" y="1056085"/>
            <a:ext cx="11380751" cy="553998"/>
          </a:xfrm>
        </p:spPr>
        <p:txBody>
          <a:bodyPr/>
          <a:lstStyle/>
          <a:p>
            <a:r>
              <a:rPr lang="en-US"/>
              <a:t>The </a:t>
            </a:r>
            <a:r>
              <a:rPr lang="en-US">
                <a:solidFill>
                  <a:srgbClr val="C2FE06"/>
                </a:solidFill>
              </a:rPr>
              <a:t>product</a:t>
            </a:r>
            <a:r>
              <a:rPr lang="en-US"/>
              <a:t> </a:t>
            </a:r>
            <a:r>
              <a:rPr lang="en-US">
                <a:solidFill>
                  <a:srgbClr val="C2FE06"/>
                </a:solidFill>
              </a:rPr>
              <a:t>roadmap</a:t>
            </a:r>
            <a:r>
              <a:rPr lang="en-US"/>
              <a:t> is defined based on the </a:t>
            </a:r>
            <a:r>
              <a:rPr lang="en-US">
                <a:solidFill>
                  <a:srgbClr val="C2FE06"/>
                </a:solidFill>
              </a:rPr>
              <a:t>long‑term vision</a:t>
            </a:r>
            <a:r>
              <a:rPr lang="en-US"/>
              <a:t>, while remaining </a:t>
            </a:r>
            <a:r>
              <a:rPr lang="en-US">
                <a:solidFill>
                  <a:srgbClr val="C2FE06"/>
                </a:solidFill>
              </a:rPr>
              <a:t>flexible</a:t>
            </a:r>
            <a:r>
              <a:rPr lang="en-US"/>
              <a:t> to </a:t>
            </a:r>
            <a:r>
              <a:rPr lang="en-US">
                <a:solidFill>
                  <a:srgbClr val="C2FE06"/>
                </a:solidFill>
              </a:rPr>
              <a:t>adapt</a:t>
            </a:r>
            <a:r>
              <a:rPr lang="en-US"/>
              <a:t> to </a:t>
            </a:r>
            <a:r>
              <a:rPr lang="en-US">
                <a:solidFill>
                  <a:srgbClr val="C2FE06"/>
                </a:solidFill>
              </a:rPr>
              <a:t>key</a:t>
            </a:r>
            <a:r>
              <a:rPr lang="en-US"/>
              <a:t> </a:t>
            </a:r>
            <a:r>
              <a:rPr lang="en-US">
                <a:solidFill>
                  <a:srgbClr val="C2FE06"/>
                </a:solidFill>
              </a:rPr>
              <a:t>external</a:t>
            </a:r>
            <a:r>
              <a:rPr lang="en-US"/>
              <a:t> </a:t>
            </a:r>
            <a:r>
              <a:rPr lang="en-US">
                <a:solidFill>
                  <a:srgbClr val="C2FE06"/>
                </a:solidFill>
              </a:rPr>
              <a:t>dependencies</a:t>
            </a:r>
            <a:r>
              <a:rPr lang="en-US"/>
              <a:t> and the </a:t>
            </a:r>
            <a:r>
              <a:rPr lang="en-US">
                <a:solidFill>
                  <a:srgbClr val="C2FE06"/>
                </a:solidFill>
              </a:rPr>
              <a:t>architecture</a:t>
            </a:r>
            <a:r>
              <a:rPr lang="en-US"/>
              <a:t> </a:t>
            </a:r>
            <a:r>
              <a:rPr lang="en-US">
                <a:solidFill>
                  <a:srgbClr val="C2FE06"/>
                </a:solidFill>
              </a:rPr>
              <a:t>roadmap</a:t>
            </a:r>
            <a:r>
              <a:rPr lang="en-US"/>
              <a:t>, ensuring a constant learning.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3DB8407-DFCC-C4BD-3784-27670293A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>
            <a:spAutoFit/>
          </a:bodyPr>
          <a:lstStyle/>
          <a:p>
            <a:r>
              <a:rPr lang="en-US"/>
              <a:t>ReCall2 | Product Vision &amp; Roadmap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270454E-E33E-8EA1-B74E-670EDAFFC26B}"/>
              </a:ext>
            </a:extLst>
          </p:cNvPr>
          <p:cNvGrpSpPr/>
          <p:nvPr/>
        </p:nvGrpSpPr>
        <p:grpSpPr>
          <a:xfrm>
            <a:off x="407988" y="6142407"/>
            <a:ext cx="11376023" cy="577286"/>
            <a:chOff x="407988" y="6142407"/>
            <a:chExt cx="11376023" cy="577286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358CE63-31A0-1BC5-3745-C9286A8B3AC9}"/>
                </a:ext>
              </a:extLst>
            </p:cNvPr>
            <p:cNvSpPr txBox="1"/>
            <p:nvPr/>
          </p:nvSpPr>
          <p:spPr>
            <a:xfrm>
              <a:off x="407988" y="6165695"/>
              <a:ext cx="11376023" cy="55399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he Group TEXT"/>
                  <a:ea typeface="+mn-ea"/>
                  <a:cs typeface="+mn-cs"/>
                </a:rPr>
                <a:t>Due to </a:t>
              </a: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C2FE06"/>
                  </a:solidFill>
                  <a:effectLst/>
                  <a:uLnTx/>
                  <a:uFillTx/>
                  <a:latin typeface="The Group TEXT"/>
                  <a:ea typeface="+mn-ea"/>
                  <a:cs typeface="+mn-cs"/>
                </a:rPr>
                <a:t>key dependencies</a:t>
              </a: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he Group TEXT"/>
                  <a:ea typeface="+mn-ea"/>
                  <a:cs typeface="+mn-cs"/>
                </a:rPr>
                <a:t>, the </a:t>
              </a: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C2FE06"/>
                  </a:solidFill>
                  <a:effectLst/>
                  <a:uLnTx/>
                  <a:uFillTx/>
                  <a:latin typeface="The Group TEXT"/>
                  <a:ea typeface="+mn-ea"/>
                  <a:cs typeface="+mn-cs"/>
                </a:rPr>
                <a:t>roadmap</a:t>
              </a: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he Group TEXT"/>
                  <a:ea typeface="+mn-ea"/>
                  <a:cs typeface="+mn-cs"/>
                </a:rPr>
                <a:t> will be </a:t>
              </a: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C2FE06"/>
                  </a:solidFill>
                  <a:effectLst/>
                  <a:uLnTx/>
                  <a:uFillTx/>
                  <a:latin typeface="The Group TEXT"/>
                  <a:ea typeface="+mn-ea"/>
                  <a:cs typeface="+mn-cs"/>
                </a:rPr>
                <a:t>reviewed</a:t>
              </a: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he Group TEXT"/>
                  <a:ea typeface="+mn-ea"/>
                  <a:cs typeface="+mn-cs"/>
                </a:rPr>
                <a:t> and </a:t>
              </a: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C2FE06"/>
                  </a:solidFill>
                  <a:effectLst/>
                  <a:uLnTx/>
                  <a:uFillTx/>
                  <a:latin typeface="The Group TEXT"/>
                  <a:ea typeface="+mn-ea"/>
                  <a:cs typeface="+mn-cs"/>
                </a:rPr>
                <a:t>refined</a:t>
              </a: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he Group TEXT"/>
                  <a:ea typeface="+mn-ea"/>
                  <a:cs typeface="+mn-cs"/>
                </a:rPr>
                <a:t> </a:t>
              </a: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C2FE06"/>
                  </a:solidFill>
                  <a:effectLst/>
                  <a:uLnTx/>
                  <a:uFillTx/>
                  <a:latin typeface="The Group TEXT"/>
                  <a:ea typeface="+mn-ea"/>
                  <a:cs typeface="+mn-cs"/>
                </a:rPr>
                <a:t>quarterly</a:t>
              </a: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he Group TEXT"/>
                  <a:ea typeface="+mn-ea"/>
                  <a:cs typeface="+mn-cs"/>
                </a:rPr>
                <a:t>,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he Group TEXT"/>
                  <a:ea typeface="+mn-ea"/>
                  <a:cs typeface="+mn-cs"/>
                </a:rPr>
                <a:t>while </a:t>
              </a: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C2FE06"/>
                  </a:solidFill>
                  <a:effectLst/>
                  <a:uLnTx/>
                  <a:uFillTx/>
                  <a:latin typeface="The Group TEXT"/>
                  <a:ea typeface="+mn-ea"/>
                  <a:cs typeface="+mn-cs"/>
                </a:rPr>
                <a:t>safeguarding</a:t>
              </a: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he Group TEXT"/>
                  <a:ea typeface="+mn-ea"/>
                  <a:cs typeface="+mn-cs"/>
                </a:rPr>
                <a:t> the long-term </a:t>
              </a: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C2FE06"/>
                  </a:solidFill>
                  <a:effectLst/>
                  <a:uLnTx/>
                  <a:uFillTx/>
                  <a:latin typeface="The Group TEXT"/>
                  <a:ea typeface="+mn-ea"/>
                  <a:cs typeface="+mn-cs"/>
                </a:rPr>
                <a:t>product</a:t>
              </a: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he Group TEXT"/>
                  <a:ea typeface="+mn-ea"/>
                  <a:cs typeface="+mn-cs"/>
                </a:rPr>
                <a:t> </a:t>
              </a: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C2FE06"/>
                  </a:solidFill>
                  <a:effectLst/>
                  <a:uLnTx/>
                  <a:uFillTx/>
                  <a:latin typeface="The Group TEXT"/>
                  <a:ea typeface="+mn-ea"/>
                  <a:cs typeface="+mn-cs"/>
                </a:rPr>
                <a:t>vision</a:t>
              </a: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he Group TEXT"/>
                  <a:ea typeface="+mn-ea"/>
                  <a:cs typeface="+mn-cs"/>
                </a:rPr>
                <a:t>.</a:t>
              </a: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he Group TEXT"/>
                <a:ea typeface="+mn-ea"/>
                <a:cs typeface="+mn-cs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779FFA47-15B4-571D-1C1F-4205A0530B42}"/>
                </a:ext>
              </a:extLst>
            </p:cNvPr>
            <p:cNvGrpSpPr/>
            <p:nvPr/>
          </p:nvGrpSpPr>
          <p:grpSpPr>
            <a:xfrm>
              <a:off x="1471613" y="6142407"/>
              <a:ext cx="517944" cy="517944"/>
              <a:chOff x="1953897" y="5312374"/>
              <a:chExt cx="517944" cy="517944"/>
            </a:xfrm>
          </p:grpSpPr>
          <p:pic>
            <p:nvPicPr>
              <p:cNvPr id="10" name="Graphic 9" descr="Exclamation mark with solid fill">
                <a:extLst>
                  <a:ext uri="{FF2B5EF4-FFF2-40B4-BE49-F238E27FC236}">
                    <a16:creationId xmlns:a16="http://schemas.microsoft.com/office/drawing/2014/main" id="{644C8B67-F267-BBCE-4A0D-74A43FC487A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rcRect/>
              <a:stretch/>
            </p:blipFill>
            <p:spPr>
              <a:xfrm flipH="1">
                <a:off x="2006389" y="5364866"/>
                <a:ext cx="412960" cy="412960"/>
              </a:xfrm>
              <a:prstGeom prst="rect">
                <a:avLst/>
              </a:prstGeom>
            </p:spPr>
          </p:pic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72DF0197-AD74-8324-BE4E-B21BC6537863}"/>
                  </a:ext>
                </a:extLst>
              </p:cNvPr>
              <p:cNvSpPr/>
              <p:nvPr/>
            </p:nvSpPr>
            <p:spPr>
              <a:xfrm>
                <a:off x="1953897" y="5312374"/>
                <a:ext cx="517944" cy="517944"/>
              </a:xfrm>
              <a:prstGeom prst="ellipse">
                <a:avLst/>
              </a:prstGeom>
              <a:noFill/>
              <a:ln>
                <a:solidFill>
                  <a:srgbClr val="C2FE0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0000" tIns="180000" rIns="180000" bIns="1800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he Group TEXT"/>
                  <a:ea typeface="+mn-ea"/>
                  <a:cs typeface="+mn-cs"/>
                </a:endParaRPr>
              </a:p>
            </p:txBody>
          </p:sp>
        </p:grpSp>
      </p:grp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853BFE6-072F-353A-FF80-034891C8B0C0}"/>
              </a:ext>
            </a:extLst>
          </p:cNvPr>
          <p:cNvSpPr/>
          <p:nvPr/>
        </p:nvSpPr>
        <p:spPr>
          <a:xfrm>
            <a:off x="405625" y="1857024"/>
            <a:ext cx="11380750" cy="242925"/>
          </a:xfrm>
          <a:prstGeom prst="roundRect">
            <a:avLst/>
          </a:prstGeom>
          <a:gradFill flip="none" rotWithShape="1">
            <a:gsLst>
              <a:gs pos="0">
                <a:srgbClr val="002733">
                  <a:alpha val="90000"/>
                </a:srgbClr>
              </a:gs>
              <a:gs pos="50000">
                <a:schemeClr val="accent2"/>
              </a:gs>
              <a:gs pos="100000">
                <a:schemeClr val="bg2">
                  <a:alpha val="9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85000"/>
                  </a:srgbClr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Product Vision 2026 &amp; 2027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4B216A3-E538-F0B8-9031-C141211A77B2}"/>
              </a:ext>
            </a:extLst>
          </p:cNvPr>
          <p:cNvSpPr/>
          <p:nvPr/>
        </p:nvSpPr>
        <p:spPr>
          <a:xfrm>
            <a:off x="3686829" y="2149835"/>
            <a:ext cx="2420782" cy="54672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08000" rIns="180000" bIns="180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8C82">
                    <a:lumMod val="40000"/>
                    <a:lumOff val="60000"/>
                  </a:srgbClr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Architecture Roadmap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485BB91-4CE8-B191-7D4D-A3883FC4FE3C}"/>
              </a:ext>
            </a:extLst>
          </p:cNvPr>
          <p:cNvSpPr/>
          <p:nvPr/>
        </p:nvSpPr>
        <p:spPr>
          <a:xfrm>
            <a:off x="6333191" y="2149835"/>
            <a:ext cx="2420782" cy="54672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08000" rIns="180000" bIns="180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8C82">
                    <a:lumMod val="40000"/>
                    <a:lumOff val="60000"/>
                  </a:srgbClr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Enrichment of existing functions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874FC5F-1232-4C72-59E5-B9C6F7A60119}"/>
              </a:ext>
            </a:extLst>
          </p:cNvPr>
          <p:cNvSpPr/>
          <p:nvPr/>
        </p:nvSpPr>
        <p:spPr>
          <a:xfrm>
            <a:off x="8784508" y="2148637"/>
            <a:ext cx="2420782" cy="54672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08000" rIns="180000" bIns="180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8C82">
                    <a:lumMod val="40000"/>
                    <a:lumOff val="60000"/>
                  </a:srgbClr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New Markets &amp; Brands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4158816-DAD5-2F23-BE98-C550B2696A08}"/>
              </a:ext>
            </a:extLst>
          </p:cNvPr>
          <p:cNvSpPr/>
          <p:nvPr/>
        </p:nvSpPr>
        <p:spPr>
          <a:xfrm>
            <a:off x="1265969" y="2157523"/>
            <a:ext cx="2420782" cy="54672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08000" rIns="180000" bIns="180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8C82">
                    <a:lumMod val="40000"/>
                    <a:lumOff val="60000"/>
                  </a:srgbClr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New vehicle architecture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7E34FA7-D59B-809E-B2BD-32C8A1009F2C}"/>
              </a:ext>
            </a:extLst>
          </p:cNvPr>
          <p:cNvSpPr/>
          <p:nvPr/>
        </p:nvSpPr>
        <p:spPr>
          <a:xfrm>
            <a:off x="508037" y="5300304"/>
            <a:ext cx="3672416" cy="792363"/>
          </a:xfrm>
          <a:prstGeom prst="roundRect">
            <a:avLst>
              <a:gd name="adj" fmla="val 8835"/>
            </a:avLst>
          </a:prstGeom>
          <a:solidFill>
            <a:srgbClr val="002733"/>
          </a:solidFill>
          <a:ln w="19050">
            <a:solidFill>
              <a:schemeClr val="tx2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72000" rIns="180000" bIns="72000" rtlCol="0" anchor="ctr"/>
          <a:lstStyle/>
          <a:p>
            <a:pPr marL="85725" marR="0" lvl="0" indent="-857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Clean up the logs</a:t>
            </a:r>
          </a:p>
          <a:p>
            <a:pPr marL="85725" marR="0" lvl="0" indent="-857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One Database unification</a:t>
            </a:r>
          </a:p>
          <a:p>
            <a:pPr marL="85725" marR="0" lvl="0" indent="-857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Planning and sequencing for engine jobs</a:t>
            </a:r>
          </a:p>
          <a:p>
            <a:pPr marL="85725" marR="0" lvl="0" indent="-857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Specification of data base/SQL parameters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171FD904-6EFF-F685-C8FE-E4BE8A5224D8}"/>
              </a:ext>
            </a:extLst>
          </p:cNvPr>
          <p:cNvGrpSpPr/>
          <p:nvPr/>
        </p:nvGrpSpPr>
        <p:grpSpPr>
          <a:xfrm>
            <a:off x="433419" y="3005138"/>
            <a:ext cx="11672554" cy="437042"/>
            <a:chOff x="697021" y="3932597"/>
            <a:chExt cx="11672554" cy="437042"/>
          </a:xfrm>
        </p:grpSpPr>
        <p:cxnSp>
          <p:nvCxnSpPr>
            <p:cNvPr id="28" name="Straight Arrow Connector 10">
              <a:extLst>
                <a:ext uri="{FF2B5EF4-FFF2-40B4-BE49-F238E27FC236}">
                  <a16:creationId xmlns:a16="http://schemas.microsoft.com/office/drawing/2014/main" id="{31F8ABD9-0210-4FCE-38AA-48627700534A}"/>
                </a:ext>
              </a:extLst>
            </p:cNvPr>
            <p:cNvCxnSpPr>
              <a:cxnSpLocks/>
            </p:cNvCxnSpPr>
            <p:nvPr/>
          </p:nvCxnSpPr>
          <p:spPr>
            <a:xfrm>
              <a:off x="771639" y="4240373"/>
              <a:ext cx="11250545" cy="0"/>
            </a:xfrm>
            <a:prstGeom prst="straightConnector1">
              <a:avLst/>
            </a:prstGeom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2" name="Straight Connector 34">
              <a:extLst>
                <a:ext uri="{FF2B5EF4-FFF2-40B4-BE49-F238E27FC236}">
                  <a16:creationId xmlns:a16="http://schemas.microsoft.com/office/drawing/2014/main" id="{B586A893-E04E-C300-DFE9-BF38C0D99E9A}"/>
                </a:ext>
              </a:extLst>
            </p:cNvPr>
            <p:cNvCxnSpPr>
              <a:cxnSpLocks/>
            </p:cNvCxnSpPr>
            <p:nvPr/>
          </p:nvCxnSpPr>
          <p:spPr>
            <a:xfrm>
              <a:off x="2646730" y="4065830"/>
              <a:ext cx="0" cy="28800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sm"/>
              <a:tailEnd type="none" w="med" len="sm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33" name="Straight Connector 114">
              <a:extLst>
                <a:ext uri="{FF2B5EF4-FFF2-40B4-BE49-F238E27FC236}">
                  <a16:creationId xmlns:a16="http://schemas.microsoft.com/office/drawing/2014/main" id="{9278D499-721E-BB7D-C831-DA036508EECD}"/>
                </a:ext>
              </a:extLst>
            </p:cNvPr>
            <p:cNvCxnSpPr>
              <a:cxnSpLocks/>
            </p:cNvCxnSpPr>
            <p:nvPr/>
          </p:nvCxnSpPr>
          <p:spPr>
            <a:xfrm>
              <a:off x="4521821" y="4065830"/>
              <a:ext cx="0" cy="28800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sm"/>
              <a:tailEnd type="none" w="med" len="sm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36" name="Straight Connector 114">
              <a:extLst>
                <a:ext uri="{FF2B5EF4-FFF2-40B4-BE49-F238E27FC236}">
                  <a16:creationId xmlns:a16="http://schemas.microsoft.com/office/drawing/2014/main" id="{946283D2-C9FD-2341-0E04-C21D65B53D97}"/>
                </a:ext>
              </a:extLst>
            </p:cNvPr>
            <p:cNvCxnSpPr>
              <a:cxnSpLocks/>
            </p:cNvCxnSpPr>
            <p:nvPr/>
          </p:nvCxnSpPr>
          <p:spPr>
            <a:xfrm>
              <a:off x="8272003" y="4065830"/>
              <a:ext cx="0" cy="28800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sm"/>
              <a:tailEnd type="none" w="med" len="sm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37" name="Straight Connector 114">
              <a:extLst>
                <a:ext uri="{FF2B5EF4-FFF2-40B4-BE49-F238E27FC236}">
                  <a16:creationId xmlns:a16="http://schemas.microsoft.com/office/drawing/2014/main" id="{2064B449-5EAE-1689-ACCC-8AFE688BB074}"/>
                </a:ext>
              </a:extLst>
            </p:cNvPr>
            <p:cNvCxnSpPr>
              <a:cxnSpLocks/>
            </p:cNvCxnSpPr>
            <p:nvPr/>
          </p:nvCxnSpPr>
          <p:spPr>
            <a:xfrm>
              <a:off x="10147094" y="4065830"/>
              <a:ext cx="0" cy="28800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sm"/>
              <a:tailEnd type="none" w="med" len="sm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sp>
          <p:nvSpPr>
            <p:cNvPr id="42" name="TextBox 117">
              <a:extLst>
                <a:ext uri="{FF2B5EF4-FFF2-40B4-BE49-F238E27FC236}">
                  <a16:creationId xmlns:a16="http://schemas.microsoft.com/office/drawing/2014/main" id="{CF6DD455-BF35-BE05-39E2-6880C51D2297}"/>
                </a:ext>
              </a:extLst>
            </p:cNvPr>
            <p:cNvSpPr txBox="1"/>
            <p:nvPr/>
          </p:nvSpPr>
          <p:spPr>
            <a:xfrm>
              <a:off x="1346691" y="3932597"/>
              <a:ext cx="844407" cy="30777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C2FE06"/>
                  </a:solidFill>
                  <a:effectLst/>
                  <a:uLnTx/>
                  <a:uFillTx/>
                  <a:latin typeface="The Group TEX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43" name="TextBox 118">
              <a:extLst>
                <a:ext uri="{FF2B5EF4-FFF2-40B4-BE49-F238E27FC236}">
                  <a16:creationId xmlns:a16="http://schemas.microsoft.com/office/drawing/2014/main" id="{E752F102-0FD5-1BF1-E589-A23AF903874A}"/>
                </a:ext>
              </a:extLst>
            </p:cNvPr>
            <p:cNvSpPr txBox="1"/>
            <p:nvPr/>
          </p:nvSpPr>
          <p:spPr>
            <a:xfrm>
              <a:off x="3341202" y="3932597"/>
              <a:ext cx="773649" cy="30777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C2FE06"/>
                  </a:solidFill>
                  <a:effectLst/>
                  <a:uLnTx/>
                  <a:uFillTx/>
                  <a:latin typeface="The Group TEX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44" name="TextBox 119">
              <a:extLst>
                <a:ext uri="{FF2B5EF4-FFF2-40B4-BE49-F238E27FC236}">
                  <a16:creationId xmlns:a16="http://schemas.microsoft.com/office/drawing/2014/main" id="{F063A12C-9D87-2CAB-C9F1-B49F2ECE3D44}"/>
                </a:ext>
              </a:extLst>
            </p:cNvPr>
            <p:cNvSpPr txBox="1"/>
            <p:nvPr/>
          </p:nvSpPr>
          <p:spPr>
            <a:xfrm>
              <a:off x="5264955" y="3932597"/>
              <a:ext cx="539607" cy="30777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C2FE06"/>
                  </a:solidFill>
                  <a:effectLst/>
                  <a:uLnTx/>
                  <a:uFillTx/>
                  <a:latin typeface="The Group TEX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45" name="TextBox 119">
              <a:extLst>
                <a:ext uri="{FF2B5EF4-FFF2-40B4-BE49-F238E27FC236}">
                  <a16:creationId xmlns:a16="http://schemas.microsoft.com/office/drawing/2014/main" id="{E6B74D3C-886A-85A4-4589-42E2F4F65EA0}"/>
                </a:ext>
              </a:extLst>
            </p:cNvPr>
            <p:cNvSpPr txBox="1"/>
            <p:nvPr/>
          </p:nvSpPr>
          <p:spPr>
            <a:xfrm>
              <a:off x="6954666" y="3932597"/>
              <a:ext cx="735550" cy="30777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C2FE06"/>
                  </a:solidFill>
                  <a:effectLst/>
                  <a:uLnTx/>
                  <a:uFillTx/>
                  <a:latin typeface="The Group TEX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46" name="TextBox 119">
              <a:extLst>
                <a:ext uri="{FF2B5EF4-FFF2-40B4-BE49-F238E27FC236}">
                  <a16:creationId xmlns:a16="http://schemas.microsoft.com/office/drawing/2014/main" id="{AE881265-1ED2-BE4F-17E8-CF432E24CB26}"/>
                </a:ext>
              </a:extLst>
            </p:cNvPr>
            <p:cNvSpPr txBox="1"/>
            <p:nvPr/>
          </p:nvSpPr>
          <p:spPr>
            <a:xfrm>
              <a:off x="8840320" y="3932597"/>
              <a:ext cx="539607" cy="30777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C2FE06"/>
                  </a:solidFill>
                  <a:effectLst/>
                  <a:uLnTx/>
                  <a:uFillTx/>
                  <a:latin typeface="The Group TEX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47" name="TextBox 119">
              <a:extLst>
                <a:ext uri="{FF2B5EF4-FFF2-40B4-BE49-F238E27FC236}">
                  <a16:creationId xmlns:a16="http://schemas.microsoft.com/office/drawing/2014/main" id="{42C0CC9D-50A5-F768-7B1E-3B0F89C321C6}"/>
                </a:ext>
              </a:extLst>
            </p:cNvPr>
            <p:cNvSpPr txBox="1"/>
            <p:nvPr/>
          </p:nvSpPr>
          <p:spPr>
            <a:xfrm>
              <a:off x="10530031" y="3932597"/>
              <a:ext cx="917101" cy="30777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C2FE06"/>
                  </a:solidFill>
                  <a:effectLst/>
                  <a:uLnTx/>
                  <a:uFillTx/>
                  <a:latin typeface="The Group TEXT"/>
                  <a:ea typeface="+mn-ea"/>
                  <a:cs typeface="+mn-cs"/>
                </a:rPr>
                <a:t>Q4</a:t>
              </a:r>
            </a:p>
          </p:txBody>
        </p:sp>
        <p:cxnSp>
          <p:nvCxnSpPr>
            <p:cNvPr id="48" name="Straight Connector 114">
              <a:extLst>
                <a:ext uri="{FF2B5EF4-FFF2-40B4-BE49-F238E27FC236}">
                  <a16:creationId xmlns:a16="http://schemas.microsoft.com/office/drawing/2014/main" id="{BFB2F0E2-29A0-AD50-7D94-86FDCC0418A1}"/>
                </a:ext>
              </a:extLst>
            </p:cNvPr>
            <p:cNvCxnSpPr>
              <a:cxnSpLocks/>
            </p:cNvCxnSpPr>
            <p:nvPr/>
          </p:nvCxnSpPr>
          <p:spPr>
            <a:xfrm>
              <a:off x="6396912" y="4065830"/>
              <a:ext cx="0" cy="28800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sm"/>
              <a:tailEnd type="none" w="med" len="sm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sp>
          <p:nvSpPr>
            <p:cNvPr id="49" name="TextBox 38">
              <a:extLst>
                <a:ext uri="{FF2B5EF4-FFF2-40B4-BE49-F238E27FC236}">
                  <a16:creationId xmlns:a16="http://schemas.microsoft.com/office/drawing/2014/main" id="{D1A5C89D-8DED-3FFB-1A82-EAF75F64C5AF}"/>
                </a:ext>
              </a:extLst>
            </p:cNvPr>
            <p:cNvSpPr txBox="1"/>
            <p:nvPr/>
          </p:nvSpPr>
          <p:spPr>
            <a:xfrm>
              <a:off x="4522477" y="3979419"/>
              <a:ext cx="573690" cy="24622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>
                      <a:lumMod val="85000"/>
                    </a:srgbClr>
                  </a:solidFill>
                  <a:effectLst/>
                  <a:uLnTx/>
                  <a:uFillTx/>
                  <a:latin typeface="The Group TEXT"/>
                  <a:ea typeface="+mn-ea"/>
                  <a:cs typeface="+mn-cs"/>
                </a:rPr>
                <a:t>2027</a:t>
              </a:r>
            </a:p>
          </p:txBody>
        </p:sp>
        <p:sp>
          <p:nvSpPr>
            <p:cNvPr id="50" name="TextBox 38">
              <a:extLst>
                <a:ext uri="{FF2B5EF4-FFF2-40B4-BE49-F238E27FC236}">
                  <a16:creationId xmlns:a16="http://schemas.microsoft.com/office/drawing/2014/main" id="{972FA3F0-29C0-A011-39BD-6BE3A1F9C10D}"/>
                </a:ext>
              </a:extLst>
            </p:cNvPr>
            <p:cNvSpPr txBox="1"/>
            <p:nvPr/>
          </p:nvSpPr>
          <p:spPr>
            <a:xfrm>
              <a:off x="11795885" y="3979419"/>
              <a:ext cx="573690" cy="24622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>
                      <a:lumMod val="85000"/>
                    </a:srgbClr>
                  </a:solidFill>
                  <a:effectLst/>
                  <a:uLnTx/>
                  <a:uFillTx/>
                  <a:latin typeface="The Group TEXT"/>
                  <a:ea typeface="+mn-ea"/>
                  <a:cs typeface="+mn-cs"/>
                </a:rPr>
                <a:t>2028</a:t>
              </a:r>
            </a:p>
          </p:txBody>
        </p:sp>
        <p:sp>
          <p:nvSpPr>
            <p:cNvPr id="51" name="TextBox 38">
              <a:extLst>
                <a:ext uri="{FF2B5EF4-FFF2-40B4-BE49-F238E27FC236}">
                  <a16:creationId xmlns:a16="http://schemas.microsoft.com/office/drawing/2014/main" id="{103C428F-2C98-AA37-6F12-15C874E400D5}"/>
                </a:ext>
              </a:extLst>
            </p:cNvPr>
            <p:cNvSpPr txBox="1"/>
            <p:nvPr/>
          </p:nvSpPr>
          <p:spPr>
            <a:xfrm>
              <a:off x="697021" y="3979419"/>
              <a:ext cx="573690" cy="24622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>
                      <a:lumMod val="85000"/>
                    </a:srgbClr>
                  </a:solidFill>
                  <a:effectLst/>
                  <a:uLnTx/>
                  <a:uFillTx/>
                  <a:latin typeface="The Group TEXT"/>
                  <a:ea typeface="+mn-ea"/>
                  <a:cs typeface="+mn-cs"/>
                </a:rPr>
                <a:t>2026</a:t>
              </a:r>
            </a:p>
          </p:txBody>
        </p:sp>
        <p:cxnSp>
          <p:nvCxnSpPr>
            <p:cNvPr id="6" name="Straight Connector 114">
              <a:extLst>
                <a:ext uri="{FF2B5EF4-FFF2-40B4-BE49-F238E27FC236}">
                  <a16:creationId xmlns:a16="http://schemas.microsoft.com/office/drawing/2014/main" id="{483D459F-2467-49B6-84F7-A00AFA1FD20A}"/>
                </a:ext>
              </a:extLst>
            </p:cNvPr>
            <p:cNvCxnSpPr>
              <a:cxnSpLocks/>
            </p:cNvCxnSpPr>
            <p:nvPr/>
          </p:nvCxnSpPr>
          <p:spPr>
            <a:xfrm>
              <a:off x="11805321" y="4081639"/>
              <a:ext cx="0" cy="28800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sm"/>
              <a:tailEnd type="none" w="med" len="sm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10" name="Rectangle 161">
            <a:extLst>
              <a:ext uri="{FF2B5EF4-FFF2-40B4-BE49-F238E27FC236}">
                <a16:creationId xmlns:a16="http://schemas.microsoft.com/office/drawing/2014/main" id="{DF73D45A-540F-D47F-D6C9-4189BC59A2D5}"/>
              </a:ext>
            </a:extLst>
          </p:cNvPr>
          <p:cNvSpPr/>
          <p:nvPr/>
        </p:nvSpPr>
        <p:spPr>
          <a:xfrm>
            <a:off x="526590" y="3759200"/>
            <a:ext cx="1778460" cy="1173160"/>
          </a:xfrm>
          <a:prstGeom prst="roundRect">
            <a:avLst>
              <a:gd name="adj" fmla="val 5612"/>
            </a:avLst>
          </a:prstGeom>
          <a:noFill/>
          <a:ln w="19050">
            <a:solidFill>
              <a:srgbClr val="007F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0" bIns="18000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Reporting </a:t>
            </a:r>
            <a:r>
              <a:rPr kumimoji="0" lang="de-DE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for</a:t>
            </a:r>
            <a:r>
              <a:rPr kumimoji="0" lang="de-DE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 </a:t>
            </a:r>
            <a:r>
              <a:rPr kumimoji="0" lang="de-DE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markets</a:t>
            </a:r>
            <a:r>
              <a:rPr kumimoji="0" lang="de-DE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 </a:t>
            </a:r>
            <a:br>
              <a:rPr kumimoji="0" lang="de-DE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</a:br>
            <a:r>
              <a:rPr kumimoji="0" lang="de-DE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(Prio 0)</a:t>
            </a:r>
          </a:p>
          <a:p>
            <a:pPr marL="180975" marR="0" lvl="0" indent="-88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Cloud Analytics </a:t>
            </a:r>
            <a:r>
              <a:rPr kumimoji="0" lang="de-DE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Platform</a:t>
            </a:r>
            <a:r>
              <a:rPr kumimoji="0" lang="de-DE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 (</a:t>
            </a:r>
            <a:r>
              <a:rPr kumimoji="0" lang="de-DE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aftersales</a:t>
            </a:r>
            <a:r>
              <a:rPr kumimoji="0" lang="de-DE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)</a:t>
            </a:r>
          </a:p>
          <a:p>
            <a:pPr marL="180975" marR="0" lvl="0" indent="-88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USA – </a:t>
            </a:r>
            <a:r>
              <a:rPr kumimoji="0" lang="de-DE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market</a:t>
            </a:r>
            <a:endParaRPr kumimoji="0" lang="de-DE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he Group TEXT"/>
              <a:ea typeface="+mn-ea"/>
              <a:cs typeface="+mn-cs"/>
            </a:endParaRPr>
          </a:p>
          <a:p>
            <a:pPr marL="180975" marR="0" lvl="0" indent="-88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France - </a:t>
            </a:r>
            <a:r>
              <a:rPr kumimoji="0" lang="de-DE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market</a:t>
            </a:r>
            <a:endParaRPr kumimoji="0" lang="de-DE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he Group TEX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he Group TEX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he Group TEXT"/>
              <a:ea typeface="+mn-ea"/>
              <a:cs typeface="+mn-cs"/>
            </a:endParaRPr>
          </a:p>
        </p:txBody>
      </p:sp>
      <p:sp>
        <p:nvSpPr>
          <p:cNvPr id="111" name="Rectangle 161">
            <a:extLst>
              <a:ext uri="{FF2B5EF4-FFF2-40B4-BE49-F238E27FC236}">
                <a16:creationId xmlns:a16="http://schemas.microsoft.com/office/drawing/2014/main" id="{9BA1327B-15EF-BC59-82C8-3C3E2937AEA9}"/>
              </a:ext>
            </a:extLst>
          </p:cNvPr>
          <p:cNvSpPr/>
          <p:nvPr/>
        </p:nvSpPr>
        <p:spPr>
          <a:xfrm>
            <a:off x="2405165" y="3759200"/>
            <a:ext cx="1778460" cy="1173160"/>
          </a:xfrm>
          <a:prstGeom prst="roundRect">
            <a:avLst>
              <a:gd name="adj" fmla="val 5612"/>
            </a:avLst>
          </a:prstGeom>
          <a:noFill/>
          <a:ln w="19050">
            <a:solidFill>
              <a:srgbClr val="007F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08000" rIns="36000" bIns="18000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he Group TEX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he Group TEXT"/>
              <a:ea typeface="+mn-ea"/>
              <a:cs typeface="+mn-cs"/>
            </a:endParaRPr>
          </a:p>
        </p:txBody>
      </p:sp>
      <p:sp>
        <p:nvSpPr>
          <p:cNvPr id="112" name="Rectangle 161">
            <a:extLst>
              <a:ext uri="{FF2B5EF4-FFF2-40B4-BE49-F238E27FC236}">
                <a16:creationId xmlns:a16="http://schemas.microsoft.com/office/drawing/2014/main" id="{22957FAC-0056-3163-CBCD-6CA6170F5E3E}"/>
              </a:ext>
            </a:extLst>
          </p:cNvPr>
          <p:cNvSpPr/>
          <p:nvPr/>
        </p:nvSpPr>
        <p:spPr>
          <a:xfrm>
            <a:off x="4284664" y="3759200"/>
            <a:ext cx="1778460" cy="1173160"/>
          </a:xfrm>
          <a:prstGeom prst="roundRect">
            <a:avLst>
              <a:gd name="adj" fmla="val 5612"/>
            </a:avLst>
          </a:prstGeom>
          <a:noFill/>
          <a:ln w="19050">
            <a:solidFill>
              <a:srgbClr val="007F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08000" rIns="36000" bIns="18000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he Group TEX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he Group TEXT"/>
              <a:ea typeface="+mn-ea"/>
              <a:cs typeface="+mn-cs"/>
            </a:endParaRPr>
          </a:p>
        </p:txBody>
      </p:sp>
      <p:sp>
        <p:nvSpPr>
          <p:cNvPr id="113" name="Rectangle 161">
            <a:extLst>
              <a:ext uri="{FF2B5EF4-FFF2-40B4-BE49-F238E27FC236}">
                <a16:creationId xmlns:a16="http://schemas.microsoft.com/office/drawing/2014/main" id="{92E70992-0282-5E30-017D-0E0CDF7BBAEA}"/>
              </a:ext>
            </a:extLst>
          </p:cNvPr>
          <p:cNvSpPr/>
          <p:nvPr/>
        </p:nvSpPr>
        <p:spPr>
          <a:xfrm>
            <a:off x="6163701" y="3759200"/>
            <a:ext cx="1778460" cy="1173162"/>
          </a:xfrm>
          <a:prstGeom prst="roundRect">
            <a:avLst>
              <a:gd name="adj" fmla="val 5612"/>
            </a:avLst>
          </a:prstGeom>
          <a:noFill/>
          <a:ln w="19050">
            <a:solidFill>
              <a:srgbClr val="007F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08000" rIns="36000" bIns="18000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he Group TEX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he Group TEXT"/>
              <a:ea typeface="+mn-ea"/>
              <a:cs typeface="+mn-cs"/>
            </a:endParaRPr>
          </a:p>
        </p:txBody>
      </p:sp>
      <p:sp>
        <p:nvSpPr>
          <p:cNvPr id="114" name="Rectangle 161">
            <a:extLst>
              <a:ext uri="{FF2B5EF4-FFF2-40B4-BE49-F238E27FC236}">
                <a16:creationId xmlns:a16="http://schemas.microsoft.com/office/drawing/2014/main" id="{94686462-D190-8539-7979-3E7E667A453C}"/>
              </a:ext>
            </a:extLst>
          </p:cNvPr>
          <p:cNvSpPr/>
          <p:nvPr/>
        </p:nvSpPr>
        <p:spPr>
          <a:xfrm>
            <a:off x="8042738" y="3759199"/>
            <a:ext cx="1778460" cy="1173161"/>
          </a:xfrm>
          <a:prstGeom prst="roundRect">
            <a:avLst>
              <a:gd name="adj" fmla="val 5612"/>
            </a:avLst>
          </a:prstGeom>
          <a:noFill/>
          <a:ln w="19050">
            <a:solidFill>
              <a:srgbClr val="007F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0" bIns="18000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Introduction of new brands</a:t>
            </a:r>
          </a:p>
          <a:p>
            <a:pPr marL="180975" marR="0" lvl="1" indent="-904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Scout</a:t>
            </a:r>
          </a:p>
          <a:p>
            <a:pPr marL="180975" marR="0" lvl="1" indent="-904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Moia</a:t>
            </a:r>
          </a:p>
        </p:txBody>
      </p:sp>
      <p:sp>
        <p:nvSpPr>
          <p:cNvPr id="115" name="Rectangle 161">
            <a:extLst>
              <a:ext uri="{FF2B5EF4-FFF2-40B4-BE49-F238E27FC236}">
                <a16:creationId xmlns:a16="http://schemas.microsoft.com/office/drawing/2014/main" id="{27C71F67-D478-14ED-CE98-8AF6925E9917}"/>
              </a:ext>
            </a:extLst>
          </p:cNvPr>
          <p:cNvSpPr/>
          <p:nvPr/>
        </p:nvSpPr>
        <p:spPr>
          <a:xfrm>
            <a:off x="9921774" y="3759199"/>
            <a:ext cx="1778460" cy="1173161"/>
          </a:xfrm>
          <a:prstGeom prst="roundRect">
            <a:avLst>
              <a:gd name="adj" fmla="val 5612"/>
            </a:avLst>
          </a:prstGeom>
          <a:noFill/>
          <a:ln w="19050">
            <a:solidFill>
              <a:srgbClr val="007F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0" bIns="180000" rtlCol="0" anchor="t"/>
          <a:lstStyle/>
          <a:p>
            <a:pPr marL="88900" marR="0" lvl="0" indent="-88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Replacement</a:t>
            </a:r>
            <a:r>
              <a:rPr kumimoji="0" lang="de-DE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 KVPS </a:t>
            </a:r>
            <a:r>
              <a:rPr kumimoji="0" lang="de-DE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by</a:t>
            </a:r>
            <a:r>
              <a:rPr kumimoji="0" lang="de-DE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 BCPM</a:t>
            </a:r>
          </a:p>
          <a:p>
            <a:pPr marL="88900" marR="0" lvl="0" indent="-88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End-</a:t>
            </a:r>
            <a:r>
              <a:rPr kumimoji="0" lang="de-DE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of</a:t>
            </a:r>
            <a:r>
              <a:rPr kumimoji="0" lang="de-DE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-</a:t>
            </a:r>
            <a:r>
              <a:rPr kumimoji="0" lang="de-DE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life</a:t>
            </a:r>
            <a:r>
              <a:rPr kumimoji="0" lang="de-DE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 </a:t>
            </a:r>
            <a:r>
              <a:rPr kumimoji="0" lang="de-DE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of</a:t>
            </a:r>
            <a:r>
              <a:rPr kumimoji="0" lang="de-DE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 CARPORT</a:t>
            </a:r>
          </a:p>
          <a:p>
            <a:pPr marL="88900" marR="0" lvl="0" indent="-88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End </a:t>
            </a:r>
            <a:r>
              <a:rPr kumimoji="0" lang="de-DE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of</a:t>
            </a:r>
            <a:r>
              <a:rPr kumimoji="0" lang="de-DE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 </a:t>
            </a:r>
            <a:r>
              <a:rPr kumimoji="0" lang="de-DE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usage</a:t>
            </a:r>
            <a:r>
              <a:rPr kumimoji="0" lang="de-DE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 IDAA</a:t>
            </a:r>
          </a:p>
          <a:p>
            <a:pPr marL="88900" marR="0" lvl="0" indent="-88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Replacement</a:t>
            </a:r>
            <a:r>
              <a:rPr kumimoji="0" lang="de-DE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 </a:t>
            </a:r>
            <a:r>
              <a:rPr kumimoji="0" lang="de-DE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of</a:t>
            </a:r>
            <a:r>
              <a:rPr kumimoji="0" lang="de-DE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 all </a:t>
            </a:r>
            <a:br>
              <a:rPr kumimoji="0" lang="de-DE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</a:br>
            <a:r>
              <a:rPr kumimoji="0" lang="de-DE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ORU-Interface </a:t>
            </a:r>
            <a:r>
              <a:rPr kumimoji="0" lang="de-DE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for</a:t>
            </a:r>
            <a:r>
              <a:rPr kumimoji="0" lang="de-DE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 all </a:t>
            </a:r>
            <a:r>
              <a:rPr kumimoji="0" lang="de-DE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generations</a:t>
            </a:r>
            <a:endParaRPr kumimoji="0" lang="de-DE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he Group TEX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he Group TEXT"/>
              <a:ea typeface="+mn-ea"/>
              <a:cs typeface="+mn-cs"/>
            </a:endParaRPr>
          </a:p>
        </p:txBody>
      </p:sp>
      <p:graphicFrame>
        <p:nvGraphicFramePr>
          <p:cNvPr id="116" name="Table 115">
            <a:extLst>
              <a:ext uri="{FF2B5EF4-FFF2-40B4-BE49-F238E27FC236}">
                <a16:creationId xmlns:a16="http://schemas.microsoft.com/office/drawing/2014/main" id="{D188793E-565D-904D-6AFA-AAC903EBA248}"/>
              </a:ext>
            </a:extLst>
          </p:cNvPr>
          <p:cNvGraphicFramePr>
            <a:graphicFrameLocks noGrp="1"/>
          </p:cNvGraphicFramePr>
          <p:nvPr/>
        </p:nvGraphicFramePr>
        <p:xfrm>
          <a:off x="2457553" y="3803650"/>
          <a:ext cx="1671626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2681">
                  <a:extLst>
                    <a:ext uri="{9D8B030D-6E8A-4147-A177-3AD203B41FA5}">
                      <a16:colId xmlns:a16="http://schemas.microsoft.com/office/drawing/2014/main" val="3413978779"/>
                    </a:ext>
                  </a:extLst>
                </a:gridCol>
                <a:gridCol w="1188945">
                  <a:extLst>
                    <a:ext uri="{9D8B030D-6E8A-4147-A177-3AD203B41FA5}">
                      <a16:colId xmlns:a16="http://schemas.microsoft.com/office/drawing/2014/main" val="6751052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sz="1000" b="1">
                          <a:solidFill>
                            <a:srgbClr val="C2FE06"/>
                          </a:solidFill>
                        </a:rPr>
                        <a:t>31.12</a:t>
                      </a:r>
                      <a:r>
                        <a:rPr lang="en-GB" sz="1000">
                          <a:solidFill>
                            <a:srgbClr val="C2FE06"/>
                          </a:solidFill>
                        </a:rPr>
                        <a:t>. </a:t>
                      </a:r>
                      <a:endParaRPr lang="en-US" sz="1000">
                        <a:solidFill>
                          <a:srgbClr val="C2FE06"/>
                        </a:solidFill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00">
                          <a:solidFill>
                            <a:schemeClr val="tx2"/>
                          </a:solidFill>
                        </a:rPr>
                        <a:t>Authentication methods for Business Contract Partner Mgmt. (BCPM) and Group Retail Portal </a:t>
                      </a:r>
                      <a:endParaRPr lang="en-US" sz="1000"/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24796212"/>
                  </a:ext>
                </a:extLst>
              </a:tr>
            </a:tbl>
          </a:graphicData>
        </a:graphic>
      </p:graphicFrame>
      <p:graphicFrame>
        <p:nvGraphicFramePr>
          <p:cNvPr id="117" name="Table 116">
            <a:extLst>
              <a:ext uri="{FF2B5EF4-FFF2-40B4-BE49-F238E27FC236}">
                <a16:creationId xmlns:a16="http://schemas.microsoft.com/office/drawing/2014/main" id="{10DBE120-0800-EB0C-64B6-D2B0F306D5CB}"/>
              </a:ext>
            </a:extLst>
          </p:cNvPr>
          <p:cNvGraphicFramePr>
            <a:graphicFrameLocks noGrp="1"/>
          </p:cNvGraphicFramePr>
          <p:nvPr/>
        </p:nvGraphicFramePr>
        <p:xfrm>
          <a:off x="4355789" y="3803650"/>
          <a:ext cx="1636210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2455">
                  <a:extLst>
                    <a:ext uri="{9D8B030D-6E8A-4147-A177-3AD203B41FA5}">
                      <a16:colId xmlns:a16="http://schemas.microsoft.com/office/drawing/2014/main" val="3413978779"/>
                    </a:ext>
                  </a:extLst>
                </a:gridCol>
                <a:gridCol w="1163755">
                  <a:extLst>
                    <a:ext uri="{9D8B030D-6E8A-4147-A177-3AD203B41FA5}">
                      <a16:colId xmlns:a16="http://schemas.microsoft.com/office/drawing/2014/main" val="6751052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sz="1000" b="1">
                          <a:solidFill>
                            <a:srgbClr val="C2FE06"/>
                          </a:solidFill>
                        </a:rPr>
                        <a:t>31.01. </a:t>
                      </a:r>
                      <a:endParaRPr lang="en-US" sz="1000" b="1">
                        <a:solidFill>
                          <a:srgbClr val="C2FE06"/>
                        </a:solidFill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00">
                          <a:solidFill>
                            <a:schemeClr val="tx2"/>
                          </a:solidFill>
                        </a:rPr>
                        <a:t>SOP for VW Anhui</a:t>
                      </a:r>
                      <a:endParaRPr lang="en-US" sz="1000"/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24796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b="1">
                          <a:solidFill>
                            <a:srgbClr val="C2FE06"/>
                          </a:solidFill>
                        </a:rPr>
                        <a:t>12.03.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RVT - Start VIN data creation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404429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b="1">
                          <a:solidFill>
                            <a:srgbClr val="C2FE06"/>
                          </a:solidFill>
                        </a:rPr>
                        <a:t>26.03.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/>
                        <a:t>RVT - Start Homologation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466606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b="1">
                          <a:solidFill>
                            <a:srgbClr val="C2FE06"/>
                          </a:solidFill>
                        </a:rPr>
                        <a:t>31.03.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/>
                        <a:t>Fallback -Test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07380864"/>
                  </a:ext>
                </a:extLst>
              </a:tr>
            </a:tbl>
          </a:graphicData>
        </a:graphic>
      </p:graphicFrame>
      <p:graphicFrame>
        <p:nvGraphicFramePr>
          <p:cNvPr id="118" name="Table 117">
            <a:extLst>
              <a:ext uri="{FF2B5EF4-FFF2-40B4-BE49-F238E27FC236}">
                <a16:creationId xmlns:a16="http://schemas.microsoft.com/office/drawing/2014/main" id="{ECE919C9-5D6F-8969-4A37-45169C5C93A5}"/>
              </a:ext>
            </a:extLst>
          </p:cNvPr>
          <p:cNvGraphicFramePr>
            <a:graphicFrameLocks noGrp="1"/>
          </p:cNvGraphicFramePr>
          <p:nvPr/>
        </p:nvGraphicFramePr>
        <p:xfrm>
          <a:off x="6210300" y="3803650"/>
          <a:ext cx="1682750" cy="1066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5893">
                  <a:extLst>
                    <a:ext uri="{9D8B030D-6E8A-4147-A177-3AD203B41FA5}">
                      <a16:colId xmlns:a16="http://schemas.microsoft.com/office/drawing/2014/main" val="3413978779"/>
                    </a:ext>
                  </a:extLst>
                </a:gridCol>
                <a:gridCol w="1196857">
                  <a:extLst>
                    <a:ext uri="{9D8B030D-6E8A-4147-A177-3AD203B41FA5}">
                      <a16:colId xmlns:a16="http://schemas.microsoft.com/office/drawing/2014/main" val="6751052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sz="1000" b="1">
                          <a:solidFill>
                            <a:srgbClr val="C2FE06"/>
                          </a:solidFill>
                        </a:rPr>
                        <a:t>07.05</a:t>
                      </a:r>
                      <a:endParaRPr lang="en-US" sz="1000">
                        <a:solidFill>
                          <a:srgbClr val="C2FE06"/>
                        </a:solidFill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000">
                          <a:solidFill>
                            <a:schemeClr val="tx2"/>
                          </a:solidFill>
                        </a:rPr>
                        <a:t>RVT ready (MS)</a:t>
                      </a:r>
                    </a:p>
                    <a:p>
                      <a:pPr marL="88900" indent="-88900">
                        <a:buFont typeface="Arial" panose="020B0604020202020204" pitchFamily="34" charset="0"/>
                        <a:buChar char="•"/>
                      </a:pPr>
                      <a:r>
                        <a:rPr lang="en-US" sz="1000"/>
                        <a:t>Replacement of Carport by Group Vehicle File</a:t>
                      </a:r>
                    </a:p>
                    <a:p>
                      <a:pPr marL="88900" indent="-88900">
                        <a:buFont typeface="Arial" panose="020B0604020202020204" pitchFamily="34" charset="0"/>
                        <a:buChar char="•"/>
                      </a:pPr>
                      <a:r>
                        <a:rPr lang="en-US" sz="1000"/>
                        <a:t>Replacement of COGNOS by ?</a:t>
                      </a:r>
                    </a:p>
                    <a:p>
                      <a:pPr marL="88900" indent="-88900">
                        <a:buFont typeface="Arial" panose="020B0604020202020204" pitchFamily="34" charset="0"/>
                        <a:buChar char="•"/>
                      </a:pPr>
                      <a:r>
                        <a:rPr lang="en-US" sz="1000"/>
                        <a:t>New ORU Interface</a:t>
                      </a: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24796212"/>
                  </a:ext>
                </a:extLst>
              </a:tr>
            </a:tbl>
          </a:graphicData>
        </a:graphic>
      </p:graphicFrame>
      <p:sp>
        <p:nvSpPr>
          <p:cNvPr id="119" name="Rectangle: Rounded Corners 118">
            <a:extLst>
              <a:ext uri="{FF2B5EF4-FFF2-40B4-BE49-F238E27FC236}">
                <a16:creationId xmlns:a16="http://schemas.microsoft.com/office/drawing/2014/main" id="{CA96AECC-4892-6C89-F187-7987477F3711}"/>
              </a:ext>
            </a:extLst>
          </p:cNvPr>
          <p:cNvSpPr/>
          <p:nvPr/>
        </p:nvSpPr>
        <p:spPr>
          <a:xfrm>
            <a:off x="4284664" y="5300304"/>
            <a:ext cx="1774825" cy="792363"/>
          </a:xfrm>
          <a:prstGeom prst="roundRect">
            <a:avLst>
              <a:gd name="adj" fmla="val 11585"/>
            </a:avLst>
          </a:prstGeom>
          <a:solidFill>
            <a:srgbClr val="002733"/>
          </a:solidFill>
          <a:ln w="19050">
            <a:solidFill>
              <a:schemeClr val="tx2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72000" rIns="180000" bIns="72000" rtlCol="0" anchor="ctr"/>
          <a:lstStyle/>
          <a:p>
            <a:pPr marL="85725" marR="0" lvl="0" indent="-857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CI/CD Pipeline overhaul</a:t>
            </a:r>
          </a:p>
          <a:p>
            <a:pPr marL="85725" marR="0" lvl="0" indent="-857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Getting rid of queues &amp; triggers</a:t>
            </a:r>
          </a:p>
        </p:txBody>
      </p: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78F34701-FA97-053A-7010-12B82860A591}"/>
              </a:ext>
            </a:extLst>
          </p:cNvPr>
          <p:cNvSpPr/>
          <p:nvPr/>
        </p:nvSpPr>
        <p:spPr>
          <a:xfrm>
            <a:off x="6163701" y="5300304"/>
            <a:ext cx="5520262" cy="792363"/>
          </a:xfrm>
          <a:prstGeom prst="roundRect">
            <a:avLst>
              <a:gd name="adj" fmla="val 10693"/>
            </a:avLst>
          </a:prstGeom>
          <a:solidFill>
            <a:srgbClr val="002733"/>
          </a:solidFill>
          <a:ln w="19050">
            <a:solidFill>
              <a:schemeClr val="tx2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72000" rIns="180000" bIns="72000" rtlCol="0" anchor="ctr"/>
          <a:lstStyle/>
          <a:p>
            <a:pPr marL="85725" marR="0" lvl="0" indent="-857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Check &amp; replace Group Service Bus and remaining interfaces</a:t>
            </a:r>
          </a:p>
          <a:p>
            <a:pPr marL="85725" marR="0" lvl="0" indent="-857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Restructuring the data model</a:t>
            </a:r>
          </a:p>
          <a:p>
            <a:pPr marL="85725" marR="0" lvl="0" indent="-857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Shift SQL procedures to application layer</a:t>
            </a:r>
          </a:p>
        </p:txBody>
      </p:sp>
      <p:sp>
        <p:nvSpPr>
          <p:cNvPr id="121" name="Arrow: Pentagon 120">
            <a:extLst>
              <a:ext uri="{FF2B5EF4-FFF2-40B4-BE49-F238E27FC236}">
                <a16:creationId xmlns:a16="http://schemas.microsoft.com/office/drawing/2014/main" id="{DBE57233-C39D-AD97-78F3-6206E13518D6}"/>
              </a:ext>
            </a:extLst>
          </p:cNvPr>
          <p:cNvSpPr/>
          <p:nvPr/>
        </p:nvSpPr>
        <p:spPr>
          <a:xfrm>
            <a:off x="405625" y="3467100"/>
            <a:ext cx="11380750" cy="168634"/>
          </a:xfrm>
          <a:prstGeom prst="homePlate">
            <a:avLst/>
          </a:prstGeom>
          <a:solidFill>
            <a:schemeClr val="bg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2733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External Project Milestones</a:t>
            </a:r>
          </a:p>
        </p:txBody>
      </p:sp>
      <p:sp>
        <p:nvSpPr>
          <p:cNvPr id="124" name="Arrow: Pentagon 123">
            <a:extLst>
              <a:ext uri="{FF2B5EF4-FFF2-40B4-BE49-F238E27FC236}">
                <a16:creationId xmlns:a16="http://schemas.microsoft.com/office/drawing/2014/main" id="{EF8C4965-9212-9E9A-1E68-5A00B56ED0F1}"/>
              </a:ext>
            </a:extLst>
          </p:cNvPr>
          <p:cNvSpPr/>
          <p:nvPr/>
        </p:nvSpPr>
        <p:spPr>
          <a:xfrm>
            <a:off x="405625" y="5032016"/>
            <a:ext cx="11380750" cy="168634"/>
          </a:xfrm>
          <a:prstGeom prst="homePlate">
            <a:avLst/>
          </a:prstGeom>
          <a:solidFill>
            <a:schemeClr val="tx2">
              <a:lumMod val="85000"/>
            </a:schemeClr>
          </a:solidFill>
          <a:ln>
            <a:solidFill>
              <a:schemeClr val="tx2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2733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Architecture Roadmap</a:t>
            </a:r>
          </a:p>
        </p:txBody>
      </p:sp>
      <p:pic>
        <p:nvPicPr>
          <p:cNvPr id="127" name="Pic">
            <a:extLst>
              <a:ext uri="{FF2B5EF4-FFF2-40B4-BE49-F238E27FC236}">
                <a16:creationId xmlns:a16="http://schemas.microsoft.com/office/drawing/2014/main" id="{9D2AF932-3536-CC77-7201-E99504847428}"/>
              </a:ext>
            </a:extLst>
          </p:cNvPr>
          <p:cNvPicPr>
            <a:picLocks/>
          </p:cNvPicPr>
          <p:nvPr>
            <p:custDataLst>
              <p:tags r:id="rId2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  <a:ext uri="{6F801314-5768-4EAC-8CED-0F2297F94238}"/>
            </a:extLst>
          </a:blip>
          <a:stretch>
            <a:fillRect/>
          </a:stretch>
        </p:blipFill>
        <p:spPr bwMode="auto">
          <a:xfrm>
            <a:off x="3688417" y="2136148"/>
            <a:ext cx="530225" cy="530225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33" name="Pic">
            <a:extLst>
              <a:ext uri="{FF2B5EF4-FFF2-40B4-BE49-F238E27FC236}">
                <a16:creationId xmlns:a16="http://schemas.microsoft.com/office/drawing/2014/main" id="{FE21E1DA-7C35-E834-CF51-2705EFB1892E}"/>
              </a:ext>
            </a:extLst>
          </p:cNvPr>
          <p:cNvPicPr>
            <a:picLocks/>
          </p:cNvPicPr>
          <p:nvPr>
            <p:custDataLst>
              <p:tags r:id="rId3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  <a:ext uri="{6F801314-5768-4EAC-8CED-0F2297F94238}"/>
            </a:extLst>
          </a:blip>
          <a:stretch>
            <a:fillRect/>
          </a:stretch>
        </p:blipFill>
        <p:spPr bwMode="auto">
          <a:xfrm>
            <a:off x="3826529" y="2202823"/>
            <a:ext cx="254000" cy="25400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36" name="Pic">
            <a:extLst>
              <a:ext uri="{FF2B5EF4-FFF2-40B4-BE49-F238E27FC236}">
                <a16:creationId xmlns:a16="http://schemas.microsoft.com/office/drawing/2014/main" id="{A85CD0FB-6C8E-2A5C-5BC7-6DCBF3B4FEA8}"/>
              </a:ext>
            </a:extLst>
          </p:cNvPr>
          <p:cNvPicPr>
            <a:picLocks/>
          </p:cNvPicPr>
          <p:nvPr>
            <p:custDataLst>
              <p:tags r:id="rId4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  <a:ext uri="{6F801314-5768-4EAC-8CED-0F2297F94238}"/>
            </a:extLst>
          </a:blip>
          <a:stretch>
            <a:fillRect/>
          </a:stretch>
        </p:blipFill>
        <p:spPr bwMode="auto">
          <a:xfrm>
            <a:off x="6107767" y="2136148"/>
            <a:ext cx="530225" cy="530225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43" name="Pic">
            <a:extLst>
              <a:ext uri="{FF2B5EF4-FFF2-40B4-BE49-F238E27FC236}">
                <a16:creationId xmlns:a16="http://schemas.microsoft.com/office/drawing/2014/main" id="{E99F55FA-D94B-81C0-4802-D80A1A022BD7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  <a:ext uri="{6F801314-5768-4EAC-8CED-0F2297F94238}"/>
            </a:extLst>
          </a:blip>
          <a:stretch>
            <a:fillRect/>
          </a:stretch>
        </p:blipFill>
        <p:spPr bwMode="auto">
          <a:xfrm>
            <a:off x="6245879" y="2202823"/>
            <a:ext cx="254000" cy="25400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38" name="Pic">
            <a:extLst>
              <a:ext uri="{FF2B5EF4-FFF2-40B4-BE49-F238E27FC236}">
                <a16:creationId xmlns:a16="http://schemas.microsoft.com/office/drawing/2014/main" id="{503F069C-B268-9A11-464E-13B03480076D}"/>
              </a:ext>
            </a:extLst>
          </p:cNvPr>
          <p:cNvPicPr>
            <a:picLocks/>
          </p:cNvPicPr>
          <p:nvPr>
            <p:custDataLst>
              <p:tags r:id="rId6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  <a:ext uri="{6F801314-5768-4EAC-8CED-0F2297F94238}"/>
            </a:extLst>
          </a:blip>
          <a:stretch>
            <a:fillRect/>
          </a:stretch>
        </p:blipFill>
        <p:spPr bwMode="auto">
          <a:xfrm>
            <a:off x="8689975" y="2134950"/>
            <a:ext cx="530225" cy="530225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45" name="Pic">
            <a:extLst>
              <a:ext uri="{FF2B5EF4-FFF2-40B4-BE49-F238E27FC236}">
                <a16:creationId xmlns:a16="http://schemas.microsoft.com/office/drawing/2014/main" id="{D8CE8BEF-A18B-98C4-73BB-7A085069F618}"/>
              </a:ext>
            </a:extLst>
          </p:cNvPr>
          <p:cNvPicPr>
            <a:picLocks/>
          </p:cNvPicPr>
          <p:nvPr>
            <p:custDataLst>
              <p:tags r:id="rId7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  <a:ext uri="{6F801314-5768-4EAC-8CED-0F2297F94238}"/>
            </a:extLst>
          </a:blip>
          <a:stretch>
            <a:fillRect/>
          </a:stretch>
        </p:blipFill>
        <p:spPr bwMode="auto">
          <a:xfrm>
            <a:off x="8828087" y="2201625"/>
            <a:ext cx="254000" cy="25400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40" name="Pic">
            <a:extLst>
              <a:ext uri="{FF2B5EF4-FFF2-40B4-BE49-F238E27FC236}">
                <a16:creationId xmlns:a16="http://schemas.microsoft.com/office/drawing/2014/main" id="{3B0249B1-38F8-9286-8443-EC1701578F58}"/>
              </a:ext>
            </a:extLst>
          </p:cNvPr>
          <p:cNvPicPr>
            <a:picLocks/>
          </p:cNvPicPr>
          <p:nvPr>
            <p:custDataLst>
              <p:tags r:id="rId8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  <a:ext uri="{6F801314-5768-4EAC-8CED-0F2297F94238}"/>
            </a:extLst>
          </a:blip>
          <a:stretch>
            <a:fillRect/>
          </a:stretch>
        </p:blipFill>
        <p:spPr bwMode="auto">
          <a:xfrm>
            <a:off x="1265969" y="2148034"/>
            <a:ext cx="530225" cy="530225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47" name="Pic">
            <a:extLst>
              <a:ext uri="{FF2B5EF4-FFF2-40B4-BE49-F238E27FC236}">
                <a16:creationId xmlns:a16="http://schemas.microsoft.com/office/drawing/2014/main" id="{7A4916C0-E6E7-9B3C-5867-6ECFA260F1C5}"/>
              </a:ext>
            </a:extLst>
          </p:cNvPr>
          <p:cNvPicPr>
            <a:picLocks/>
          </p:cNvPicPr>
          <p:nvPr>
            <p:custDataLst>
              <p:tags r:id="rId9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  <a:ext uri="{6F801314-5768-4EAC-8CED-0F2297F94238}"/>
            </a:extLst>
          </a:blip>
          <a:stretch>
            <a:fillRect/>
          </a:stretch>
        </p:blipFill>
        <p:spPr bwMode="auto">
          <a:xfrm>
            <a:off x="1404081" y="2214709"/>
            <a:ext cx="254000" cy="25400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51" name="Pic">
            <a:extLst>
              <a:ext uri="{FF2B5EF4-FFF2-40B4-BE49-F238E27FC236}">
                <a16:creationId xmlns:a16="http://schemas.microsoft.com/office/drawing/2014/main" id="{56875061-AA1F-6D16-443B-286725A4D44B}"/>
              </a:ext>
            </a:extLst>
          </p:cNvPr>
          <p:cNvPicPr>
            <a:picLocks/>
          </p:cNvPicPr>
          <p:nvPr>
            <p:custDataLst>
              <p:tags r:id="rId10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  <a:ext uri="{6F801314-5768-4EAC-8CED-0F2297F94238}"/>
            </a:extLst>
          </a:blip>
          <a:stretch>
            <a:fillRect/>
          </a:stretch>
        </p:blipFill>
        <p:spPr bwMode="auto">
          <a:xfrm>
            <a:off x="2867025" y="4736920"/>
            <a:ext cx="758825" cy="758825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67" name="Pic">
            <a:extLst>
              <a:ext uri="{FF2B5EF4-FFF2-40B4-BE49-F238E27FC236}">
                <a16:creationId xmlns:a16="http://schemas.microsoft.com/office/drawing/2014/main" id="{25E828E8-B3D1-8240-0848-DC727ADE8834}"/>
              </a:ext>
            </a:extLst>
          </p:cNvPr>
          <p:cNvPicPr>
            <a:picLocks/>
          </p:cNvPicPr>
          <p:nvPr>
            <p:custDataLst>
              <p:tags r:id="rId11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  <a:ext uri="{6F801314-5768-4EAC-8CED-0F2297F94238}"/>
            </a:extLst>
          </a:blip>
          <a:stretch>
            <a:fillRect/>
          </a:stretch>
        </p:blipFill>
        <p:spPr bwMode="auto">
          <a:xfrm>
            <a:off x="5738813" y="4286250"/>
            <a:ext cx="254000" cy="25400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7" name="Pic">
            <a:extLst>
              <a:ext uri="{FF2B5EF4-FFF2-40B4-BE49-F238E27FC236}">
                <a16:creationId xmlns:a16="http://schemas.microsoft.com/office/drawing/2014/main" id="{3BA7096D-30D3-76CC-0B75-00F364CD7F46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  <a:ext uri="{6F801314-5768-4EAC-8CED-0F2297F94238}"/>
            </a:extLst>
          </a:blip>
          <a:stretch>
            <a:fillRect/>
          </a:stretch>
        </p:blipFill>
        <p:spPr bwMode="auto">
          <a:xfrm>
            <a:off x="8689975" y="4751901"/>
            <a:ext cx="758825" cy="758825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171592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F683CB07-4483-6494-62BC-B20123E469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036" y="4905195"/>
            <a:ext cx="7604850" cy="609398"/>
          </a:xfrm>
        </p:spPr>
        <p:txBody>
          <a:bodyPr/>
          <a:lstStyle/>
          <a:p>
            <a:r>
              <a:rPr lang="en-GB"/>
              <a:t>Recall2 for RVT/SDV</a:t>
            </a:r>
          </a:p>
        </p:txBody>
      </p:sp>
      <p:sp>
        <p:nvSpPr>
          <p:cNvPr id="5" name="Untertitel 4">
            <a:extLst>
              <a:ext uri="{FF2B5EF4-FFF2-40B4-BE49-F238E27FC236}">
                <a16:creationId xmlns:a16="http://schemas.microsoft.com/office/drawing/2014/main" id="{FDB12021-6BBE-6BCF-76BE-209C674E9E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/>
              <a:t>Recall2 for Software Defined Vehicles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E871D871-2AD5-3AED-1E19-67C2646809C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/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7801717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FA1ED3-82E2-14A2-4C02-B90C0FAB3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7E9734F-347D-C6E4-C36B-CE6976C28F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3" y="0"/>
            <a:ext cx="121891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9406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48AD3-F0EE-A4A7-97D8-525FD1C2E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D32DED-FFF5-BB57-5341-73365CD8C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C6081BA1-D6B6-22F4-AF4C-017A6072B2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3" y="0"/>
            <a:ext cx="12189176" cy="6858000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197787C3-8A16-CEEA-0D46-DD5DFFC50057}"/>
              </a:ext>
            </a:extLst>
          </p:cNvPr>
          <p:cNvSpPr/>
          <p:nvPr/>
        </p:nvSpPr>
        <p:spPr>
          <a:xfrm>
            <a:off x="2855640" y="4149080"/>
            <a:ext cx="6480720" cy="576064"/>
          </a:xfrm>
          <a:prstGeom prst="rect">
            <a:avLst/>
          </a:prstGeom>
          <a:solidFill>
            <a:srgbClr val="0023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 anchorCtr="0"/>
          <a:lstStyle/>
          <a:p>
            <a:pPr marL="180000" indent="-180000" algn="l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de-DE" sz="1600">
              <a:solidFill>
                <a:schemeClr val="tx1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1EBB4B62-048F-A1D5-44D0-70FC41DDB584}"/>
              </a:ext>
            </a:extLst>
          </p:cNvPr>
          <p:cNvSpPr/>
          <p:nvPr/>
        </p:nvSpPr>
        <p:spPr>
          <a:xfrm>
            <a:off x="1919536" y="4790676"/>
            <a:ext cx="8596816" cy="1518644"/>
          </a:xfrm>
          <a:prstGeom prst="rect">
            <a:avLst/>
          </a:prstGeom>
          <a:solidFill>
            <a:srgbClr val="0023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 anchorCtr="0"/>
          <a:lstStyle/>
          <a:p>
            <a:pPr marL="180000" indent="-180000" algn="l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de-DE" sz="1600">
              <a:solidFill>
                <a:schemeClr val="tx1"/>
              </a:solidFill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484665CB-3759-FA4F-D56F-64583C95DC4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8223" b="39602"/>
          <a:stretch>
            <a:fillRect/>
          </a:stretch>
        </p:blipFill>
        <p:spPr>
          <a:xfrm>
            <a:off x="2407944" y="4959536"/>
            <a:ext cx="7620000" cy="949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484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ABA5FF31-CBD5-9B3A-2CC0-22D8DE484C6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670773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BA5FF31-CBD5-9B3A-2CC0-22D8DE484C6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0FC8AB23-DFEC-5243-2C7F-4785CCCB1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>
            <a:spAutoFit/>
          </a:bodyPr>
          <a:lstStyle/>
          <a:p>
            <a:r>
              <a:rPr lang="de-DE" err="1"/>
              <a:t>What</a:t>
            </a:r>
            <a:r>
              <a:rPr lang="de-DE"/>
              <a:t> </a:t>
            </a:r>
            <a:r>
              <a:rPr lang="de-DE" err="1"/>
              <a:t>changes</a:t>
            </a:r>
            <a:r>
              <a:rPr lang="de-DE"/>
              <a:t> </a:t>
            </a:r>
            <a:r>
              <a:rPr lang="de-DE" err="1"/>
              <a:t>with</a:t>
            </a:r>
            <a:r>
              <a:rPr lang="de-DE"/>
              <a:t> SDV?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83E2E1A-D88E-41F0-5FF9-37D984DF82B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A4571DA8-353C-C894-2207-E30EE7DEAE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5388" y="1707716"/>
            <a:ext cx="5163852" cy="3442568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1ED53E7E-FD55-A9FD-9C66-537DA89A95EC}"/>
              </a:ext>
            </a:extLst>
          </p:cNvPr>
          <p:cNvSpPr txBox="1"/>
          <p:nvPr/>
        </p:nvSpPr>
        <p:spPr>
          <a:xfrm>
            <a:off x="2495600" y="5150284"/>
            <a:ext cx="324364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600"/>
              </a:spcBef>
            </a:pPr>
            <a:r>
              <a:rPr lang="de-DE" sz="1600">
                <a:solidFill>
                  <a:srgbClr val="C2FE06"/>
                </a:solidFill>
              </a:rPr>
              <a:t>Software Update in the Workshop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ACE73748-D6A7-243D-C791-5C63E8A3E5FB}"/>
              </a:ext>
            </a:extLst>
          </p:cNvPr>
          <p:cNvSpPr txBox="1"/>
          <p:nvPr/>
        </p:nvSpPr>
        <p:spPr>
          <a:xfrm>
            <a:off x="7392144" y="5150284"/>
            <a:ext cx="4206584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spcBef>
                <a:spcPts val="600"/>
              </a:spcBef>
            </a:pPr>
            <a:r>
              <a:rPr lang="de-DE" sz="1600">
                <a:solidFill>
                  <a:srgbClr val="C2FE06"/>
                </a:solidFill>
              </a:rPr>
              <a:t>Software Update </a:t>
            </a:r>
            <a:r>
              <a:rPr lang="de-DE" sz="1600" err="1">
                <a:solidFill>
                  <a:srgbClr val="C2FE06"/>
                </a:solidFill>
              </a:rPr>
              <a:t>directly</a:t>
            </a:r>
            <a:r>
              <a:rPr lang="de-DE" sz="1600">
                <a:solidFill>
                  <a:srgbClr val="C2FE06"/>
                </a:solidFill>
              </a:rPr>
              <a:t> at the Customer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08979BCA-1722-9337-141E-C78AC4C23B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5461" y="1707716"/>
            <a:ext cx="5163852" cy="3442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5585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F1F39024-C70D-3552-CFAC-C204C79EA26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150755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1F39024-C70D-3552-CFAC-C204C79EA2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8E33595F-C895-0C9C-C159-AF7FCE994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644520"/>
            <a:ext cx="11376021" cy="775597"/>
          </a:xfrm>
        </p:spPr>
        <p:txBody>
          <a:bodyPr vert="horz" rIns="0">
            <a:spAutoFit/>
          </a:bodyPr>
          <a:lstStyle/>
          <a:p>
            <a:r>
              <a:rPr lang="de-DE"/>
              <a:t>RVT </a:t>
            </a:r>
            <a:r>
              <a:rPr lang="de-DE" err="1"/>
              <a:t>provides</a:t>
            </a:r>
            <a:r>
              <a:rPr lang="de-DE"/>
              <a:t> </a:t>
            </a:r>
            <a:r>
              <a:rPr lang="de-DE" err="1"/>
              <a:t>cloud</a:t>
            </a:r>
            <a:r>
              <a:rPr lang="de-DE"/>
              <a:t> </a:t>
            </a:r>
            <a:r>
              <a:rPr lang="de-DE" err="1"/>
              <a:t>services</a:t>
            </a:r>
            <a:r>
              <a:rPr lang="de-DE"/>
              <a:t>, </a:t>
            </a:r>
            <a:r>
              <a:rPr lang="de-DE" err="1"/>
              <a:t>that</a:t>
            </a:r>
            <a:r>
              <a:rPr lang="de-DE"/>
              <a:t> </a:t>
            </a:r>
            <a:r>
              <a:rPr lang="de-DE" err="1"/>
              <a:t>need</a:t>
            </a:r>
            <a:r>
              <a:rPr lang="de-DE"/>
              <a:t> to </a:t>
            </a:r>
            <a:r>
              <a:rPr lang="de-DE" err="1"/>
              <a:t>be</a:t>
            </a:r>
            <a:r>
              <a:rPr lang="de-DE"/>
              <a:t> connect to the Volkswagen Group System Landscape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D0EFC954-2A46-721F-2B45-801629DCAD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03175" y="1658137"/>
            <a:ext cx="7785649" cy="4795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828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2B7F6-52B2-38DB-F91E-65C56F65A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FA63F1C7-B0AF-ED37-74BE-82941F017D5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A63F1C7-B0AF-ED37-74BE-82941F017D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2FE87722-6798-5A9C-4BCE-34B651C83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644520"/>
            <a:ext cx="11376021" cy="775597"/>
          </a:xfrm>
        </p:spPr>
        <p:txBody>
          <a:bodyPr vert="horz" rIns="0">
            <a:spAutoFit/>
          </a:bodyPr>
          <a:lstStyle/>
          <a:p>
            <a:r>
              <a:rPr lang="de-DE"/>
              <a:t>Recall2 </a:t>
            </a:r>
            <a:r>
              <a:rPr lang="de-DE" err="1"/>
              <a:t>documents</a:t>
            </a:r>
            <a:r>
              <a:rPr lang="de-DE"/>
              <a:t> all online </a:t>
            </a:r>
            <a:r>
              <a:rPr lang="de-DE" err="1"/>
              <a:t>updates</a:t>
            </a:r>
            <a:r>
              <a:rPr lang="de-DE"/>
              <a:t>, so </a:t>
            </a:r>
            <a:r>
              <a:rPr lang="de-DE" err="1"/>
              <a:t>that</a:t>
            </a:r>
            <a:r>
              <a:rPr lang="de-DE"/>
              <a:t> legal </a:t>
            </a:r>
            <a:r>
              <a:rPr lang="de-DE" err="1"/>
              <a:t>authority</a:t>
            </a:r>
            <a:r>
              <a:rPr lang="de-DE"/>
              <a:t> </a:t>
            </a:r>
            <a:r>
              <a:rPr lang="de-DE" err="1"/>
              <a:t>requests</a:t>
            </a:r>
            <a:r>
              <a:rPr lang="de-DE"/>
              <a:t> </a:t>
            </a:r>
            <a:r>
              <a:rPr lang="de-DE" err="1"/>
              <a:t>can</a:t>
            </a:r>
            <a:r>
              <a:rPr lang="de-DE"/>
              <a:t> </a:t>
            </a:r>
            <a:r>
              <a:rPr lang="de-DE" err="1"/>
              <a:t>be</a:t>
            </a:r>
            <a:r>
              <a:rPr lang="de-DE"/>
              <a:t> </a:t>
            </a:r>
            <a:r>
              <a:rPr lang="de-DE" err="1"/>
              <a:t>fullfilled</a:t>
            </a:r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462B5F1C-921D-BE53-1839-2B509AADCE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03175" y="1658137"/>
            <a:ext cx="7785649" cy="4795051"/>
          </a:xfrm>
          <a:prstGeom prst="rect">
            <a:avLst/>
          </a:prstGeom>
        </p:spPr>
      </p:pic>
      <p:sp>
        <p:nvSpPr>
          <p:cNvPr id="7" name="Rechteck 7">
            <a:extLst>
              <a:ext uri="{FF2B5EF4-FFF2-40B4-BE49-F238E27FC236}">
                <a16:creationId xmlns:a16="http://schemas.microsoft.com/office/drawing/2014/main" id="{C864E024-6AB1-C577-8A5C-2451D351FCA7}"/>
              </a:ext>
            </a:extLst>
          </p:cNvPr>
          <p:cNvSpPr/>
          <p:nvPr/>
        </p:nvSpPr>
        <p:spPr>
          <a:xfrm>
            <a:off x="9845924" y="1658137"/>
            <a:ext cx="285800" cy="47950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 anchorCtr="0"/>
          <a:lstStyle/>
          <a:p>
            <a:pPr marL="180000" indent="-180000" algn="l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de-DE" sz="1600">
              <a:solidFill>
                <a:schemeClr val="tx1"/>
              </a:solidFill>
            </a:endParaRPr>
          </a:p>
        </p:txBody>
      </p:sp>
      <p:sp>
        <p:nvSpPr>
          <p:cNvPr id="8" name="Rechteck 5">
            <a:extLst>
              <a:ext uri="{FF2B5EF4-FFF2-40B4-BE49-F238E27FC236}">
                <a16:creationId xmlns:a16="http://schemas.microsoft.com/office/drawing/2014/main" id="{4AD130FF-8AAE-F0D2-3008-F4848A7DD43B}"/>
              </a:ext>
            </a:extLst>
          </p:cNvPr>
          <p:cNvSpPr/>
          <p:nvPr/>
        </p:nvSpPr>
        <p:spPr>
          <a:xfrm>
            <a:off x="10587872" y="1658137"/>
            <a:ext cx="1196142" cy="864208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 anchorCtr="0"/>
          <a:lstStyle/>
          <a:p>
            <a:pPr algn="ctr">
              <a:spcBef>
                <a:spcPts val="600"/>
              </a:spcBef>
            </a:pPr>
            <a:r>
              <a:rPr lang="de-DE" sz="2000" b="1">
                <a:solidFill>
                  <a:schemeClr val="tx1"/>
                </a:solidFill>
              </a:rPr>
              <a:t>Recall2</a:t>
            </a:r>
          </a:p>
        </p:txBody>
      </p:sp>
      <p:cxnSp>
        <p:nvCxnSpPr>
          <p:cNvPr id="10" name="Gerade Verbindung mit Pfeil 12">
            <a:extLst>
              <a:ext uri="{FF2B5EF4-FFF2-40B4-BE49-F238E27FC236}">
                <a16:creationId xmlns:a16="http://schemas.microsoft.com/office/drawing/2014/main" id="{855DD231-F942-770D-3695-DF11A0323D02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9845924" y="2090241"/>
            <a:ext cx="741948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377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F1279-6FF9-5E31-7ADD-5FC6A3C2F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839AA509-4274-5C55-2E66-C8E4D840B9D6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04" imgH="204" progId="TCLayout.ActiveDocument.1">
                  <p:embed/>
                </p:oleObj>
              </mc:Choice>
              <mc:Fallback>
                <p:oleObj name="think-cell Slide" r:id="rId4" imgW="204" imgH="204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39AA509-4274-5C55-2E66-C8E4D840B9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DF8CA1C-5BEE-F23F-8DD6-DBEC1F7829B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err="1"/>
              <a:t>Where we stand today – and where we are heading</a:t>
            </a:r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C25D446-6B25-1772-EE1E-D14BB8FB9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>
            <a:spAutoFit/>
          </a:bodyPr>
          <a:lstStyle/>
          <a:p>
            <a:r>
              <a:rPr lang="de-DE"/>
              <a:t>Getting Recall2 Ready for SDV</a:t>
            </a:r>
          </a:p>
        </p:txBody>
      </p:sp>
      <p:sp>
        <p:nvSpPr>
          <p:cNvPr id="10" name="Textplatzhalter 5">
            <a:extLst>
              <a:ext uri="{FF2B5EF4-FFF2-40B4-BE49-F238E27FC236}">
                <a16:creationId xmlns:a16="http://schemas.microsoft.com/office/drawing/2014/main" id="{5980D68B-89F5-4A2E-3D4C-9117A9766987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07988" y="4644814"/>
            <a:ext cx="2630487" cy="9845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28575">
            <a:solidFill>
              <a:schemeClr val="accent2"/>
            </a:solidFill>
          </a:ln>
        </p:spPr>
        <p:txBody>
          <a:bodyPr anchor="ctr"/>
          <a:lstStyle/>
          <a:p>
            <a:pPr algn="ctr"/>
            <a:r>
              <a:rPr lang="de-DE" sz="1600">
                <a:solidFill>
                  <a:srgbClr val="C2FE06"/>
                </a:solidFill>
              </a:rPr>
              <a:t>Weekly Remote Updates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89595D7C-53A6-7DC4-E595-153A140610C0}"/>
              </a:ext>
            </a:extLst>
          </p:cNvPr>
          <p:cNvSpPr txBox="1">
            <a:spLocks/>
          </p:cNvSpPr>
          <p:nvPr/>
        </p:nvSpPr>
        <p:spPr>
          <a:xfrm>
            <a:off x="3323156" y="4644814"/>
            <a:ext cx="2630012" cy="98498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28575">
            <a:solidFill>
              <a:schemeClr val="accent2"/>
            </a:solidFill>
          </a:ln>
        </p:spPr>
        <p:txBody>
          <a:bodyPr anchor="ctr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Tx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2000" indent="-252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00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Symbol" panose="05050102010706020507" pitchFamily="18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32000" indent="-252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32000" indent="-252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32000" indent="-252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2000" indent="-252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>
                <a:solidFill>
                  <a:srgbClr val="C2FE06"/>
                </a:solidFill>
              </a:rPr>
              <a:t>GVF &amp; new Vehicle Selection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35DB2816-4E20-1810-0A43-E562DC6FCBAF}"/>
              </a:ext>
            </a:extLst>
          </p:cNvPr>
          <p:cNvSpPr txBox="1">
            <a:spLocks/>
          </p:cNvSpPr>
          <p:nvPr/>
        </p:nvSpPr>
        <p:spPr>
          <a:xfrm>
            <a:off x="6236736" y="4644814"/>
            <a:ext cx="2630012" cy="98498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28575">
            <a:solidFill>
              <a:schemeClr val="accent2"/>
            </a:solidFill>
          </a:ln>
        </p:spPr>
        <p:txBody>
          <a:bodyPr anchor="ctr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Tx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2000" indent="-252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00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Symbol" panose="05050102010706020507" pitchFamily="18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32000" indent="-252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32000" indent="-252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32000" indent="-252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2000" indent="-252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>
                <a:solidFill>
                  <a:srgbClr val="C2FE06"/>
                </a:solidFill>
              </a:rPr>
              <a:t>Realtime via REST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706C4094-67F7-4ABB-3F48-73B90195C7C7}"/>
              </a:ext>
            </a:extLst>
          </p:cNvPr>
          <p:cNvSpPr txBox="1">
            <a:spLocks/>
          </p:cNvSpPr>
          <p:nvPr/>
        </p:nvSpPr>
        <p:spPr>
          <a:xfrm>
            <a:off x="9150315" y="4644814"/>
            <a:ext cx="2630012" cy="98498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28575">
            <a:solidFill>
              <a:schemeClr val="accent2"/>
            </a:solidFill>
          </a:ln>
        </p:spPr>
        <p:txBody>
          <a:bodyPr anchor="ctr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Tx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2000" indent="-252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00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Symbol" panose="05050102010706020507" pitchFamily="18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32000" indent="-252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32000" indent="-252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32000" indent="-252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2000" indent="-252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>
                <a:solidFill>
                  <a:srgbClr val="C2FE06"/>
                </a:solidFill>
              </a:rPr>
              <a:t>Integrated Updates &amp; Campaigns in Recall2 / ORU</a:t>
            </a:r>
          </a:p>
        </p:txBody>
      </p:sp>
      <p:sp>
        <p:nvSpPr>
          <p:cNvPr id="14" name="Textplatzhalter 5">
            <a:extLst>
              <a:ext uri="{FF2B5EF4-FFF2-40B4-BE49-F238E27FC236}">
                <a16:creationId xmlns:a16="http://schemas.microsoft.com/office/drawing/2014/main" id="{51712835-476B-DAE5-AEB7-C8580DBF9E35}"/>
              </a:ext>
            </a:extLst>
          </p:cNvPr>
          <p:cNvSpPr txBox="1">
            <a:spLocks/>
          </p:cNvSpPr>
          <p:nvPr/>
        </p:nvSpPr>
        <p:spPr bwMode="gray">
          <a:xfrm>
            <a:off x="409576" y="2369426"/>
            <a:ext cx="2630012" cy="984500"/>
          </a:xfrm>
          <a:prstGeom prst="roundRect">
            <a:avLst>
              <a:gd name="adj" fmla="val 12000"/>
            </a:avLst>
          </a:prstGeom>
          <a:solidFill>
            <a:srgbClr val="0A3543"/>
          </a:solidFill>
          <a:ln w="19050">
            <a:solidFill>
              <a:srgbClr val="7C949B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Tx/>
              <a:buNone/>
              <a:defRPr sz="1400" b="1" kern="1200">
                <a:solidFill>
                  <a:srgbClr val="C7D3D8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2000" indent="-252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00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Symbol" panose="05050102010706020507" pitchFamily="18" charset="2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32000" indent="-252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32000" indent="-252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32000" indent="-252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2000" indent="-252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/>
              <a:t>2 Remote Updates per year</a:t>
            </a:r>
          </a:p>
        </p:txBody>
      </p:sp>
      <p:sp>
        <p:nvSpPr>
          <p:cNvPr id="15" name="Textplatzhalter 10">
            <a:extLst>
              <a:ext uri="{FF2B5EF4-FFF2-40B4-BE49-F238E27FC236}">
                <a16:creationId xmlns:a16="http://schemas.microsoft.com/office/drawing/2014/main" id="{4EBFDFF6-E21A-F0C6-2F9D-C7A4F142C222}"/>
              </a:ext>
            </a:extLst>
          </p:cNvPr>
          <p:cNvSpPr txBox="1">
            <a:spLocks/>
          </p:cNvSpPr>
          <p:nvPr/>
        </p:nvSpPr>
        <p:spPr bwMode="gray">
          <a:xfrm>
            <a:off x="3323156" y="2369426"/>
            <a:ext cx="2630012" cy="984500"/>
          </a:xfrm>
          <a:prstGeom prst="roundRect">
            <a:avLst>
              <a:gd name="adj" fmla="val 12000"/>
            </a:avLst>
          </a:prstGeom>
          <a:solidFill>
            <a:srgbClr val="0A3543"/>
          </a:solidFill>
          <a:ln w="19050">
            <a:solidFill>
              <a:srgbClr val="7C949B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Tx/>
              <a:buNone/>
              <a:defRPr sz="1400" b="1" kern="1200">
                <a:solidFill>
                  <a:srgbClr val="C7D3D8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2000" indent="-252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00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Symbol" panose="05050102010706020507" pitchFamily="18" charset="2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32000" indent="-252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32000" indent="-252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32000" indent="-252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2000" indent="-252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err="1"/>
              <a:t>CarPort &amp; Cognos</a:t>
            </a:r>
          </a:p>
        </p:txBody>
      </p:sp>
      <p:sp>
        <p:nvSpPr>
          <p:cNvPr id="16" name="Textplatzhalter 11">
            <a:extLst>
              <a:ext uri="{FF2B5EF4-FFF2-40B4-BE49-F238E27FC236}">
                <a16:creationId xmlns:a16="http://schemas.microsoft.com/office/drawing/2014/main" id="{F7A23607-C815-5D1C-3725-BE3256E1A828}"/>
              </a:ext>
            </a:extLst>
          </p:cNvPr>
          <p:cNvSpPr txBox="1">
            <a:spLocks/>
          </p:cNvSpPr>
          <p:nvPr/>
        </p:nvSpPr>
        <p:spPr bwMode="gray">
          <a:xfrm>
            <a:off x="6236736" y="2369426"/>
            <a:ext cx="2630012" cy="984500"/>
          </a:xfrm>
          <a:prstGeom prst="roundRect">
            <a:avLst>
              <a:gd name="adj" fmla="val 12000"/>
            </a:avLst>
          </a:prstGeom>
          <a:solidFill>
            <a:srgbClr val="0A3543"/>
          </a:solidFill>
          <a:ln w="19050">
            <a:solidFill>
              <a:srgbClr val="7C949B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Tx/>
              <a:buNone/>
              <a:defRPr sz="1400" b="1" kern="1200">
                <a:solidFill>
                  <a:srgbClr val="C7D3D8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2000" indent="-252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00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Symbol" panose="05050102010706020507" pitchFamily="18" charset="2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32000" indent="-252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32000" indent="-252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32000" indent="-252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2000" indent="-252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/>
              <a:t>Daily Batch Processing, RVS</a:t>
            </a:r>
          </a:p>
        </p:txBody>
      </p:sp>
      <p:sp>
        <p:nvSpPr>
          <p:cNvPr id="17" name="Textplatzhalter 12">
            <a:extLst>
              <a:ext uri="{FF2B5EF4-FFF2-40B4-BE49-F238E27FC236}">
                <a16:creationId xmlns:a16="http://schemas.microsoft.com/office/drawing/2014/main" id="{E056DF73-BBC5-55F7-4A69-2D859B984D20}"/>
              </a:ext>
            </a:extLst>
          </p:cNvPr>
          <p:cNvSpPr txBox="1">
            <a:spLocks/>
          </p:cNvSpPr>
          <p:nvPr/>
        </p:nvSpPr>
        <p:spPr bwMode="gray">
          <a:xfrm>
            <a:off x="9150315" y="2369426"/>
            <a:ext cx="2630012" cy="984500"/>
          </a:xfrm>
          <a:prstGeom prst="roundRect">
            <a:avLst>
              <a:gd name="adj" fmla="val 12000"/>
            </a:avLst>
          </a:prstGeom>
          <a:solidFill>
            <a:srgbClr val="0A3543"/>
          </a:solidFill>
          <a:ln w="19050">
            <a:solidFill>
              <a:srgbClr val="7C949B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Tx/>
              <a:buNone/>
              <a:defRPr sz="1400" b="1" kern="1200">
                <a:solidFill>
                  <a:srgbClr val="C7D3D8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2000" indent="-252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00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Symbol" panose="05050102010706020507" pitchFamily="18" charset="2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32000" indent="-252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32000" indent="-252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32000" indent="-252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2000" indent="-252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Symbol" panose="05050102010706020507" pitchFamily="18" charset="2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/>
              <a:t>Updates &amp; Campaigns in Recall2 UI</a:t>
            </a:r>
          </a:p>
        </p:txBody>
      </p:sp>
      <p:sp>
        <p:nvSpPr>
          <p:cNvPr id="18" name="Pfeil nach unten 17">
            <a:extLst>
              <a:ext uri="{FF2B5EF4-FFF2-40B4-BE49-F238E27FC236}">
                <a16:creationId xmlns:a16="http://schemas.microsoft.com/office/drawing/2014/main" id="{342519E3-E091-472E-E990-9C8339FCD57F}"/>
              </a:ext>
            </a:extLst>
          </p:cNvPr>
          <p:cNvSpPr/>
          <p:nvPr/>
        </p:nvSpPr>
        <p:spPr>
          <a:xfrm>
            <a:off x="537090" y="3652305"/>
            <a:ext cx="2374830" cy="457491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 anchorCtr="0"/>
          <a:lstStyle/>
          <a:p>
            <a:pPr marL="180000" indent="-180000" algn="l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de-DE" sz="1600">
              <a:solidFill>
                <a:schemeClr val="tx1"/>
              </a:solidFill>
            </a:endParaRPr>
          </a:p>
        </p:txBody>
      </p:sp>
      <p:sp>
        <p:nvSpPr>
          <p:cNvPr id="19" name="Pfeil nach unten 18">
            <a:extLst>
              <a:ext uri="{FF2B5EF4-FFF2-40B4-BE49-F238E27FC236}">
                <a16:creationId xmlns:a16="http://schemas.microsoft.com/office/drawing/2014/main" id="{853892FD-841D-5685-08D5-D3AF0C53D847}"/>
              </a:ext>
            </a:extLst>
          </p:cNvPr>
          <p:cNvSpPr/>
          <p:nvPr/>
        </p:nvSpPr>
        <p:spPr>
          <a:xfrm>
            <a:off x="3450670" y="3652305"/>
            <a:ext cx="2374830" cy="457491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 anchorCtr="0"/>
          <a:lstStyle/>
          <a:p>
            <a:pPr marL="180000" indent="-180000" algn="l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de-DE" sz="1600">
              <a:solidFill>
                <a:schemeClr val="tx1"/>
              </a:solidFill>
            </a:endParaRPr>
          </a:p>
        </p:txBody>
      </p:sp>
      <p:sp>
        <p:nvSpPr>
          <p:cNvPr id="20" name="Pfeil nach unten 19">
            <a:extLst>
              <a:ext uri="{FF2B5EF4-FFF2-40B4-BE49-F238E27FC236}">
                <a16:creationId xmlns:a16="http://schemas.microsoft.com/office/drawing/2014/main" id="{E6262A27-F0C9-BC17-BF7B-CFABBDC7DDCB}"/>
              </a:ext>
            </a:extLst>
          </p:cNvPr>
          <p:cNvSpPr/>
          <p:nvPr/>
        </p:nvSpPr>
        <p:spPr>
          <a:xfrm>
            <a:off x="6364250" y="3652305"/>
            <a:ext cx="2374830" cy="457491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 anchorCtr="0"/>
          <a:lstStyle/>
          <a:p>
            <a:pPr marL="180000" indent="-180000" algn="l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de-DE" sz="1600">
              <a:solidFill>
                <a:schemeClr val="tx1"/>
              </a:solidFill>
            </a:endParaRPr>
          </a:p>
        </p:txBody>
      </p:sp>
      <p:sp>
        <p:nvSpPr>
          <p:cNvPr id="21" name="Pfeil nach unten 20">
            <a:extLst>
              <a:ext uri="{FF2B5EF4-FFF2-40B4-BE49-F238E27FC236}">
                <a16:creationId xmlns:a16="http://schemas.microsoft.com/office/drawing/2014/main" id="{56D0FD66-E1EB-BC38-ADF3-47D687F0F7BA}"/>
              </a:ext>
            </a:extLst>
          </p:cNvPr>
          <p:cNvSpPr/>
          <p:nvPr/>
        </p:nvSpPr>
        <p:spPr>
          <a:xfrm>
            <a:off x="9281514" y="3649135"/>
            <a:ext cx="2374830" cy="457491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 anchorCtr="0"/>
          <a:lstStyle/>
          <a:p>
            <a:pPr marL="180000" indent="-180000" algn="l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de-DE" sz="1600">
              <a:solidFill>
                <a:schemeClr val="tx1"/>
              </a:solidFill>
            </a:endParaRPr>
          </a:p>
        </p:txBody>
      </p:sp>
      <p:sp>
        <p:nvSpPr>
          <p:cNvPr id="40" name="LabelAfter"/>
          <p:cNvSpPr txBox="1"/>
          <p:nvPr/>
        </p:nvSpPr>
        <p:spPr>
          <a:xfrm>
            <a:off x="407988" y="4275251"/>
            <a:ext cx="4000000" cy="27699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200" b="1" spc="300">
                <a:solidFill>
                  <a:srgbClr val="C2FE06"/>
                </a:solidFill>
              </a:rPr>
              <a:t>AFTER</a:t>
            </a:r>
          </a:p>
        </p:txBody>
      </p:sp>
      <p:sp>
        <p:nvSpPr>
          <p:cNvPr id="41" name="LabelCurrent"/>
          <p:cNvSpPr txBox="1"/>
          <p:nvPr/>
        </p:nvSpPr>
        <p:spPr>
          <a:xfrm>
            <a:off x="407988" y="1985251"/>
            <a:ext cx="4000000" cy="276999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200" b="1" spc="300">
                <a:solidFill>
                  <a:srgbClr val="B9C4C9"/>
                </a:solidFill>
              </a:rPr>
              <a:t>TODAY</a:t>
            </a:r>
          </a:p>
        </p:txBody>
      </p:sp>
      <p:sp>
        <p:nvSpPr>
          <p:cNvPr id="42" name="RuleAfter"/>
          <p:cNvSpPr/>
          <p:nvPr/>
        </p:nvSpPr>
        <p:spPr>
          <a:xfrm>
            <a:off x="407988" y="4555251"/>
            <a:ext cx="11372842" cy="12700"/>
          </a:xfrm>
          <a:prstGeom prst="rect">
            <a:avLst/>
          </a:prstGeom>
          <a:solidFill>
            <a:srgbClr val="C2FE06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3" name="RuleToday"/>
          <p:cNvSpPr/>
          <p:nvPr/>
        </p:nvSpPr>
        <p:spPr>
          <a:xfrm>
            <a:off x="407988" y="2275251"/>
            <a:ext cx="11372842" cy="12700"/>
          </a:xfrm>
          <a:prstGeom prst="rect">
            <a:avLst/>
          </a:prstGeom>
          <a:solidFill>
            <a:srgbClr val="7C949B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971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B4268A13-920E-3D40-2AF5-6506B4143D9B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2" imgW="395" imgH="396" progId="TCLayout.ActiveDocument.1">
                  <p:embed/>
                </p:oleObj>
              </mc:Choice>
              <mc:Fallback>
                <p:oleObj name="think-cell Slide" r:id="rId12" imgW="395" imgH="39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4268A13-920E-3D40-2AF5-6506B4143D9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93785A-AA19-633E-CA30-88603D4E4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CSD-class 0.2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A35AEF-53B7-441B-03C4-BBDFEECC15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6400" y="1056085"/>
            <a:ext cx="11380751" cy="276999"/>
          </a:xfrm>
        </p:spPr>
        <p:txBody>
          <a:bodyPr/>
          <a:lstStyle/>
          <a:p>
            <a:r>
              <a:rPr lang="en-US"/>
              <a:t>Based on the “Product Vision &amp; Roadmap” the following main objectives have prioritized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41C3728-22F5-7ECC-528A-6CB109582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>
            <a:spAutoFit/>
          </a:bodyPr>
          <a:lstStyle/>
          <a:p>
            <a:r>
              <a:rPr lang="en-US"/>
              <a:t>ReCall 2 | Quarterly Planning Q4 2026</a:t>
            </a:r>
          </a:p>
        </p:txBody>
      </p:sp>
      <p:sp>
        <p:nvSpPr>
          <p:cNvPr id="36" name="Objective 02">
            <a:extLst>
              <a:ext uri="{FF2B5EF4-FFF2-40B4-BE49-F238E27FC236}">
                <a16:creationId xmlns:a16="http://schemas.microsoft.com/office/drawing/2014/main" id="{0E94E953-650E-FA87-9289-80A1F22D58FA}"/>
              </a:ext>
            </a:extLst>
          </p:cNvPr>
          <p:cNvSpPr/>
          <p:nvPr/>
        </p:nvSpPr>
        <p:spPr>
          <a:xfrm>
            <a:off x="406400" y="2635574"/>
            <a:ext cx="2700000" cy="540000"/>
          </a:xfrm>
          <a:prstGeom prst="roundRect">
            <a:avLst>
              <a:gd name="adj" fmla="val 6000"/>
            </a:avLst>
          </a:prstGeom>
          <a:solidFill>
            <a:schemeClr val="tx2">
              <a:lumMod val="85000"/>
            </a:schemeClr>
          </a:solidFill>
          <a:ln>
            <a:noFill/>
          </a:ln>
        </p:spPr>
        <p:txBody>
          <a:bodyPr wrap="square" lIns="108000" tIns="3600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050" b="1">
                <a:solidFill>
                  <a:schemeClr val="bg1"/>
                </a:solidFill>
              </a:rPr>
              <a:t>Vehicle selection with GVF</a:t>
            </a:r>
          </a:p>
          <a:p>
            <a:pPr marL="87313" indent="-87313"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50" b="0" i="1">
                <a:solidFill>
                  <a:schemeClr val="bg1"/>
                </a:solidFill>
              </a:rPr>
              <a:t>Development a Mockup for the front end</a:t>
            </a:r>
          </a:p>
          <a:p>
            <a:pPr marL="87313" indent="-87313"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50" i="1">
                <a:solidFill>
                  <a:schemeClr val="bg1"/>
                </a:solidFill>
              </a:rPr>
              <a:t>Develop POC for the GVF-</a:t>
            </a:r>
            <a:r>
              <a:rPr lang="en-US" sz="1050" i="1" err="1">
                <a:solidFill>
                  <a:schemeClr val="bg1"/>
                </a:solidFill>
              </a:rPr>
              <a:t>Inferface</a:t>
            </a:r>
            <a:endParaRPr lang="en-US" sz="1050" b="0" i="1">
              <a:solidFill>
                <a:schemeClr val="bg1"/>
              </a:solidFill>
            </a:endParaRPr>
          </a:p>
        </p:txBody>
      </p:sp>
      <p:sp>
        <p:nvSpPr>
          <p:cNvPr id="38" name="Objective 04">
            <a:extLst>
              <a:ext uri="{FF2B5EF4-FFF2-40B4-BE49-F238E27FC236}">
                <a16:creationId xmlns:a16="http://schemas.microsoft.com/office/drawing/2014/main" id="{3E01A35F-59FA-B79F-65D7-A6CE670CEDAE}"/>
              </a:ext>
            </a:extLst>
          </p:cNvPr>
          <p:cNvSpPr/>
          <p:nvPr/>
        </p:nvSpPr>
        <p:spPr>
          <a:xfrm>
            <a:off x="9087633" y="2635574"/>
            <a:ext cx="2700000" cy="540000"/>
          </a:xfrm>
          <a:prstGeom prst="roundRect">
            <a:avLst>
              <a:gd name="adj" fmla="val 6000"/>
            </a:avLst>
          </a:prstGeom>
          <a:solidFill>
            <a:schemeClr val="tx2">
              <a:lumMod val="85000"/>
            </a:schemeClr>
          </a:solidFill>
          <a:ln>
            <a:noFill/>
          </a:ln>
        </p:spPr>
        <p:txBody>
          <a:bodyPr wrap="square" lIns="108000" tIns="3600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en-US" sz="1050" b="1">
                <a:solidFill>
                  <a:schemeClr val="bg1"/>
                </a:solidFill>
              </a:rPr>
              <a:t>Introduction</a:t>
            </a:r>
          </a:p>
          <a:p>
            <a:pPr marL="87313" indent="-87313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50" b="1" i="1">
                <a:solidFill>
                  <a:schemeClr val="bg1"/>
                </a:solidFill>
              </a:rPr>
              <a:t>China </a:t>
            </a:r>
            <a:r>
              <a:rPr lang="en-US" sz="1050" i="1">
                <a:solidFill>
                  <a:schemeClr val="bg1"/>
                </a:solidFill>
              </a:rPr>
              <a:t>VW </a:t>
            </a:r>
            <a:r>
              <a:rPr lang="en-US" sz="1050" i="1" err="1">
                <a:solidFill>
                  <a:schemeClr val="bg1"/>
                </a:solidFill>
              </a:rPr>
              <a:t>Anchui</a:t>
            </a:r>
            <a:r>
              <a:rPr lang="en-US" sz="1050" i="1">
                <a:solidFill>
                  <a:schemeClr val="bg1"/>
                </a:solidFill>
              </a:rPr>
              <a:t>, VCIC</a:t>
            </a:r>
            <a:endParaRPr lang="en-US" sz="1050">
              <a:solidFill>
                <a:schemeClr val="bg1"/>
              </a:solidFill>
            </a:endParaRPr>
          </a:p>
          <a:p>
            <a:pPr>
              <a:spcAft>
                <a:spcPts val="0"/>
              </a:spcAft>
            </a:pPr>
            <a:endParaRPr lang="en-US" sz="1050" b="1">
              <a:solidFill>
                <a:schemeClr val="bg1"/>
              </a:solidFill>
            </a:endParaRPr>
          </a:p>
        </p:txBody>
      </p:sp>
      <p:sp>
        <p:nvSpPr>
          <p:cNvPr id="40" name="Objective 05">
            <a:extLst>
              <a:ext uri="{FF2B5EF4-FFF2-40B4-BE49-F238E27FC236}">
                <a16:creationId xmlns:a16="http://schemas.microsoft.com/office/drawing/2014/main" id="{5F5E3AFD-BA5D-E54A-60E3-46222A368BA1}"/>
              </a:ext>
            </a:extLst>
          </p:cNvPr>
          <p:cNvSpPr/>
          <p:nvPr/>
        </p:nvSpPr>
        <p:spPr>
          <a:xfrm>
            <a:off x="6186567" y="3810356"/>
            <a:ext cx="2700000" cy="540000"/>
          </a:xfrm>
          <a:prstGeom prst="roundRect">
            <a:avLst>
              <a:gd name="adj" fmla="val 6000"/>
            </a:avLst>
          </a:prstGeom>
          <a:solidFill>
            <a:schemeClr val="tx2">
              <a:lumMod val="85000"/>
            </a:schemeClr>
          </a:solidFill>
          <a:ln>
            <a:noFill/>
          </a:ln>
        </p:spPr>
        <p:txBody>
          <a:bodyPr wrap="square" lIns="108000" tIns="3600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050" b="1">
                <a:solidFill>
                  <a:schemeClr val="bg1"/>
                </a:solidFill>
              </a:rPr>
              <a:t>Request for RVS reports</a:t>
            </a:r>
          </a:p>
          <a:p>
            <a:pPr marL="87313" indent="-87313"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50" i="1">
                <a:solidFill>
                  <a:schemeClr val="bg1"/>
                </a:solidFill>
              </a:rPr>
              <a:t>Finalizing of all 30 open request</a:t>
            </a:r>
            <a:br>
              <a:rPr lang="en-US" sz="1050" i="1">
                <a:solidFill>
                  <a:schemeClr val="bg1"/>
                </a:solidFill>
              </a:rPr>
            </a:br>
            <a:r>
              <a:rPr lang="en-US" sz="1050" i="1">
                <a:solidFill>
                  <a:schemeClr val="bg1"/>
                </a:solidFill>
              </a:rPr>
              <a:t>RVS-reports for the Importer</a:t>
            </a:r>
            <a:endParaRPr lang="en-US" sz="1050" b="0" i="1">
              <a:solidFill>
                <a:schemeClr val="bg1"/>
              </a:solidFill>
            </a:endParaRPr>
          </a:p>
        </p:txBody>
      </p:sp>
      <p:sp>
        <p:nvSpPr>
          <p:cNvPr id="42" name="Objective 06">
            <a:extLst>
              <a:ext uri="{FF2B5EF4-FFF2-40B4-BE49-F238E27FC236}">
                <a16:creationId xmlns:a16="http://schemas.microsoft.com/office/drawing/2014/main" id="{30DD573D-723D-C299-6FC5-1E43277BDC07}"/>
              </a:ext>
            </a:extLst>
          </p:cNvPr>
          <p:cNvSpPr/>
          <p:nvPr/>
        </p:nvSpPr>
        <p:spPr>
          <a:xfrm>
            <a:off x="6186567" y="3221068"/>
            <a:ext cx="2700000" cy="540000"/>
          </a:xfrm>
          <a:prstGeom prst="roundRect">
            <a:avLst>
              <a:gd name="adj" fmla="val 6000"/>
            </a:avLst>
          </a:prstGeom>
          <a:solidFill>
            <a:schemeClr val="tx2">
              <a:lumMod val="85000"/>
            </a:schemeClr>
          </a:solidFill>
          <a:ln>
            <a:noFill/>
          </a:ln>
        </p:spPr>
        <p:txBody>
          <a:bodyPr wrap="square" lIns="108000" tIns="36000" rIns="0" bIns="0" anchor="t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050" b="1">
                <a:solidFill>
                  <a:schemeClr val="bg1"/>
                </a:solidFill>
              </a:rPr>
              <a:t>Missed Campaigns</a:t>
            </a:r>
          </a:p>
        </p:txBody>
      </p:sp>
      <p:sp>
        <p:nvSpPr>
          <p:cNvPr id="44" name="Objective 07">
            <a:extLst>
              <a:ext uri="{FF2B5EF4-FFF2-40B4-BE49-F238E27FC236}">
                <a16:creationId xmlns:a16="http://schemas.microsoft.com/office/drawing/2014/main" id="{68D20A1C-4B37-1492-06BC-D9F8551E645A}"/>
              </a:ext>
            </a:extLst>
          </p:cNvPr>
          <p:cNvSpPr/>
          <p:nvPr/>
        </p:nvSpPr>
        <p:spPr>
          <a:xfrm>
            <a:off x="6179359" y="2635574"/>
            <a:ext cx="2700000" cy="540000"/>
          </a:xfrm>
          <a:prstGeom prst="roundRect">
            <a:avLst>
              <a:gd name="adj" fmla="val 6000"/>
            </a:avLst>
          </a:prstGeom>
          <a:solidFill>
            <a:schemeClr val="tx2">
              <a:lumMod val="85000"/>
            </a:schemeClr>
          </a:solidFill>
          <a:ln>
            <a:noFill/>
          </a:ln>
        </p:spPr>
        <p:txBody>
          <a:bodyPr wrap="square" lIns="108000" tIns="36000" rIns="0" bIns="0" anchor="t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050" b="1">
                <a:solidFill>
                  <a:schemeClr val="bg1"/>
                </a:solidFill>
              </a:rPr>
              <a:t>Multi Context Multi Brand</a:t>
            </a:r>
          </a:p>
          <a:p>
            <a:pPr marL="87313" indent="-87313"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50" b="0" i="1">
                <a:solidFill>
                  <a:schemeClr val="bg1"/>
                </a:solidFill>
              </a:rPr>
              <a:t>Enable multi country options</a:t>
            </a:r>
          </a:p>
        </p:txBody>
      </p:sp>
      <p:sp>
        <p:nvSpPr>
          <p:cNvPr id="46" name="Objective 10">
            <a:extLst>
              <a:ext uri="{FF2B5EF4-FFF2-40B4-BE49-F238E27FC236}">
                <a16:creationId xmlns:a16="http://schemas.microsoft.com/office/drawing/2014/main" id="{7D1C1DDE-A9E1-9030-C7B5-51E7F3A34477}"/>
              </a:ext>
            </a:extLst>
          </p:cNvPr>
          <p:cNvSpPr/>
          <p:nvPr/>
        </p:nvSpPr>
        <p:spPr>
          <a:xfrm>
            <a:off x="6179359" y="4399769"/>
            <a:ext cx="2700000" cy="540000"/>
          </a:xfrm>
          <a:prstGeom prst="roundRect">
            <a:avLst>
              <a:gd name="adj" fmla="val 6000"/>
            </a:avLst>
          </a:prstGeom>
          <a:solidFill>
            <a:schemeClr val="tx2">
              <a:lumMod val="85000"/>
            </a:schemeClr>
          </a:solidFill>
          <a:ln>
            <a:noFill/>
          </a:ln>
        </p:spPr>
        <p:txBody>
          <a:bodyPr wrap="square" lIns="108000" tIns="36000" rIns="0" bIns="0" anchor="t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050" b="1">
                <a:solidFill>
                  <a:schemeClr val="bg1"/>
                </a:solidFill>
              </a:rPr>
              <a:t>Introduction of new consumer type</a:t>
            </a:r>
            <a:br>
              <a:rPr lang="en-US" sz="1050" b="1">
                <a:solidFill>
                  <a:schemeClr val="bg1"/>
                </a:solidFill>
              </a:rPr>
            </a:br>
            <a:r>
              <a:rPr lang="en-US" sz="1050" b="1">
                <a:solidFill>
                  <a:schemeClr val="bg1"/>
                </a:solidFill>
              </a:rPr>
              <a:t>for the VIN checker</a:t>
            </a:r>
          </a:p>
        </p:txBody>
      </p:sp>
      <p:sp>
        <p:nvSpPr>
          <p:cNvPr id="48" name="Objective 01">
            <a:extLst>
              <a:ext uri="{FF2B5EF4-FFF2-40B4-BE49-F238E27FC236}">
                <a16:creationId xmlns:a16="http://schemas.microsoft.com/office/drawing/2014/main" id="{2522729C-7ADB-48B8-F1B6-A106AC4E0317}"/>
              </a:ext>
            </a:extLst>
          </p:cNvPr>
          <p:cNvSpPr/>
          <p:nvPr/>
        </p:nvSpPr>
        <p:spPr>
          <a:xfrm>
            <a:off x="407988" y="3810356"/>
            <a:ext cx="2700000" cy="540000"/>
          </a:xfrm>
          <a:prstGeom prst="roundRect">
            <a:avLst>
              <a:gd name="adj" fmla="val 6000"/>
            </a:avLst>
          </a:prstGeom>
          <a:solidFill>
            <a:schemeClr val="tx2">
              <a:lumMod val="85000"/>
            </a:schemeClr>
          </a:solidFill>
          <a:ln>
            <a:noFill/>
          </a:ln>
        </p:spPr>
        <p:txBody>
          <a:bodyPr wrap="square" lIns="108000" tIns="3600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050" b="1">
                <a:solidFill>
                  <a:schemeClr val="bg1"/>
                </a:solidFill>
              </a:rPr>
              <a:t>New interface to ORU backend</a:t>
            </a:r>
          </a:p>
          <a:p>
            <a:pPr marL="87313" indent="-87313"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50" i="1">
                <a:solidFill>
                  <a:schemeClr val="bg1"/>
                </a:solidFill>
              </a:rPr>
              <a:t>Technical conception of ORU interfaces</a:t>
            </a:r>
          </a:p>
          <a:p>
            <a:pPr algn="l">
              <a:spcAft>
                <a:spcPts val="0"/>
              </a:spcAft>
              <a:tabLst>
                <a:tab pos="87313" algn="l"/>
              </a:tabLst>
            </a:pPr>
            <a:r>
              <a:rPr lang="en-US" sz="1050" i="1">
                <a:solidFill>
                  <a:schemeClr val="bg1"/>
                </a:solidFill>
              </a:rPr>
              <a:t>	(Development start in Q1/2027)</a:t>
            </a:r>
            <a:endParaRPr lang="en-US" sz="1050" b="0" i="1">
              <a:solidFill>
                <a:schemeClr val="bg1"/>
              </a:solidFill>
            </a:endParaRPr>
          </a:p>
        </p:txBody>
      </p:sp>
      <p:sp>
        <p:nvSpPr>
          <p:cNvPr id="50" name="Objective 03">
            <a:extLst>
              <a:ext uri="{FF2B5EF4-FFF2-40B4-BE49-F238E27FC236}">
                <a16:creationId xmlns:a16="http://schemas.microsoft.com/office/drawing/2014/main" id="{B5FD4FC4-5C9E-3389-0331-2B08E46CCECC}"/>
              </a:ext>
            </a:extLst>
          </p:cNvPr>
          <p:cNvSpPr/>
          <p:nvPr/>
        </p:nvSpPr>
        <p:spPr>
          <a:xfrm>
            <a:off x="407988" y="3221068"/>
            <a:ext cx="2700000" cy="540000"/>
          </a:xfrm>
          <a:prstGeom prst="roundRect">
            <a:avLst>
              <a:gd name="adj" fmla="val 6000"/>
            </a:avLst>
          </a:prstGeom>
          <a:solidFill>
            <a:schemeClr val="tx2">
              <a:lumMod val="85000"/>
            </a:schemeClr>
          </a:solidFill>
          <a:ln>
            <a:noFill/>
          </a:ln>
        </p:spPr>
        <p:txBody>
          <a:bodyPr wrap="square" lIns="108000" tIns="36000" rIns="0" bIns="0" anchor="t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050" b="1">
                <a:solidFill>
                  <a:schemeClr val="bg1"/>
                </a:solidFill>
              </a:rPr>
              <a:t>Replacement of CARPORT by GVF</a:t>
            </a:r>
          </a:p>
          <a:p>
            <a:pPr marL="87313" indent="-87313"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50" b="0" i="1">
                <a:solidFill>
                  <a:schemeClr val="bg1"/>
                </a:solidFill>
              </a:rPr>
              <a:t>Build interfaces to GVF for regular exchange processes (Scrapped VIN)</a:t>
            </a:r>
          </a:p>
          <a:p>
            <a:pPr algn="l">
              <a:spcAft>
                <a:spcPts val="0"/>
              </a:spcAft>
            </a:pPr>
            <a:endParaRPr lang="en-US" sz="1050" b="0">
              <a:solidFill>
                <a:schemeClr val="bg1"/>
              </a:solidFill>
            </a:endParaRPr>
          </a:p>
        </p:txBody>
      </p:sp>
      <p:sp>
        <p:nvSpPr>
          <p:cNvPr id="52" name="Objective 08">
            <a:extLst>
              <a:ext uri="{FF2B5EF4-FFF2-40B4-BE49-F238E27FC236}">
                <a16:creationId xmlns:a16="http://schemas.microsoft.com/office/drawing/2014/main" id="{0C44A11E-4938-73E4-B4F3-191D803D7AB7}"/>
              </a:ext>
            </a:extLst>
          </p:cNvPr>
          <p:cNvSpPr/>
          <p:nvPr/>
        </p:nvSpPr>
        <p:spPr>
          <a:xfrm>
            <a:off x="3301204" y="2635574"/>
            <a:ext cx="2700000" cy="540000"/>
          </a:xfrm>
          <a:prstGeom prst="roundRect">
            <a:avLst>
              <a:gd name="adj" fmla="val 6000"/>
            </a:avLst>
          </a:prstGeom>
          <a:solidFill>
            <a:schemeClr val="tx2">
              <a:lumMod val="85000"/>
            </a:schemeClr>
          </a:solidFill>
          <a:ln>
            <a:noFill/>
          </a:ln>
        </p:spPr>
        <p:txBody>
          <a:bodyPr wrap="square" lIns="108000" tIns="36000" rIns="0" bIns="0" anchor="t">
            <a:normAutofit/>
          </a:bodyPr>
          <a:lstStyle/>
          <a:p>
            <a:pPr marL="87313" indent="-87313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50" i="1">
                <a:solidFill>
                  <a:schemeClr val="bg1"/>
                </a:solidFill>
              </a:rPr>
              <a:t>Database clustering</a:t>
            </a:r>
          </a:p>
          <a:p>
            <a:pPr marL="87313" indent="-87313"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50" b="0" i="1">
                <a:solidFill>
                  <a:schemeClr val="bg1"/>
                </a:solidFill>
              </a:rPr>
              <a:t>Reduction of services</a:t>
            </a:r>
          </a:p>
          <a:p>
            <a:pPr marL="87313" indent="-87313"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50" b="0" i="1">
                <a:solidFill>
                  <a:schemeClr val="bg1"/>
                </a:solidFill>
              </a:rPr>
              <a:t>Logging concept</a:t>
            </a:r>
          </a:p>
        </p:txBody>
      </p:sp>
      <p:sp>
        <p:nvSpPr>
          <p:cNvPr id="54" name="Objective 09">
            <a:extLst>
              <a:ext uri="{FF2B5EF4-FFF2-40B4-BE49-F238E27FC236}">
                <a16:creationId xmlns:a16="http://schemas.microsoft.com/office/drawing/2014/main" id="{C849258D-42DB-416F-2C3E-5E6DD3F83405}"/>
              </a:ext>
            </a:extLst>
          </p:cNvPr>
          <p:cNvSpPr/>
          <p:nvPr/>
        </p:nvSpPr>
        <p:spPr>
          <a:xfrm>
            <a:off x="417330" y="6154310"/>
            <a:ext cx="11357339" cy="495004"/>
          </a:xfrm>
          <a:prstGeom prst="roundRect">
            <a:avLst>
              <a:gd name="adj" fmla="val 6000"/>
            </a:avLst>
          </a:prstGeom>
          <a:solidFill>
            <a:schemeClr val="tx2">
              <a:lumMod val="85000"/>
            </a:schemeClr>
          </a:solidFill>
          <a:ln>
            <a:noFill/>
          </a:ln>
        </p:spPr>
        <p:txBody>
          <a:bodyPr lIns="137160" tIns="91440" rIns="137160" bIns="91440" anchor="t">
            <a:normAutofit/>
          </a:bodyPr>
          <a:lstStyle/>
          <a:p>
            <a:pPr algn="l">
              <a:buNone/>
            </a:pPr>
            <a:r>
              <a:rPr lang="en-US" sz="1400" b="1">
                <a:solidFill>
                  <a:schemeClr val="bg1"/>
                </a:solidFill>
              </a:rPr>
              <a:t>Operation work (Bugs, Support,…)</a:t>
            </a:r>
          </a:p>
        </p:txBody>
      </p:sp>
      <p:sp>
        <p:nvSpPr>
          <p:cNvPr id="56" name="Objective 11">
            <a:extLst>
              <a:ext uri="{FF2B5EF4-FFF2-40B4-BE49-F238E27FC236}">
                <a16:creationId xmlns:a16="http://schemas.microsoft.com/office/drawing/2014/main" id="{DFFD69F1-21BC-0195-E2F0-91995793BF3C}"/>
              </a:ext>
            </a:extLst>
          </p:cNvPr>
          <p:cNvSpPr/>
          <p:nvPr/>
        </p:nvSpPr>
        <p:spPr>
          <a:xfrm>
            <a:off x="6179359" y="4985198"/>
            <a:ext cx="2700000" cy="540000"/>
          </a:xfrm>
          <a:prstGeom prst="roundRect">
            <a:avLst>
              <a:gd name="adj" fmla="val 6000"/>
            </a:avLst>
          </a:prstGeom>
          <a:solidFill>
            <a:schemeClr val="tx2">
              <a:lumMod val="85000"/>
            </a:schemeClr>
          </a:solidFill>
          <a:ln>
            <a:noFill/>
          </a:ln>
        </p:spPr>
        <p:txBody>
          <a:bodyPr wrap="square" lIns="108000" tIns="3600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en-US" sz="1050" b="1">
                <a:solidFill>
                  <a:schemeClr val="bg1"/>
                </a:solidFill>
              </a:rPr>
              <a:t>New role</a:t>
            </a:r>
            <a:br>
              <a:rPr lang="en-US" sz="1050" b="1">
                <a:solidFill>
                  <a:schemeClr val="bg1"/>
                </a:solidFill>
              </a:rPr>
            </a:br>
            <a:r>
              <a:rPr lang="en-US" sz="1050" i="1">
                <a:solidFill>
                  <a:schemeClr val="bg1"/>
                </a:solidFill>
              </a:rPr>
              <a:t>Support administrator </a:t>
            </a:r>
            <a:br>
              <a:rPr lang="en-US" sz="1050" i="1">
                <a:solidFill>
                  <a:schemeClr val="bg1"/>
                </a:solidFill>
              </a:rPr>
            </a:br>
            <a:r>
              <a:rPr lang="en-US" sz="1050" i="1">
                <a:solidFill>
                  <a:schemeClr val="bg1"/>
                </a:solidFill>
              </a:rPr>
              <a:t>(Read only)</a:t>
            </a:r>
          </a:p>
          <a:p>
            <a:pPr algn="l">
              <a:spcAft>
                <a:spcPts val="0"/>
              </a:spcAft>
            </a:pPr>
            <a:endParaRPr lang="en-US" sz="1050" b="0">
              <a:solidFill>
                <a:schemeClr val="bg1"/>
              </a:solidFill>
            </a:endParaRPr>
          </a:p>
        </p:txBody>
      </p:sp>
      <p:sp>
        <p:nvSpPr>
          <p:cNvPr id="58" name="Objective 12">
            <a:extLst>
              <a:ext uri="{FF2B5EF4-FFF2-40B4-BE49-F238E27FC236}">
                <a16:creationId xmlns:a16="http://schemas.microsoft.com/office/drawing/2014/main" id="{0B2C0E8E-5F8B-633F-45FD-B0CECDCC5B2F}"/>
              </a:ext>
            </a:extLst>
          </p:cNvPr>
          <p:cNvSpPr/>
          <p:nvPr/>
        </p:nvSpPr>
        <p:spPr>
          <a:xfrm>
            <a:off x="3301204" y="3221068"/>
            <a:ext cx="2700000" cy="540000"/>
          </a:xfrm>
          <a:prstGeom prst="roundRect">
            <a:avLst>
              <a:gd name="adj" fmla="val 6000"/>
            </a:avLst>
          </a:prstGeom>
          <a:solidFill>
            <a:schemeClr val="tx2">
              <a:lumMod val="85000"/>
            </a:schemeClr>
          </a:solidFill>
          <a:ln>
            <a:noFill/>
          </a:ln>
        </p:spPr>
        <p:txBody>
          <a:bodyPr wrap="square" lIns="108000" tIns="36000" rIns="0" bIns="0" anchor="t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050" b="1">
                <a:solidFill>
                  <a:schemeClr val="bg1"/>
                </a:solidFill>
              </a:rPr>
              <a:t>New authentication system</a:t>
            </a:r>
          </a:p>
        </p:txBody>
      </p:sp>
      <p:sp>
        <p:nvSpPr>
          <p:cNvPr id="63" name="Rectangle: Rounded Corners 32">
            <a:extLst>
              <a:ext uri="{FF2B5EF4-FFF2-40B4-BE49-F238E27FC236}">
                <a16:creationId xmlns:a16="http://schemas.microsoft.com/office/drawing/2014/main" id="{88824936-75EA-3C87-6C6A-FC44F9882156}"/>
              </a:ext>
            </a:extLst>
          </p:cNvPr>
          <p:cNvSpPr/>
          <p:nvPr/>
        </p:nvSpPr>
        <p:spPr>
          <a:xfrm>
            <a:off x="423049" y="1854294"/>
            <a:ext cx="2700000" cy="684842"/>
          </a:xfrm>
          <a:prstGeom prst="roundRect">
            <a:avLst>
              <a:gd name="adj" fmla="val 6000"/>
            </a:avLst>
          </a:prstGeom>
          <a:solidFill>
            <a:schemeClr val="accent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45720" rIns="137160" bIns="45720" rtlCol="0" anchor="ctr">
            <a:normAutofit/>
          </a:bodyPr>
          <a:lstStyle/>
          <a:p>
            <a:pPr algn="ctr">
              <a:buNone/>
            </a:pPr>
            <a:endParaRPr lang="en-US" sz="1400" b="1">
              <a:solidFill>
                <a:srgbClr val="C2FE06"/>
              </a:solidFill>
            </a:endParaRPr>
          </a:p>
        </p:txBody>
      </p:sp>
      <p:sp>
        <p:nvSpPr>
          <p:cNvPr id="15" name="Rectangle: Rounded Corners 16">
            <a:extLst>
              <a:ext uri="{FF2B5EF4-FFF2-40B4-BE49-F238E27FC236}">
                <a16:creationId xmlns:a16="http://schemas.microsoft.com/office/drawing/2014/main" id="{19CCC402-FE49-BB31-3C21-9010CCB4D7DE}"/>
              </a:ext>
            </a:extLst>
          </p:cNvPr>
          <p:cNvSpPr/>
          <p:nvPr/>
        </p:nvSpPr>
        <p:spPr>
          <a:xfrm>
            <a:off x="1452853" y="1923353"/>
            <a:ext cx="1232048" cy="54672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New vehicle architecture</a:t>
            </a:r>
          </a:p>
        </p:txBody>
      </p:sp>
      <p:grpSp>
        <p:nvGrpSpPr>
          <p:cNvPr id="37" name="Gruppieren 36">
            <a:extLst>
              <a:ext uri="{FF2B5EF4-FFF2-40B4-BE49-F238E27FC236}">
                <a16:creationId xmlns:a16="http://schemas.microsoft.com/office/drawing/2014/main" id="{3EFCF01F-865C-DD96-FE84-CC098D790AE7}"/>
              </a:ext>
            </a:extLst>
          </p:cNvPr>
          <p:cNvGrpSpPr/>
          <p:nvPr/>
        </p:nvGrpSpPr>
        <p:grpSpPr>
          <a:xfrm>
            <a:off x="861198" y="1941222"/>
            <a:ext cx="530225" cy="530225"/>
            <a:chOff x="644334" y="1939133"/>
            <a:chExt cx="530225" cy="530225"/>
          </a:xfrm>
        </p:grpSpPr>
        <p:pic>
          <p:nvPicPr>
            <p:cNvPr id="29" name="Pic">
              <a:extLst>
                <a:ext uri="{FF2B5EF4-FFF2-40B4-BE49-F238E27FC236}">
                  <a16:creationId xmlns:a16="http://schemas.microsoft.com/office/drawing/2014/main" id="{531D4FAC-4066-96C8-38AC-6FF1E594AD86}"/>
                </a:ext>
              </a:extLst>
            </p:cNvPr>
            <p:cNvPicPr>
              <a:picLocks/>
            </p:cNvPicPr>
            <p:nvPr>
              <p:custDataLst>
                <p:tags r:id="rId8"/>
              </p:custDataLst>
            </p:nvPr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  <a:ext uri="{6F801314-5768-4EAC-8CED-0F2297F94238}"/>
              </a:extLst>
            </a:blip>
            <a:stretch>
              <a:fillRect/>
            </a:stretch>
          </p:blipFill>
          <p:spPr bwMode="auto">
            <a:xfrm>
              <a:off x="644334" y="1939133"/>
              <a:ext cx="530225" cy="530225"/>
            </a:xfrm>
            <a:prstGeom prst="rect">
              <a:avLst/>
            </a:prstGeom>
            <a:noFill/>
            <a:ln>
              <a:noFill/>
            </a:ln>
            <a:effectLst/>
          </p:spPr>
        </p:pic>
        <p:pic>
          <p:nvPicPr>
            <p:cNvPr id="31" name="Pic">
              <a:extLst>
                <a:ext uri="{FF2B5EF4-FFF2-40B4-BE49-F238E27FC236}">
                  <a16:creationId xmlns:a16="http://schemas.microsoft.com/office/drawing/2014/main" id="{A6139A79-92F0-723E-0F2B-43FE76354BDF}"/>
                </a:ext>
              </a:extLst>
            </p:cNvPr>
            <p:cNvPicPr>
              <a:picLocks/>
            </p:cNvPicPr>
            <p:nvPr>
              <p:custDataLst>
                <p:tags r:id="rId9"/>
              </p:custDataLst>
            </p:nvPr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  <a:ext uri="{6F801314-5768-4EAC-8CED-0F2297F94238}"/>
              </a:extLst>
            </a:blip>
            <a:stretch>
              <a:fillRect/>
            </a:stretch>
          </p:blipFill>
          <p:spPr bwMode="auto">
            <a:xfrm>
              <a:off x="782446" y="2006189"/>
              <a:ext cx="254000" cy="254000"/>
            </a:xfrm>
            <a:prstGeom prst="rect">
              <a:avLst/>
            </a:prstGeom>
            <a:noFill/>
            <a:ln>
              <a:noFill/>
            </a:ln>
            <a:effectLst/>
          </p:spPr>
        </p:pic>
      </p:grpSp>
      <p:sp>
        <p:nvSpPr>
          <p:cNvPr id="35" name="Rectangle: Rounded Corners 32">
            <a:extLst>
              <a:ext uri="{FF2B5EF4-FFF2-40B4-BE49-F238E27FC236}">
                <a16:creationId xmlns:a16="http://schemas.microsoft.com/office/drawing/2014/main" id="{34FC55E2-7CC8-2562-3FC8-ACFA386BA890}"/>
              </a:ext>
            </a:extLst>
          </p:cNvPr>
          <p:cNvSpPr/>
          <p:nvPr/>
        </p:nvSpPr>
        <p:spPr>
          <a:xfrm>
            <a:off x="3301204" y="1854294"/>
            <a:ext cx="2700000" cy="684842"/>
          </a:xfrm>
          <a:prstGeom prst="roundRect">
            <a:avLst>
              <a:gd name="adj" fmla="val 6000"/>
            </a:avLst>
          </a:prstGeom>
          <a:solidFill>
            <a:schemeClr val="accent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45720" rIns="137160" bIns="45720" rtlCol="0" anchor="ctr">
            <a:normAutofit/>
          </a:bodyPr>
          <a:lstStyle/>
          <a:p>
            <a:pPr algn="ctr">
              <a:buNone/>
            </a:pPr>
            <a:endParaRPr lang="en-US" sz="1400" b="1">
              <a:solidFill>
                <a:srgbClr val="C2FE06"/>
              </a:solidFill>
            </a:endParaRPr>
          </a:p>
        </p:txBody>
      </p:sp>
      <p:sp>
        <p:nvSpPr>
          <p:cNvPr id="9" name="Rectangle: Rounded Corners 13">
            <a:extLst>
              <a:ext uri="{FF2B5EF4-FFF2-40B4-BE49-F238E27FC236}">
                <a16:creationId xmlns:a16="http://schemas.microsoft.com/office/drawing/2014/main" id="{980D48A8-44E6-5D7B-89AE-9FA8A2274546}"/>
              </a:ext>
            </a:extLst>
          </p:cNvPr>
          <p:cNvSpPr/>
          <p:nvPr/>
        </p:nvSpPr>
        <p:spPr>
          <a:xfrm>
            <a:off x="4180418" y="1923353"/>
            <a:ext cx="1446805" cy="54672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Architecture Roadmap</a:t>
            </a:r>
          </a:p>
        </p:txBody>
      </p:sp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3C56FDD7-8F42-6E1A-F283-FC0DF61A9473}"/>
              </a:ext>
            </a:extLst>
          </p:cNvPr>
          <p:cNvGrpSpPr/>
          <p:nvPr/>
        </p:nvGrpSpPr>
        <p:grpSpPr>
          <a:xfrm>
            <a:off x="3675186" y="1931603"/>
            <a:ext cx="530225" cy="530225"/>
            <a:chOff x="3676225" y="1939133"/>
            <a:chExt cx="530225" cy="530225"/>
          </a:xfrm>
        </p:grpSpPr>
        <p:pic>
          <p:nvPicPr>
            <p:cNvPr id="17" name="Pic">
              <a:extLst>
                <a:ext uri="{FF2B5EF4-FFF2-40B4-BE49-F238E27FC236}">
                  <a16:creationId xmlns:a16="http://schemas.microsoft.com/office/drawing/2014/main" id="{CD320111-11B3-D6C9-6C07-07506DEB8624}"/>
                </a:ext>
              </a:extLst>
            </p:cNvPr>
            <p:cNvPicPr>
              <a:picLocks/>
            </p:cNvPicPr>
            <p:nvPr>
              <p:custDataLst>
                <p:tags r:id="rId6"/>
              </p:custDataLst>
            </p:nvPr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  <a:ext uri="{6F801314-5768-4EAC-8CED-0F2297F94238}"/>
              </a:extLst>
            </a:blip>
            <a:stretch>
              <a:fillRect/>
            </a:stretch>
          </p:blipFill>
          <p:spPr bwMode="auto">
            <a:xfrm>
              <a:off x="3676225" y="1939133"/>
              <a:ext cx="530225" cy="530225"/>
            </a:xfrm>
            <a:prstGeom prst="rect">
              <a:avLst/>
            </a:prstGeom>
            <a:noFill/>
            <a:ln>
              <a:noFill/>
            </a:ln>
            <a:effectLst/>
          </p:spPr>
        </p:pic>
        <p:pic>
          <p:nvPicPr>
            <p:cNvPr id="19" name="Pic">
              <a:extLst>
                <a:ext uri="{FF2B5EF4-FFF2-40B4-BE49-F238E27FC236}">
                  <a16:creationId xmlns:a16="http://schemas.microsoft.com/office/drawing/2014/main" id="{B69181BB-B019-9571-901F-281DEC108CB7}"/>
                </a:ext>
              </a:extLst>
            </p:cNvPr>
            <p:cNvPicPr>
              <a:picLocks/>
            </p:cNvPicPr>
            <p:nvPr>
              <p:custDataLst>
                <p:tags r:id="rId7"/>
              </p:custDataLst>
            </p:nvPr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  <a:ext uri="{6F801314-5768-4EAC-8CED-0F2297F94238}"/>
              </a:extLst>
            </a:blip>
            <a:stretch>
              <a:fillRect/>
            </a:stretch>
          </p:blipFill>
          <p:spPr bwMode="auto">
            <a:xfrm>
              <a:off x="3814337" y="2000093"/>
              <a:ext cx="254000" cy="254000"/>
            </a:xfrm>
            <a:prstGeom prst="rect">
              <a:avLst/>
            </a:prstGeom>
            <a:noFill/>
            <a:ln>
              <a:noFill/>
            </a:ln>
            <a:effectLst/>
          </p:spPr>
        </p:pic>
      </p:grpSp>
      <p:sp>
        <p:nvSpPr>
          <p:cNvPr id="53" name="Rectangle: Rounded Corners 32">
            <a:extLst>
              <a:ext uri="{FF2B5EF4-FFF2-40B4-BE49-F238E27FC236}">
                <a16:creationId xmlns:a16="http://schemas.microsoft.com/office/drawing/2014/main" id="{0C12E48C-9AE7-20E3-D9E4-9266C0681273}"/>
              </a:ext>
            </a:extLst>
          </p:cNvPr>
          <p:cNvSpPr/>
          <p:nvPr/>
        </p:nvSpPr>
        <p:spPr>
          <a:xfrm>
            <a:off x="6179359" y="1854294"/>
            <a:ext cx="2700000" cy="684842"/>
          </a:xfrm>
          <a:prstGeom prst="roundRect">
            <a:avLst>
              <a:gd name="adj" fmla="val 6000"/>
            </a:avLst>
          </a:prstGeom>
          <a:solidFill>
            <a:schemeClr val="accent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45720" rIns="137160" bIns="45720" rtlCol="0" anchor="ctr">
            <a:normAutofit/>
          </a:bodyPr>
          <a:lstStyle/>
          <a:p>
            <a:pPr algn="ctr">
              <a:buNone/>
            </a:pPr>
            <a:endParaRPr lang="en-US" sz="1400" b="1">
              <a:solidFill>
                <a:srgbClr val="C2FE06"/>
              </a:solidFill>
            </a:endParaRPr>
          </a:p>
        </p:txBody>
      </p:sp>
      <p:sp>
        <p:nvSpPr>
          <p:cNvPr id="11" name="Rectangle: Rounded Corners 14">
            <a:extLst>
              <a:ext uri="{FF2B5EF4-FFF2-40B4-BE49-F238E27FC236}">
                <a16:creationId xmlns:a16="http://schemas.microsoft.com/office/drawing/2014/main" id="{EAB5F8C3-D2E2-7A85-3126-A0A37550EF71}"/>
              </a:ext>
            </a:extLst>
          </p:cNvPr>
          <p:cNvSpPr/>
          <p:nvPr/>
        </p:nvSpPr>
        <p:spPr>
          <a:xfrm>
            <a:off x="6937659" y="1923353"/>
            <a:ext cx="1751511" cy="54672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Enrichment of existing functions</a:t>
            </a:r>
          </a:p>
        </p:txBody>
      </p: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43DCC654-CB15-2270-A568-0EB9375CBF3E}"/>
              </a:ext>
            </a:extLst>
          </p:cNvPr>
          <p:cNvGrpSpPr/>
          <p:nvPr/>
        </p:nvGrpSpPr>
        <p:grpSpPr>
          <a:xfrm>
            <a:off x="6369548" y="1931603"/>
            <a:ext cx="530225" cy="530225"/>
            <a:chOff x="6095575" y="1939133"/>
            <a:chExt cx="530225" cy="530225"/>
          </a:xfrm>
        </p:grpSpPr>
        <p:pic>
          <p:nvPicPr>
            <p:cNvPr id="21" name="Pic">
              <a:extLst>
                <a:ext uri="{FF2B5EF4-FFF2-40B4-BE49-F238E27FC236}">
                  <a16:creationId xmlns:a16="http://schemas.microsoft.com/office/drawing/2014/main" id="{6ECEE33B-771C-9B25-7650-770955C819D3}"/>
                </a:ext>
              </a:extLst>
            </p:cNvPr>
            <p:cNvPicPr>
              <a:picLocks/>
            </p:cNvPicPr>
            <p:nvPr>
              <p:custDataLst>
                <p:tags r:id="rId4"/>
              </p:custDataLst>
            </p:nvPr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  <a:ext uri="{6F801314-5768-4EAC-8CED-0F2297F94238}"/>
              </a:extLst>
            </a:blip>
            <a:stretch>
              <a:fillRect/>
            </a:stretch>
          </p:blipFill>
          <p:spPr bwMode="auto">
            <a:xfrm>
              <a:off x="6095575" y="1939133"/>
              <a:ext cx="530225" cy="530225"/>
            </a:xfrm>
            <a:prstGeom prst="rect">
              <a:avLst/>
            </a:prstGeom>
            <a:noFill/>
            <a:ln>
              <a:noFill/>
            </a:ln>
            <a:effectLst/>
          </p:spPr>
        </p:pic>
        <p:pic>
          <p:nvPicPr>
            <p:cNvPr id="23" name="Pic">
              <a:extLst>
                <a:ext uri="{FF2B5EF4-FFF2-40B4-BE49-F238E27FC236}">
                  <a16:creationId xmlns:a16="http://schemas.microsoft.com/office/drawing/2014/main" id="{D3003C16-EA82-6E75-8854-ACD41C738FD8}"/>
                </a:ext>
              </a:extLst>
            </p:cNvPr>
            <p:cNvPicPr>
              <a:picLocks/>
            </p:cNvPicPr>
            <p:nvPr>
              <p:custDataLst>
                <p:tags r:id="rId5"/>
              </p:custDataLst>
            </p:nvPr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  <a:ext uri="{6F801314-5768-4EAC-8CED-0F2297F94238}"/>
              </a:extLst>
            </a:blip>
            <a:stretch>
              <a:fillRect/>
            </a:stretch>
          </p:blipFill>
          <p:spPr bwMode="auto">
            <a:xfrm>
              <a:off x="6233687" y="2000093"/>
              <a:ext cx="254000" cy="254000"/>
            </a:xfrm>
            <a:prstGeom prst="rect">
              <a:avLst/>
            </a:prstGeom>
            <a:noFill/>
            <a:ln>
              <a:noFill/>
            </a:ln>
            <a:effectLst/>
          </p:spPr>
        </p:pic>
      </p:grpSp>
      <p:sp>
        <p:nvSpPr>
          <p:cNvPr id="55" name="Rectangle: Rounded Corners 32">
            <a:extLst>
              <a:ext uri="{FF2B5EF4-FFF2-40B4-BE49-F238E27FC236}">
                <a16:creationId xmlns:a16="http://schemas.microsoft.com/office/drawing/2014/main" id="{40E81B6D-7B29-E9B3-355E-274ED61F148B}"/>
              </a:ext>
            </a:extLst>
          </p:cNvPr>
          <p:cNvSpPr/>
          <p:nvPr/>
        </p:nvSpPr>
        <p:spPr>
          <a:xfrm>
            <a:off x="9057515" y="1854294"/>
            <a:ext cx="2700000" cy="684842"/>
          </a:xfrm>
          <a:prstGeom prst="roundRect">
            <a:avLst>
              <a:gd name="adj" fmla="val 6000"/>
            </a:avLst>
          </a:prstGeom>
          <a:solidFill>
            <a:schemeClr val="accent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45720" rIns="137160" bIns="45720" rtlCol="0" anchor="ctr">
            <a:normAutofit/>
          </a:bodyPr>
          <a:lstStyle/>
          <a:p>
            <a:pPr algn="ctr">
              <a:buNone/>
            </a:pPr>
            <a:endParaRPr lang="en-US" sz="1400" b="1">
              <a:solidFill>
                <a:srgbClr val="C2FE06"/>
              </a:solidFill>
            </a:endParaRPr>
          </a:p>
        </p:txBody>
      </p:sp>
      <p:grpSp>
        <p:nvGrpSpPr>
          <p:cNvPr id="45" name="Gruppieren 44">
            <a:extLst>
              <a:ext uri="{FF2B5EF4-FFF2-40B4-BE49-F238E27FC236}">
                <a16:creationId xmlns:a16="http://schemas.microsoft.com/office/drawing/2014/main" id="{696C276B-A784-F9B7-3987-81582774CD0F}"/>
              </a:ext>
            </a:extLst>
          </p:cNvPr>
          <p:cNvGrpSpPr/>
          <p:nvPr/>
        </p:nvGrpSpPr>
        <p:grpSpPr>
          <a:xfrm>
            <a:off x="9326836" y="1923353"/>
            <a:ext cx="2161359" cy="546724"/>
            <a:chOff x="8677783" y="1921978"/>
            <a:chExt cx="2161359" cy="546724"/>
          </a:xfrm>
        </p:grpSpPr>
        <p:sp>
          <p:nvSpPr>
            <p:cNvPr id="13" name="Rectangle: Rounded Corners 15">
              <a:extLst>
                <a:ext uri="{FF2B5EF4-FFF2-40B4-BE49-F238E27FC236}">
                  <a16:creationId xmlns:a16="http://schemas.microsoft.com/office/drawing/2014/main" id="{8A009CC4-07AD-4577-375F-18F6C31C0EC7}"/>
                </a:ext>
              </a:extLst>
            </p:cNvPr>
            <p:cNvSpPr/>
            <p:nvPr/>
          </p:nvSpPr>
          <p:spPr>
            <a:xfrm>
              <a:off x="9087632" y="1921978"/>
              <a:ext cx="1751510" cy="546724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he Group TEXT"/>
                  <a:ea typeface="+mn-ea"/>
                  <a:cs typeface="+mn-cs"/>
                </a:rPr>
                <a:t>New Markets &amp; Brands</a:t>
              </a:r>
            </a:p>
          </p:txBody>
        </p:sp>
        <p:grpSp>
          <p:nvGrpSpPr>
            <p:cNvPr id="43" name="Gruppieren 42">
              <a:extLst>
                <a:ext uri="{FF2B5EF4-FFF2-40B4-BE49-F238E27FC236}">
                  <a16:creationId xmlns:a16="http://schemas.microsoft.com/office/drawing/2014/main" id="{32E847DE-AE82-0F4C-F814-5EE12C830AEF}"/>
                </a:ext>
              </a:extLst>
            </p:cNvPr>
            <p:cNvGrpSpPr/>
            <p:nvPr/>
          </p:nvGrpSpPr>
          <p:grpSpPr>
            <a:xfrm>
              <a:off x="8677783" y="1930228"/>
              <a:ext cx="530225" cy="530225"/>
              <a:chOff x="8677783" y="1939133"/>
              <a:chExt cx="530225" cy="530225"/>
            </a:xfrm>
          </p:grpSpPr>
          <p:pic>
            <p:nvPicPr>
              <p:cNvPr id="25" name="Pic">
                <a:extLst>
                  <a:ext uri="{FF2B5EF4-FFF2-40B4-BE49-F238E27FC236}">
                    <a16:creationId xmlns:a16="http://schemas.microsoft.com/office/drawing/2014/main" id="{D4B4405E-2FBA-61B2-1494-84F2BD72B756}"/>
                  </a:ext>
                </a:extLst>
              </p:cNvPr>
              <p:cNvPicPr>
                <a:picLocks/>
              </p:cNvPicPr>
              <p:nvPr>
                <p:custDataLst>
                  <p:tags r:id="rId2"/>
                </p:custDataLst>
              </p:nvPr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4"/>
                  </a:ext>
                  <a:ext uri="{6F801314-5768-4EAC-8CED-0F2297F94238}"/>
                </a:extLst>
              </a:blip>
              <a:stretch>
                <a:fillRect/>
              </a:stretch>
            </p:blipFill>
            <p:spPr bwMode="auto">
              <a:xfrm>
                <a:off x="8677783" y="1939133"/>
                <a:ext cx="530225" cy="5302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</p:pic>
          <p:pic>
            <p:nvPicPr>
              <p:cNvPr id="27" name="Pic">
                <a:extLst>
                  <a:ext uri="{FF2B5EF4-FFF2-40B4-BE49-F238E27FC236}">
                    <a16:creationId xmlns:a16="http://schemas.microsoft.com/office/drawing/2014/main" id="{457B991F-EF06-B76F-7394-824E6CF95ABC}"/>
                  </a:ext>
                </a:extLst>
              </p:cNvPr>
              <p:cNvPicPr>
                <a:picLocks/>
              </p:cNvPicPr>
              <p:nvPr>
                <p:custDataLst>
                  <p:tags r:id="rId3"/>
                </p:custDataLst>
              </p:nvPr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8"/>
                  </a:ext>
                  <a:ext uri="{6F801314-5768-4EAC-8CED-0F2297F94238}"/>
                </a:extLst>
              </a:blip>
              <a:stretch>
                <a:fillRect/>
              </a:stretch>
            </p:blipFill>
            <p:spPr bwMode="auto">
              <a:xfrm>
                <a:off x="8815895" y="1987901"/>
                <a:ext cx="254000" cy="254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</p:pic>
        </p:grpSp>
      </p:grpSp>
      <p:sp>
        <p:nvSpPr>
          <p:cNvPr id="4" name="Objective 11">
            <a:extLst>
              <a:ext uri="{FF2B5EF4-FFF2-40B4-BE49-F238E27FC236}">
                <a16:creationId xmlns:a16="http://schemas.microsoft.com/office/drawing/2014/main" id="{B9F44DA8-BF39-08B8-68B1-ECDCA8C74ED9}"/>
              </a:ext>
            </a:extLst>
          </p:cNvPr>
          <p:cNvSpPr/>
          <p:nvPr/>
        </p:nvSpPr>
        <p:spPr>
          <a:xfrm>
            <a:off x="6164781" y="5573564"/>
            <a:ext cx="2700000" cy="540000"/>
          </a:xfrm>
          <a:prstGeom prst="roundRect">
            <a:avLst>
              <a:gd name="adj" fmla="val 6000"/>
            </a:avLst>
          </a:prstGeom>
          <a:solidFill>
            <a:schemeClr val="tx2">
              <a:lumMod val="85000"/>
            </a:schemeClr>
          </a:solidFill>
          <a:ln>
            <a:noFill/>
          </a:ln>
        </p:spPr>
        <p:txBody>
          <a:bodyPr wrap="square" lIns="108000" tIns="3600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en-US" sz="1050" b="1" i="1">
                <a:solidFill>
                  <a:schemeClr val="bg1"/>
                </a:solidFill>
              </a:rPr>
              <a:t>Management controls – Approver on notifications</a:t>
            </a:r>
            <a:endParaRPr lang="en-US" sz="1050" i="1">
              <a:solidFill>
                <a:schemeClr val="bg1"/>
              </a:solidFill>
            </a:endParaRPr>
          </a:p>
          <a:p>
            <a:pPr algn="l">
              <a:spcAft>
                <a:spcPts val="0"/>
              </a:spcAft>
            </a:pPr>
            <a:endParaRPr lang="en-US" sz="1050" b="0">
              <a:solidFill>
                <a:schemeClr val="bg1"/>
              </a:solidFill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B40797F6-D0AF-BDDB-6B61-23156B8F3BB7}"/>
              </a:ext>
            </a:extLst>
          </p:cNvPr>
          <p:cNvSpPr txBox="1"/>
          <p:nvPr/>
        </p:nvSpPr>
        <p:spPr>
          <a:xfrm>
            <a:off x="8590700" y="5732032"/>
            <a:ext cx="30805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C882BE"/>
                </a:solidFill>
              </a:rPr>
              <a:t>M1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923E804D-EEFB-ED85-A821-65C745A03A52}"/>
              </a:ext>
            </a:extLst>
          </p:cNvPr>
          <p:cNvSpPr txBox="1"/>
          <p:nvPr/>
        </p:nvSpPr>
        <p:spPr>
          <a:xfrm>
            <a:off x="8590700" y="5045915"/>
            <a:ext cx="30805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C882BE"/>
                </a:solidFill>
              </a:rPr>
              <a:t>M1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D9688476-DB46-16DA-70CD-C8B1A007F77C}"/>
              </a:ext>
            </a:extLst>
          </p:cNvPr>
          <p:cNvSpPr txBox="1"/>
          <p:nvPr/>
        </p:nvSpPr>
        <p:spPr>
          <a:xfrm>
            <a:off x="8590700" y="5258900"/>
            <a:ext cx="30805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C882BE"/>
                </a:solidFill>
              </a:rPr>
              <a:t>M2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E5DA046F-FA5F-E9F9-A226-45DDE5A70BCC}"/>
              </a:ext>
            </a:extLst>
          </p:cNvPr>
          <p:cNvSpPr txBox="1"/>
          <p:nvPr/>
        </p:nvSpPr>
        <p:spPr>
          <a:xfrm>
            <a:off x="8590700" y="4555540"/>
            <a:ext cx="30805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C882BE"/>
                </a:solidFill>
              </a:rPr>
              <a:t>M2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24D4A995-CE86-DE6D-C881-0C3249DB8136}"/>
              </a:ext>
            </a:extLst>
          </p:cNvPr>
          <p:cNvSpPr txBox="1"/>
          <p:nvPr/>
        </p:nvSpPr>
        <p:spPr>
          <a:xfrm>
            <a:off x="8590700" y="3977491"/>
            <a:ext cx="30805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C882BE"/>
                </a:solidFill>
              </a:rPr>
              <a:t>M2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84588DA9-351E-FA12-0888-36766EDF81F2}"/>
              </a:ext>
            </a:extLst>
          </p:cNvPr>
          <p:cNvSpPr txBox="1"/>
          <p:nvPr/>
        </p:nvSpPr>
        <p:spPr>
          <a:xfrm>
            <a:off x="8590700" y="3399442"/>
            <a:ext cx="30805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C882BE"/>
                </a:solidFill>
              </a:rPr>
              <a:t>M2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1024F0AD-120A-DBC3-1868-9CEFFE411BAD}"/>
              </a:ext>
            </a:extLst>
          </p:cNvPr>
          <p:cNvSpPr txBox="1"/>
          <p:nvPr/>
        </p:nvSpPr>
        <p:spPr>
          <a:xfrm>
            <a:off x="8590700" y="2821393"/>
            <a:ext cx="30805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C882BE"/>
                </a:solidFill>
              </a:rPr>
              <a:t>M2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28AE20F4-6EDA-A2E8-8B99-57B360F998C2}"/>
              </a:ext>
            </a:extLst>
          </p:cNvPr>
          <p:cNvSpPr txBox="1"/>
          <p:nvPr/>
        </p:nvSpPr>
        <p:spPr>
          <a:xfrm>
            <a:off x="11466473" y="2713979"/>
            <a:ext cx="30805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C882BE"/>
                </a:solidFill>
              </a:rPr>
              <a:t>M1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C6DD66EF-7A9C-FBD9-DD1F-4B3275D334FC}"/>
              </a:ext>
            </a:extLst>
          </p:cNvPr>
          <p:cNvSpPr txBox="1"/>
          <p:nvPr/>
        </p:nvSpPr>
        <p:spPr>
          <a:xfrm>
            <a:off x="11466473" y="2926964"/>
            <a:ext cx="30805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C882BE"/>
                </a:solidFill>
              </a:rPr>
              <a:t>M2</a:t>
            </a:r>
          </a:p>
        </p:txBody>
      </p:sp>
      <p:sp>
        <p:nvSpPr>
          <p:cNvPr id="26" name="Oval 70">
            <a:extLst>
              <a:ext uri="{FF2B5EF4-FFF2-40B4-BE49-F238E27FC236}">
                <a16:creationId xmlns:a16="http://schemas.microsoft.com/office/drawing/2014/main" id="{A7F95800-F354-999C-0A30-F3FF5EF9422F}"/>
              </a:ext>
            </a:extLst>
          </p:cNvPr>
          <p:cNvSpPr/>
          <p:nvPr/>
        </p:nvSpPr>
        <p:spPr>
          <a:xfrm>
            <a:off x="166277" y="2796215"/>
            <a:ext cx="251053" cy="261498"/>
          </a:xfrm>
          <a:prstGeom prst="ellipse">
            <a:avLst/>
          </a:prstGeom>
          <a:solidFill>
            <a:srgbClr val="FAAA3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BB1E6C14-54D9-6105-2981-A10B3EA7570B}"/>
              </a:ext>
            </a:extLst>
          </p:cNvPr>
          <p:cNvSpPr txBox="1"/>
          <p:nvPr/>
        </p:nvSpPr>
        <p:spPr>
          <a:xfrm>
            <a:off x="11459534" y="6213480"/>
            <a:ext cx="30805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C882BE"/>
                </a:solidFill>
              </a:rPr>
              <a:t>M1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04974638-ED4D-AFBE-478A-7A16D78A7693}"/>
              </a:ext>
            </a:extLst>
          </p:cNvPr>
          <p:cNvSpPr txBox="1"/>
          <p:nvPr/>
        </p:nvSpPr>
        <p:spPr>
          <a:xfrm>
            <a:off x="11459534" y="6426465"/>
            <a:ext cx="30805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C882BE"/>
                </a:solidFill>
              </a:rPr>
              <a:t>M2</a:t>
            </a:r>
          </a:p>
        </p:txBody>
      </p:sp>
    </p:spTree>
    <p:extLst>
      <p:ext uri="{BB962C8B-B14F-4D97-AF65-F5344CB8AC3E}">
        <p14:creationId xmlns:p14="http://schemas.microsoft.com/office/powerpoint/2010/main" val="139076755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B4268A13-920E-3D40-2AF5-6506B4143D9B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2" imgW="395" imgH="396" progId="TCLayout.ActiveDocument.1">
                  <p:embed/>
                </p:oleObj>
              </mc:Choice>
              <mc:Fallback>
                <p:oleObj name="think-cell Slide" r:id="rId12" imgW="395" imgH="39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4268A13-920E-3D40-2AF5-6506B4143D9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93785A-AA19-633E-CA30-88603D4E4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CSD-class 0.2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A35AEF-53B7-441B-03C4-BBDFEECC15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6400" y="1056085"/>
            <a:ext cx="11380751" cy="276999"/>
          </a:xfrm>
        </p:spPr>
        <p:txBody>
          <a:bodyPr/>
          <a:lstStyle/>
          <a:p>
            <a:r>
              <a:rPr lang="en-US"/>
              <a:t>Based on the “Product Vision &amp; Roadmap” the following main objectives have prioritized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41C3728-22F5-7ECC-528A-6CB109582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>
            <a:spAutoFit/>
          </a:bodyPr>
          <a:lstStyle/>
          <a:p>
            <a:r>
              <a:rPr lang="en-US" err="1"/>
              <a:t>ReCall 2 | Quarterly Planning Q4 2026</a:t>
            </a:r>
          </a:p>
        </p:txBody>
      </p:sp>
      <p:sp>
        <p:nvSpPr>
          <p:cNvPr id="36" name="Objective 02">
            <a:extLst>
              <a:ext uri="{FF2B5EF4-FFF2-40B4-BE49-F238E27FC236}">
                <a16:creationId xmlns:a16="http://schemas.microsoft.com/office/drawing/2014/main" id="{0E94E953-650E-FA87-9289-80A1F22D58FA}"/>
              </a:ext>
            </a:extLst>
          </p:cNvPr>
          <p:cNvSpPr/>
          <p:nvPr/>
        </p:nvSpPr>
        <p:spPr>
          <a:xfrm>
            <a:off x="406400" y="2635574"/>
            <a:ext cx="2700000" cy="540000"/>
          </a:xfrm>
          <a:prstGeom prst="roundRect">
            <a:avLst>
              <a:gd name="adj" fmla="val 6000"/>
            </a:avLst>
          </a:prstGeom>
          <a:solidFill>
            <a:schemeClr val="tx2">
              <a:lumMod val="85000"/>
            </a:schemeClr>
          </a:solidFill>
          <a:ln>
            <a:noFill/>
          </a:ln>
        </p:spPr>
        <p:txBody>
          <a:bodyPr wrap="square" lIns="108000" tIns="3600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050" b="1">
                <a:solidFill>
                  <a:schemeClr val="bg1"/>
                </a:solidFill>
              </a:rPr>
              <a:t>Vehicle selection from GVF</a:t>
            </a:r>
          </a:p>
          <a:p>
            <a:pPr marL="87313" indent="-87313"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50" b="0" i="1">
                <a:solidFill>
                  <a:schemeClr val="bg1"/>
                </a:solidFill>
              </a:rPr>
              <a:t>Development a Mockup for the front end</a:t>
            </a:r>
          </a:p>
          <a:p>
            <a:pPr marL="87313" indent="-87313"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50" i="1">
                <a:solidFill>
                  <a:schemeClr val="bg1"/>
                </a:solidFill>
              </a:rPr>
              <a:t>Develop POC for the GVF-</a:t>
            </a:r>
            <a:r>
              <a:rPr lang="en-US" sz="1050" i="1" err="1">
                <a:solidFill>
                  <a:schemeClr val="bg1"/>
                </a:solidFill>
              </a:rPr>
              <a:t>Inferface</a:t>
            </a:r>
            <a:endParaRPr lang="en-US" sz="1050" b="0" i="1">
              <a:solidFill>
                <a:schemeClr val="bg1"/>
              </a:solidFill>
            </a:endParaRPr>
          </a:p>
        </p:txBody>
      </p:sp>
      <p:sp>
        <p:nvSpPr>
          <p:cNvPr id="38" name="Objective 04">
            <a:extLst>
              <a:ext uri="{FF2B5EF4-FFF2-40B4-BE49-F238E27FC236}">
                <a16:creationId xmlns:a16="http://schemas.microsoft.com/office/drawing/2014/main" id="{3E01A35F-59FA-B79F-65D7-A6CE670CEDAE}"/>
              </a:ext>
            </a:extLst>
          </p:cNvPr>
          <p:cNvSpPr/>
          <p:nvPr/>
        </p:nvSpPr>
        <p:spPr>
          <a:xfrm>
            <a:off x="9087633" y="2635574"/>
            <a:ext cx="2700000" cy="540000"/>
          </a:xfrm>
          <a:prstGeom prst="roundRect">
            <a:avLst>
              <a:gd name="adj" fmla="val 6000"/>
            </a:avLst>
          </a:prstGeom>
          <a:solidFill>
            <a:schemeClr val="tx2">
              <a:lumMod val="85000"/>
            </a:schemeClr>
          </a:solidFill>
          <a:ln>
            <a:noFill/>
          </a:ln>
        </p:spPr>
        <p:txBody>
          <a:bodyPr wrap="square" lIns="108000" tIns="3600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en-US" sz="1050" b="1">
                <a:solidFill>
                  <a:schemeClr val="bg1"/>
                </a:solidFill>
              </a:rPr>
              <a:t>Introduction</a:t>
            </a:r>
          </a:p>
          <a:p>
            <a:pPr marL="87313" indent="-87313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50" b="1" i="1">
                <a:solidFill>
                  <a:schemeClr val="bg1"/>
                </a:solidFill>
              </a:rPr>
              <a:t>China </a:t>
            </a:r>
            <a:r>
              <a:rPr lang="en-US" sz="1050" i="1">
                <a:solidFill>
                  <a:schemeClr val="bg1"/>
                </a:solidFill>
              </a:rPr>
              <a:t>VW </a:t>
            </a:r>
            <a:r>
              <a:rPr lang="en-US" sz="1050" i="1" err="1">
                <a:solidFill>
                  <a:schemeClr val="bg1"/>
                </a:solidFill>
              </a:rPr>
              <a:t>Anchui</a:t>
            </a:r>
            <a:r>
              <a:rPr lang="en-US" sz="1050" i="1">
                <a:solidFill>
                  <a:schemeClr val="bg1"/>
                </a:solidFill>
              </a:rPr>
              <a:t>, VCIC</a:t>
            </a:r>
            <a:endParaRPr lang="en-US" sz="1050">
              <a:solidFill>
                <a:schemeClr val="bg1"/>
              </a:solidFill>
            </a:endParaRPr>
          </a:p>
          <a:p>
            <a:pPr>
              <a:spcAft>
                <a:spcPts val="0"/>
              </a:spcAft>
            </a:pPr>
            <a:endParaRPr lang="en-US" sz="1050" b="1">
              <a:solidFill>
                <a:schemeClr val="bg1"/>
              </a:solidFill>
            </a:endParaRPr>
          </a:p>
        </p:txBody>
      </p:sp>
      <p:sp>
        <p:nvSpPr>
          <p:cNvPr id="40" name="Objective 05">
            <a:extLst>
              <a:ext uri="{FF2B5EF4-FFF2-40B4-BE49-F238E27FC236}">
                <a16:creationId xmlns:a16="http://schemas.microsoft.com/office/drawing/2014/main" id="{5F5E3AFD-BA5D-E54A-60E3-46222A368BA1}"/>
              </a:ext>
            </a:extLst>
          </p:cNvPr>
          <p:cNvSpPr/>
          <p:nvPr/>
        </p:nvSpPr>
        <p:spPr>
          <a:xfrm>
            <a:off x="6186567" y="3810356"/>
            <a:ext cx="2700000" cy="540000"/>
          </a:xfrm>
          <a:prstGeom prst="roundRect">
            <a:avLst>
              <a:gd name="adj" fmla="val 6000"/>
            </a:avLst>
          </a:prstGeom>
          <a:solidFill>
            <a:schemeClr val="tx2">
              <a:lumMod val="85000"/>
            </a:schemeClr>
          </a:solidFill>
          <a:ln>
            <a:noFill/>
          </a:ln>
        </p:spPr>
        <p:txBody>
          <a:bodyPr wrap="square" lIns="108000" tIns="3600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050" b="1">
                <a:solidFill>
                  <a:schemeClr val="bg1"/>
                </a:solidFill>
              </a:rPr>
              <a:t>Request for RVS reports</a:t>
            </a:r>
          </a:p>
          <a:p>
            <a:pPr marL="87313" indent="-87313"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50" i="1">
                <a:solidFill>
                  <a:schemeClr val="bg1"/>
                </a:solidFill>
              </a:rPr>
              <a:t>Finalizing of all 30 open request</a:t>
            </a:r>
            <a:br>
              <a:rPr lang="en-US" sz="1050" i="1">
                <a:solidFill>
                  <a:schemeClr val="bg1"/>
                </a:solidFill>
              </a:rPr>
            </a:br>
            <a:r>
              <a:rPr lang="en-US" sz="1050" i="1">
                <a:solidFill>
                  <a:schemeClr val="bg1"/>
                </a:solidFill>
              </a:rPr>
              <a:t>RVS-reports for the Importer</a:t>
            </a:r>
            <a:endParaRPr lang="en-US" sz="1050" b="0" i="1">
              <a:solidFill>
                <a:schemeClr val="bg1"/>
              </a:solidFill>
            </a:endParaRPr>
          </a:p>
        </p:txBody>
      </p:sp>
      <p:sp>
        <p:nvSpPr>
          <p:cNvPr id="42" name="Objective 06">
            <a:extLst>
              <a:ext uri="{FF2B5EF4-FFF2-40B4-BE49-F238E27FC236}">
                <a16:creationId xmlns:a16="http://schemas.microsoft.com/office/drawing/2014/main" id="{30DD573D-723D-C299-6FC5-1E43277BDC07}"/>
              </a:ext>
            </a:extLst>
          </p:cNvPr>
          <p:cNvSpPr/>
          <p:nvPr/>
        </p:nvSpPr>
        <p:spPr>
          <a:xfrm>
            <a:off x="6186567" y="3221068"/>
            <a:ext cx="2700000" cy="540000"/>
          </a:xfrm>
          <a:prstGeom prst="roundRect">
            <a:avLst>
              <a:gd name="adj" fmla="val 6000"/>
            </a:avLst>
          </a:prstGeom>
          <a:solidFill>
            <a:schemeClr val="tx2">
              <a:lumMod val="85000"/>
            </a:schemeClr>
          </a:solidFill>
          <a:ln>
            <a:noFill/>
          </a:ln>
        </p:spPr>
        <p:txBody>
          <a:bodyPr wrap="square" lIns="108000" tIns="36000" rIns="0" bIns="0" anchor="t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050" b="1">
                <a:solidFill>
                  <a:schemeClr val="bg1"/>
                </a:solidFill>
              </a:rPr>
              <a:t>Missed Campaigns</a:t>
            </a:r>
          </a:p>
        </p:txBody>
      </p:sp>
      <p:sp>
        <p:nvSpPr>
          <p:cNvPr id="44" name="Objective 07">
            <a:extLst>
              <a:ext uri="{FF2B5EF4-FFF2-40B4-BE49-F238E27FC236}">
                <a16:creationId xmlns:a16="http://schemas.microsoft.com/office/drawing/2014/main" id="{68D20A1C-4B37-1492-06BC-D9F8551E645A}"/>
              </a:ext>
            </a:extLst>
          </p:cNvPr>
          <p:cNvSpPr/>
          <p:nvPr/>
        </p:nvSpPr>
        <p:spPr>
          <a:xfrm>
            <a:off x="6179359" y="2635574"/>
            <a:ext cx="2700000" cy="540000"/>
          </a:xfrm>
          <a:prstGeom prst="roundRect">
            <a:avLst>
              <a:gd name="adj" fmla="val 6000"/>
            </a:avLst>
          </a:prstGeom>
          <a:solidFill>
            <a:schemeClr val="tx2">
              <a:lumMod val="85000"/>
            </a:schemeClr>
          </a:solidFill>
          <a:ln>
            <a:noFill/>
          </a:ln>
        </p:spPr>
        <p:txBody>
          <a:bodyPr wrap="square" lIns="108000" tIns="36000" rIns="0" bIns="0" anchor="t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050" b="1">
                <a:solidFill>
                  <a:schemeClr val="bg1"/>
                </a:solidFill>
              </a:rPr>
              <a:t>Multi Context Multi Brand</a:t>
            </a:r>
          </a:p>
          <a:p>
            <a:pPr marL="87313" indent="-87313"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50" b="0" i="1">
                <a:solidFill>
                  <a:schemeClr val="bg1"/>
                </a:solidFill>
              </a:rPr>
              <a:t>Enable multi country options</a:t>
            </a:r>
          </a:p>
        </p:txBody>
      </p:sp>
      <p:sp>
        <p:nvSpPr>
          <p:cNvPr id="46" name="Objective 10">
            <a:extLst>
              <a:ext uri="{FF2B5EF4-FFF2-40B4-BE49-F238E27FC236}">
                <a16:creationId xmlns:a16="http://schemas.microsoft.com/office/drawing/2014/main" id="{7D1C1DDE-A9E1-9030-C7B5-51E7F3A34477}"/>
              </a:ext>
            </a:extLst>
          </p:cNvPr>
          <p:cNvSpPr/>
          <p:nvPr/>
        </p:nvSpPr>
        <p:spPr>
          <a:xfrm>
            <a:off x="6179359" y="4399769"/>
            <a:ext cx="2700000" cy="540000"/>
          </a:xfrm>
          <a:prstGeom prst="roundRect">
            <a:avLst>
              <a:gd name="adj" fmla="val 6000"/>
            </a:avLst>
          </a:prstGeom>
          <a:solidFill>
            <a:schemeClr val="tx2">
              <a:lumMod val="85000"/>
            </a:schemeClr>
          </a:solidFill>
          <a:ln>
            <a:noFill/>
          </a:ln>
        </p:spPr>
        <p:txBody>
          <a:bodyPr wrap="square" lIns="108000" tIns="36000" rIns="0" bIns="0" anchor="t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050" b="1">
                <a:solidFill>
                  <a:schemeClr val="bg1"/>
                </a:solidFill>
              </a:rPr>
              <a:t>Introduction of new consumer type</a:t>
            </a:r>
            <a:br>
              <a:rPr lang="en-US" sz="1050" b="1">
                <a:solidFill>
                  <a:schemeClr val="bg1"/>
                </a:solidFill>
              </a:rPr>
            </a:br>
            <a:r>
              <a:rPr lang="en-US" sz="1050" b="1">
                <a:solidFill>
                  <a:schemeClr val="bg1"/>
                </a:solidFill>
              </a:rPr>
              <a:t>for the VIN checker</a:t>
            </a:r>
          </a:p>
        </p:txBody>
      </p:sp>
      <p:sp>
        <p:nvSpPr>
          <p:cNvPr id="48" name="Objective 01">
            <a:extLst>
              <a:ext uri="{FF2B5EF4-FFF2-40B4-BE49-F238E27FC236}">
                <a16:creationId xmlns:a16="http://schemas.microsoft.com/office/drawing/2014/main" id="{2522729C-7ADB-48B8-F1B6-A106AC4E0317}"/>
              </a:ext>
            </a:extLst>
          </p:cNvPr>
          <p:cNvSpPr/>
          <p:nvPr/>
        </p:nvSpPr>
        <p:spPr>
          <a:xfrm>
            <a:off x="407988" y="3810356"/>
            <a:ext cx="2700000" cy="540000"/>
          </a:xfrm>
          <a:prstGeom prst="roundRect">
            <a:avLst>
              <a:gd name="adj" fmla="val 6000"/>
            </a:avLst>
          </a:prstGeom>
          <a:solidFill>
            <a:schemeClr val="tx2">
              <a:lumMod val="85000"/>
            </a:schemeClr>
          </a:solidFill>
          <a:ln>
            <a:noFill/>
          </a:ln>
        </p:spPr>
        <p:txBody>
          <a:bodyPr wrap="square" lIns="108000" tIns="3600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050" b="1">
                <a:solidFill>
                  <a:schemeClr val="bg1"/>
                </a:solidFill>
              </a:rPr>
              <a:t>New interface to ORU backend</a:t>
            </a:r>
          </a:p>
          <a:p>
            <a:pPr marL="87313" indent="-87313"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50" i="1">
                <a:solidFill>
                  <a:schemeClr val="bg1"/>
                </a:solidFill>
              </a:rPr>
              <a:t>Technical conception of ORU interfaces</a:t>
            </a:r>
          </a:p>
          <a:p>
            <a:pPr algn="l">
              <a:spcAft>
                <a:spcPts val="0"/>
              </a:spcAft>
              <a:tabLst>
                <a:tab pos="87313" algn="l"/>
              </a:tabLst>
            </a:pPr>
            <a:r>
              <a:rPr lang="en-US" sz="1050" i="1">
                <a:solidFill>
                  <a:schemeClr val="bg1"/>
                </a:solidFill>
              </a:rPr>
              <a:t>	(Development start in Q1/2027)</a:t>
            </a:r>
            <a:endParaRPr lang="en-US" sz="1050" b="0" i="1">
              <a:solidFill>
                <a:schemeClr val="bg1"/>
              </a:solidFill>
            </a:endParaRPr>
          </a:p>
        </p:txBody>
      </p:sp>
      <p:sp>
        <p:nvSpPr>
          <p:cNvPr id="50" name="Objective 03">
            <a:extLst>
              <a:ext uri="{FF2B5EF4-FFF2-40B4-BE49-F238E27FC236}">
                <a16:creationId xmlns:a16="http://schemas.microsoft.com/office/drawing/2014/main" id="{B5FD4FC4-5C9E-3389-0331-2B08E46CCECC}"/>
              </a:ext>
            </a:extLst>
          </p:cNvPr>
          <p:cNvSpPr/>
          <p:nvPr/>
        </p:nvSpPr>
        <p:spPr>
          <a:xfrm>
            <a:off x="407988" y="3221068"/>
            <a:ext cx="2700000" cy="540000"/>
          </a:xfrm>
          <a:prstGeom prst="roundRect">
            <a:avLst>
              <a:gd name="adj" fmla="val 6000"/>
            </a:avLst>
          </a:prstGeom>
          <a:solidFill>
            <a:schemeClr val="tx2">
              <a:lumMod val="85000"/>
            </a:schemeClr>
          </a:solidFill>
          <a:ln>
            <a:noFill/>
          </a:ln>
        </p:spPr>
        <p:txBody>
          <a:bodyPr wrap="square" lIns="108000" tIns="36000" rIns="0" bIns="0" anchor="t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050" b="1">
                <a:solidFill>
                  <a:schemeClr val="bg1"/>
                </a:solidFill>
              </a:rPr>
              <a:t>Replacement of CARPORT by GVF</a:t>
            </a:r>
          </a:p>
          <a:p>
            <a:pPr marL="87313" indent="-87313"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50" b="0" i="1">
                <a:solidFill>
                  <a:schemeClr val="bg1"/>
                </a:solidFill>
              </a:rPr>
              <a:t>Build interfaces to GVF for regular exchange processes (Scrapped VIN)</a:t>
            </a:r>
          </a:p>
          <a:p>
            <a:pPr algn="l">
              <a:spcAft>
                <a:spcPts val="0"/>
              </a:spcAft>
            </a:pPr>
            <a:endParaRPr lang="en-US" sz="1050" b="0">
              <a:solidFill>
                <a:schemeClr val="bg1"/>
              </a:solidFill>
            </a:endParaRPr>
          </a:p>
        </p:txBody>
      </p:sp>
      <p:sp>
        <p:nvSpPr>
          <p:cNvPr id="52" name="Objective 08">
            <a:extLst>
              <a:ext uri="{FF2B5EF4-FFF2-40B4-BE49-F238E27FC236}">
                <a16:creationId xmlns:a16="http://schemas.microsoft.com/office/drawing/2014/main" id="{0C44A11E-4938-73E4-B4F3-191D803D7AB7}"/>
              </a:ext>
            </a:extLst>
          </p:cNvPr>
          <p:cNvSpPr/>
          <p:nvPr/>
        </p:nvSpPr>
        <p:spPr>
          <a:xfrm>
            <a:off x="3301204" y="2635574"/>
            <a:ext cx="2700000" cy="540000"/>
          </a:xfrm>
          <a:prstGeom prst="roundRect">
            <a:avLst>
              <a:gd name="adj" fmla="val 6000"/>
            </a:avLst>
          </a:prstGeom>
          <a:solidFill>
            <a:schemeClr val="tx2">
              <a:lumMod val="85000"/>
            </a:schemeClr>
          </a:solidFill>
          <a:ln>
            <a:noFill/>
          </a:ln>
        </p:spPr>
        <p:txBody>
          <a:bodyPr wrap="square" lIns="108000" tIns="36000" rIns="0" bIns="0" anchor="t">
            <a:normAutofit/>
          </a:bodyPr>
          <a:lstStyle/>
          <a:p>
            <a:pPr marL="87313" indent="-87313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50" i="1">
                <a:solidFill>
                  <a:schemeClr val="bg1"/>
                </a:solidFill>
              </a:rPr>
              <a:t>Database clustering</a:t>
            </a:r>
          </a:p>
          <a:p>
            <a:pPr marL="87313" indent="-87313"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50" b="0" i="1">
                <a:solidFill>
                  <a:schemeClr val="bg1"/>
                </a:solidFill>
              </a:rPr>
              <a:t>Reduction of services</a:t>
            </a:r>
          </a:p>
          <a:p>
            <a:pPr marL="87313" indent="-87313"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50" b="0" i="1">
                <a:solidFill>
                  <a:schemeClr val="bg1"/>
                </a:solidFill>
              </a:rPr>
              <a:t>Logging concept</a:t>
            </a:r>
          </a:p>
        </p:txBody>
      </p:sp>
      <p:sp>
        <p:nvSpPr>
          <p:cNvPr id="54" name="Objective 09">
            <a:extLst>
              <a:ext uri="{FF2B5EF4-FFF2-40B4-BE49-F238E27FC236}">
                <a16:creationId xmlns:a16="http://schemas.microsoft.com/office/drawing/2014/main" id="{C849258D-42DB-416F-2C3E-5E6DD3F83405}"/>
              </a:ext>
            </a:extLst>
          </p:cNvPr>
          <p:cNvSpPr/>
          <p:nvPr/>
        </p:nvSpPr>
        <p:spPr>
          <a:xfrm>
            <a:off x="417330" y="6154310"/>
            <a:ext cx="11357339" cy="351011"/>
          </a:xfrm>
          <a:prstGeom prst="roundRect">
            <a:avLst>
              <a:gd name="adj" fmla="val 6000"/>
            </a:avLst>
          </a:prstGeom>
          <a:solidFill>
            <a:schemeClr val="tx2">
              <a:lumMod val="85000"/>
            </a:schemeClr>
          </a:solidFill>
          <a:ln>
            <a:noFill/>
          </a:ln>
        </p:spPr>
        <p:txBody>
          <a:bodyPr lIns="137160" tIns="91440" rIns="137160" bIns="91440" anchor="t">
            <a:normAutofit fontScale="85000" lnSpcReduction="20000"/>
          </a:bodyPr>
          <a:lstStyle/>
          <a:p>
            <a:pPr algn="l">
              <a:buNone/>
            </a:pPr>
            <a:r>
              <a:rPr lang="en-US" sz="1400" b="1">
                <a:solidFill>
                  <a:schemeClr val="bg1"/>
                </a:solidFill>
              </a:rPr>
              <a:t>Operation work (Bugs, Support,…)</a:t>
            </a:r>
          </a:p>
        </p:txBody>
      </p:sp>
      <p:sp>
        <p:nvSpPr>
          <p:cNvPr id="56" name="Objective 11">
            <a:extLst>
              <a:ext uri="{FF2B5EF4-FFF2-40B4-BE49-F238E27FC236}">
                <a16:creationId xmlns:a16="http://schemas.microsoft.com/office/drawing/2014/main" id="{DFFD69F1-21BC-0195-E2F0-91995793BF3C}"/>
              </a:ext>
            </a:extLst>
          </p:cNvPr>
          <p:cNvSpPr/>
          <p:nvPr/>
        </p:nvSpPr>
        <p:spPr>
          <a:xfrm>
            <a:off x="6179359" y="4985198"/>
            <a:ext cx="2700000" cy="540000"/>
          </a:xfrm>
          <a:prstGeom prst="roundRect">
            <a:avLst>
              <a:gd name="adj" fmla="val 6000"/>
            </a:avLst>
          </a:prstGeom>
          <a:solidFill>
            <a:schemeClr val="tx2">
              <a:lumMod val="85000"/>
            </a:schemeClr>
          </a:solidFill>
          <a:ln>
            <a:noFill/>
          </a:ln>
        </p:spPr>
        <p:txBody>
          <a:bodyPr wrap="square" lIns="108000" tIns="3600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en-US" sz="1050" b="1">
                <a:solidFill>
                  <a:schemeClr val="bg1"/>
                </a:solidFill>
              </a:rPr>
              <a:t>New role</a:t>
            </a:r>
            <a:br>
              <a:rPr lang="en-US" sz="1050" b="1">
                <a:solidFill>
                  <a:schemeClr val="bg1"/>
                </a:solidFill>
              </a:rPr>
            </a:br>
            <a:r>
              <a:rPr lang="en-US" sz="1050" i="1">
                <a:solidFill>
                  <a:schemeClr val="bg1"/>
                </a:solidFill>
              </a:rPr>
              <a:t>Support administrator </a:t>
            </a:r>
            <a:br>
              <a:rPr lang="en-US" sz="1050" i="1">
                <a:solidFill>
                  <a:schemeClr val="bg1"/>
                </a:solidFill>
              </a:rPr>
            </a:br>
            <a:r>
              <a:rPr lang="en-US" sz="1050" i="1">
                <a:solidFill>
                  <a:schemeClr val="bg1"/>
                </a:solidFill>
              </a:rPr>
              <a:t>(Read only)</a:t>
            </a:r>
          </a:p>
          <a:p>
            <a:pPr algn="l">
              <a:spcAft>
                <a:spcPts val="0"/>
              </a:spcAft>
            </a:pPr>
            <a:endParaRPr lang="en-US" sz="1050" b="0">
              <a:solidFill>
                <a:schemeClr val="bg1"/>
              </a:solidFill>
            </a:endParaRPr>
          </a:p>
        </p:txBody>
      </p:sp>
      <p:sp>
        <p:nvSpPr>
          <p:cNvPr id="58" name="Objective 12">
            <a:extLst>
              <a:ext uri="{FF2B5EF4-FFF2-40B4-BE49-F238E27FC236}">
                <a16:creationId xmlns:a16="http://schemas.microsoft.com/office/drawing/2014/main" id="{0B2C0E8E-5F8B-633F-45FD-B0CECDCC5B2F}"/>
              </a:ext>
            </a:extLst>
          </p:cNvPr>
          <p:cNvSpPr/>
          <p:nvPr/>
        </p:nvSpPr>
        <p:spPr>
          <a:xfrm>
            <a:off x="3301204" y="3221068"/>
            <a:ext cx="2700000" cy="540000"/>
          </a:xfrm>
          <a:prstGeom prst="roundRect">
            <a:avLst>
              <a:gd name="adj" fmla="val 6000"/>
            </a:avLst>
          </a:prstGeom>
          <a:solidFill>
            <a:schemeClr val="tx2">
              <a:lumMod val="85000"/>
            </a:schemeClr>
          </a:solidFill>
          <a:ln>
            <a:noFill/>
          </a:ln>
        </p:spPr>
        <p:txBody>
          <a:bodyPr wrap="square" lIns="108000" tIns="36000" rIns="0" bIns="0" anchor="t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050" b="1">
                <a:solidFill>
                  <a:schemeClr val="bg1"/>
                </a:solidFill>
              </a:rPr>
              <a:t>New authentication system</a:t>
            </a:r>
          </a:p>
        </p:txBody>
      </p:sp>
      <p:sp>
        <p:nvSpPr>
          <p:cNvPr id="63" name="Rectangle: Rounded Corners 32">
            <a:extLst>
              <a:ext uri="{FF2B5EF4-FFF2-40B4-BE49-F238E27FC236}">
                <a16:creationId xmlns:a16="http://schemas.microsoft.com/office/drawing/2014/main" id="{88824936-75EA-3C87-6C6A-FC44F9882156}"/>
              </a:ext>
            </a:extLst>
          </p:cNvPr>
          <p:cNvSpPr/>
          <p:nvPr/>
        </p:nvSpPr>
        <p:spPr>
          <a:xfrm>
            <a:off x="423049" y="1854294"/>
            <a:ext cx="2700000" cy="684842"/>
          </a:xfrm>
          <a:prstGeom prst="roundRect">
            <a:avLst>
              <a:gd name="adj" fmla="val 6000"/>
            </a:avLst>
          </a:prstGeom>
          <a:solidFill>
            <a:schemeClr val="accent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45720" rIns="137160" bIns="45720" rtlCol="0" anchor="ctr">
            <a:normAutofit/>
          </a:bodyPr>
          <a:lstStyle/>
          <a:p>
            <a:pPr algn="ctr">
              <a:buNone/>
            </a:pPr>
            <a:endParaRPr lang="en-US" sz="1400" b="1">
              <a:solidFill>
                <a:srgbClr val="C2FE06"/>
              </a:solidFill>
            </a:endParaRPr>
          </a:p>
        </p:txBody>
      </p:sp>
      <p:sp>
        <p:nvSpPr>
          <p:cNvPr id="15" name="Rectangle: Rounded Corners 16">
            <a:extLst>
              <a:ext uri="{FF2B5EF4-FFF2-40B4-BE49-F238E27FC236}">
                <a16:creationId xmlns:a16="http://schemas.microsoft.com/office/drawing/2014/main" id="{19CCC402-FE49-BB31-3C21-9010CCB4D7DE}"/>
              </a:ext>
            </a:extLst>
          </p:cNvPr>
          <p:cNvSpPr/>
          <p:nvPr/>
        </p:nvSpPr>
        <p:spPr>
          <a:xfrm>
            <a:off x="1452853" y="1923353"/>
            <a:ext cx="1232048" cy="54672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New vehicle architecture</a:t>
            </a:r>
          </a:p>
        </p:txBody>
      </p:sp>
      <p:grpSp>
        <p:nvGrpSpPr>
          <p:cNvPr id="37" name="Gruppieren 36">
            <a:extLst>
              <a:ext uri="{FF2B5EF4-FFF2-40B4-BE49-F238E27FC236}">
                <a16:creationId xmlns:a16="http://schemas.microsoft.com/office/drawing/2014/main" id="{3EFCF01F-865C-DD96-FE84-CC098D790AE7}"/>
              </a:ext>
            </a:extLst>
          </p:cNvPr>
          <p:cNvGrpSpPr/>
          <p:nvPr/>
        </p:nvGrpSpPr>
        <p:grpSpPr>
          <a:xfrm>
            <a:off x="861198" y="1941222"/>
            <a:ext cx="530225" cy="530225"/>
            <a:chOff x="644334" y="1939133"/>
            <a:chExt cx="530225" cy="530225"/>
          </a:xfrm>
        </p:grpSpPr>
        <p:pic>
          <p:nvPicPr>
            <p:cNvPr id="29" name="Pic">
              <a:extLst>
                <a:ext uri="{FF2B5EF4-FFF2-40B4-BE49-F238E27FC236}">
                  <a16:creationId xmlns:a16="http://schemas.microsoft.com/office/drawing/2014/main" id="{531D4FAC-4066-96C8-38AC-6FF1E594AD86}"/>
                </a:ext>
              </a:extLst>
            </p:cNvPr>
            <p:cNvPicPr>
              <a:picLocks/>
            </p:cNvPicPr>
            <p:nvPr>
              <p:custDataLst>
                <p:tags r:id="rId8"/>
              </p:custDataLst>
            </p:nvPr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  <a:ext uri="{6F801314-5768-4EAC-8CED-0F2297F94238}"/>
              </a:extLst>
            </a:blip>
            <a:stretch>
              <a:fillRect/>
            </a:stretch>
          </p:blipFill>
          <p:spPr bwMode="auto">
            <a:xfrm>
              <a:off x="644334" y="1939133"/>
              <a:ext cx="530225" cy="530225"/>
            </a:xfrm>
            <a:prstGeom prst="rect">
              <a:avLst/>
            </a:prstGeom>
            <a:noFill/>
            <a:ln>
              <a:noFill/>
            </a:ln>
            <a:effectLst/>
          </p:spPr>
        </p:pic>
        <p:pic>
          <p:nvPicPr>
            <p:cNvPr id="31" name="Pic">
              <a:extLst>
                <a:ext uri="{FF2B5EF4-FFF2-40B4-BE49-F238E27FC236}">
                  <a16:creationId xmlns:a16="http://schemas.microsoft.com/office/drawing/2014/main" id="{A6139A79-92F0-723E-0F2B-43FE76354BDF}"/>
                </a:ext>
              </a:extLst>
            </p:cNvPr>
            <p:cNvPicPr>
              <a:picLocks/>
            </p:cNvPicPr>
            <p:nvPr>
              <p:custDataLst>
                <p:tags r:id="rId9"/>
              </p:custDataLst>
            </p:nvPr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  <a:ext uri="{6F801314-5768-4EAC-8CED-0F2297F94238}"/>
              </a:extLst>
            </a:blip>
            <a:stretch>
              <a:fillRect/>
            </a:stretch>
          </p:blipFill>
          <p:spPr bwMode="auto">
            <a:xfrm>
              <a:off x="782446" y="2006189"/>
              <a:ext cx="254000" cy="254000"/>
            </a:xfrm>
            <a:prstGeom prst="rect">
              <a:avLst/>
            </a:prstGeom>
            <a:noFill/>
            <a:ln>
              <a:noFill/>
            </a:ln>
            <a:effectLst/>
          </p:spPr>
        </p:pic>
      </p:grpSp>
      <p:sp>
        <p:nvSpPr>
          <p:cNvPr id="35" name="Rectangle: Rounded Corners 32">
            <a:extLst>
              <a:ext uri="{FF2B5EF4-FFF2-40B4-BE49-F238E27FC236}">
                <a16:creationId xmlns:a16="http://schemas.microsoft.com/office/drawing/2014/main" id="{34FC55E2-7CC8-2562-3FC8-ACFA386BA890}"/>
              </a:ext>
            </a:extLst>
          </p:cNvPr>
          <p:cNvSpPr/>
          <p:nvPr/>
        </p:nvSpPr>
        <p:spPr>
          <a:xfrm>
            <a:off x="3301204" y="1854294"/>
            <a:ext cx="2700000" cy="684842"/>
          </a:xfrm>
          <a:prstGeom prst="roundRect">
            <a:avLst>
              <a:gd name="adj" fmla="val 6000"/>
            </a:avLst>
          </a:prstGeom>
          <a:solidFill>
            <a:schemeClr val="accent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45720" rIns="137160" bIns="45720" rtlCol="0" anchor="ctr">
            <a:normAutofit/>
          </a:bodyPr>
          <a:lstStyle/>
          <a:p>
            <a:pPr algn="ctr">
              <a:buNone/>
            </a:pPr>
            <a:endParaRPr lang="en-US" sz="1400" b="1">
              <a:solidFill>
                <a:srgbClr val="C2FE06"/>
              </a:solidFill>
            </a:endParaRPr>
          </a:p>
        </p:txBody>
      </p:sp>
      <p:sp>
        <p:nvSpPr>
          <p:cNvPr id="9" name="Rectangle: Rounded Corners 13">
            <a:extLst>
              <a:ext uri="{FF2B5EF4-FFF2-40B4-BE49-F238E27FC236}">
                <a16:creationId xmlns:a16="http://schemas.microsoft.com/office/drawing/2014/main" id="{980D48A8-44E6-5D7B-89AE-9FA8A2274546}"/>
              </a:ext>
            </a:extLst>
          </p:cNvPr>
          <p:cNvSpPr/>
          <p:nvPr/>
        </p:nvSpPr>
        <p:spPr>
          <a:xfrm>
            <a:off x="4180418" y="1923353"/>
            <a:ext cx="1446805" cy="54672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Architecture Roadmap</a:t>
            </a:r>
          </a:p>
        </p:txBody>
      </p:sp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3C56FDD7-8F42-6E1A-F283-FC0DF61A9473}"/>
              </a:ext>
            </a:extLst>
          </p:cNvPr>
          <p:cNvGrpSpPr/>
          <p:nvPr/>
        </p:nvGrpSpPr>
        <p:grpSpPr>
          <a:xfrm>
            <a:off x="3675186" y="1931603"/>
            <a:ext cx="530225" cy="530225"/>
            <a:chOff x="3676225" y="1939133"/>
            <a:chExt cx="530225" cy="530225"/>
          </a:xfrm>
        </p:grpSpPr>
        <p:pic>
          <p:nvPicPr>
            <p:cNvPr id="17" name="Pic">
              <a:extLst>
                <a:ext uri="{FF2B5EF4-FFF2-40B4-BE49-F238E27FC236}">
                  <a16:creationId xmlns:a16="http://schemas.microsoft.com/office/drawing/2014/main" id="{CD320111-11B3-D6C9-6C07-07506DEB8624}"/>
                </a:ext>
              </a:extLst>
            </p:cNvPr>
            <p:cNvPicPr>
              <a:picLocks/>
            </p:cNvPicPr>
            <p:nvPr>
              <p:custDataLst>
                <p:tags r:id="rId6"/>
              </p:custDataLst>
            </p:nvPr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  <a:ext uri="{6F801314-5768-4EAC-8CED-0F2297F94238}"/>
              </a:extLst>
            </a:blip>
            <a:stretch>
              <a:fillRect/>
            </a:stretch>
          </p:blipFill>
          <p:spPr bwMode="auto">
            <a:xfrm>
              <a:off x="3676225" y="1939133"/>
              <a:ext cx="530225" cy="530225"/>
            </a:xfrm>
            <a:prstGeom prst="rect">
              <a:avLst/>
            </a:prstGeom>
            <a:noFill/>
            <a:ln>
              <a:noFill/>
            </a:ln>
            <a:effectLst/>
          </p:spPr>
        </p:pic>
        <p:pic>
          <p:nvPicPr>
            <p:cNvPr id="19" name="Pic">
              <a:extLst>
                <a:ext uri="{FF2B5EF4-FFF2-40B4-BE49-F238E27FC236}">
                  <a16:creationId xmlns:a16="http://schemas.microsoft.com/office/drawing/2014/main" id="{B69181BB-B019-9571-901F-281DEC108CB7}"/>
                </a:ext>
              </a:extLst>
            </p:cNvPr>
            <p:cNvPicPr>
              <a:picLocks/>
            </p:cNvPicPr>
            <p:nvPr>
              <p:custDataLst>
                <p:tags r:id="rId7"/>
              </p:custDataLst>
            </p:nvPr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  <a:ext uri="{6F801314-5768-4EAC-8CED-0F2297F94238}"/>
              </a:extLst>
            </a:blip>
            <a:stretch>
              <a:fillRect/>
            </a:stretch>
          </p:blipFill>
          <p:spPr bwMode="auto">
            <a:xfrm>
              <a:off x="3814337" y="2000093"/>
              <a:ext cx="254000" cy="254000"/>
            </a:xfrm>
            <a:prstGeom prst="rect">
              <a:avLst/>
            </a:prstGeom>
            <a:noFill/>
            <a:ln>
              <a:noFill/>
            </a:ln>
            <a:effectLst/>
          </p:spPr>
        </p:pic>
      </p:grpSp>
      <p:sp>
        <p:nvSpPr>
          <p:cNvPr id="53" name="Rectangle: Rounded Corners 32">
            <a:extLst>
              <a:ext uri="{FF2B5EF4-FFF2-40B4-BE49-F238E27FC236}">
                <a16:creationId xmlns:a16="http://schemas.microsoft.com/office/drawing/2014/main" id="{0C12E48C-9AE7-20E3-D9E4-9266C0681273}"/>
              </a:ext>
            </a:extLst>
          </p:cNvPr>
          <p:cNvSpPr/>
          <p:nvPr/>
        </p:nvSpPr>
        <p:spPr>
          <a:xfrm>
            <a:off x="6179359" y="1854294"/>
            <a:ext cx="2700000" cy="684842"/>
          </a:xfrm>
          <a:prstGeom prst="roundRect">
            <a:avLst>
              <a:gd name="adj" fmla="val 6000"/>
            </a:avLst>
          </a:prstGeom>
          <a:solidFill>
            <a:schemeClr val="accent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45720" rIns="137160" bIns="45720" rtlCol="0" anchor="ctr">
            <a:normAutofit/>
          </a:bodyPr>
          <a:lstStyle/>
          <a:p>
            <a:pPr algn="ctr">
              <a:buNone/>
            </a:pPr>
            <a:endParaRPr lang="en-US" sz="1400" b="1">
              <a:solidFill>
                <a:srgbClr val="C2FE06"/>
              </a:solidFill>
            </a:endParaRPr>
          </a:p>
        </p:txBody>
      </p:sp>
      <p:sp>
        <p:nvSpPr>
          <p:cNvPr id="11" name="Rectangle: Rounded Corners 14">
            <a:extLst>
              <a:ext uri="{FF2B5EF4-FFF2-40B4-BE49-F238E27FC236}">
                <a16:creationId xmlns:a16="http://schemas.microsoft.com/office/drawing/2014/main" id="{EAB5F8C3-D2E2-7A85-3126-A0A37550EF71}"/>
              </a:ext>
            </a:extLst>
          </p:cNvPr>
          <p:cNvSpPr/>
          <p:nvPr/>
        </p:nvSpPr>
        <p:spPr>
          <a:xfrm>
            <a:off x="6937659" y="1923353"/>
            <a:ext cx="1751511" cy="54672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Enrichment of existing functions</a:t>
            </a:r>
          </a:p>
        </p:txBody>
      </p: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43DCC654-CB15-2270-A568-0EB9375CBF3E}"/>
              </a:ext>
            </a:extLst>
          </p:cNvPr>
          <p:cNvGrpSpPr/>
          <p:nvPr/>
        </p:nvGrpSpPr>
        <p:grpSpPr>
          <a:xfrm>
            <a:off x="6369548" y="1931603"/>
            <a:ext cx="530225" cy="530225"/>
            <a:chOff x="6095575" y="1939133"/>
            <a:chExt cx="530225" cy="530225"/>
          </a:xfrm>
        </p:grpSpPr>
        <p:pic>
          <p:nvPicPr>
            <p:cNvPr id="21" name="Pic">
              <a:extLst>
                <a:ext uri="{FF2B5EF4-FFF2-40B4-BE49-F238E27FC236}">
                  <a16:creationId xmlns:a16="http://schemas.microsoft.com/office/drawing/2014/main" id="{6ECEE33B-771C-9B25-7650-770955C819D3}"/>
                </a:ext>
              </a:extLst>
            </p:cNvPr>
            <p:cNvPicPr>
              <a:picLocks/>
            </p:cNvPicPr>
            <p:nvPr>
              <p:custDataLst>
                <p:tags r:id="rId4"/>
              </p:custDataLst>
            </p:nvPr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  <a:ext uri="{6F801314-5768-4EAC-8CED-0F2297F94238}"/>
              </a:extLst>
            </a:blip>
            <a:stretch>
              <a:fillRect/>
            </a:stretch>
          </p:blipFill>
          <p:spPr bwMode="auto">
            <a:xfrm>
              <a:off x="6095575" y="1939133"/>
              <a:ext cx="530225" cy="530225"/>
            </a:xfrm>
            <a:prstGeom prst="rect">
              <a:avLst/>
            </a:prstGeom>
            <a:noFill/>
            <a:ln>
              <a:noFill/>
            </a:ln>
            <a:effectLst/>
          </p:spPr>
        </p:pic>
        <p:pic>
          <p:nvPicPr>
            <p:cNvPr id="23" name="Pic">
              <a:extLst>
                <a:ext uri="{FF2B5EF4-FFF2-40B4-BE49-F238E27FC236}">
                  <a16:creationId xmlns:a16="http://schemas.microsoft.com/office/drawing/2014/main" id="{D3003C16-EA82-6E75-8854-ACD41C738FD8}"/>
                </a:ext>
              </a:extLst>
            </p:cNvPr>
            <p:cNvPicPr>
              <a:picLocks/>
            </p:cNvPicPr>
            <p:nvPr>
              <p:custDataLst>
                <p:tags r:id="rId5"/>
              </p:custDataLst>
            </p:nvPr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  <a:ext uri="{6F801314-5768-4EAC-8CED-0F2297F94238}"/>
              </a:extLst>
            </a:blip>
            <a:stretch>
              <a:fillRect/>
            </a:stretch>
          </p:blipFill>
          <p:spPr bwMode="auto">
            <a:xfrm>
              <a:off x="6233687" y="2000093"/>
              <a:ext cx="254000" cy="254000"/>
            </a:xfrm>
            <a:prstGeom prst="rect">
              <a:avLst/>
            </a:prstGeom>
            <a:noFill/>
            <a:ln>
              <a:noFill/>
            </a:ln>
            <a:effectLst/>
          </p:spPr>
        </p:pic>
      </p:grpSp>
      <p:sp>
        <p:nvSpPr>
          <p:cNvPr id="55" name="Rectangle: Rounded Corners 32">
            <a:extLst>
              <a:ext uri="{FF2B5EF4-FFF2-40B4-BE49-F238E27FC236}">
                <a16:creationId xmlns:a16="http://schemas.microsoft.com/office/drawing/2014/main" id="{40E81B6D-7B29-E9B3-355E-274ED61F148B}"/>
              </a:ext>
            </a:extLst>
          </p:cNvPr>
          <p:cNvSpPr/>
          <p:nvPr/>
        </p:nvSpPr>
        <p:spPr>
          <a:xfrm>
            <a:off x="9057515" y="1854294"/>
            <a:ext cx="2700000" cy="684842"/>
          </a:xfrm>
          <a:prstGeom prst="roundRect">
            <a:avLst>
              <a:gd name="adj" fmla="val 6000"/>
            </a:avLst>
          </a:prstGeom>
          <a:solidFill>
            <a:schemeClr val="accent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45720" rIns="137160" bIns="45720" rtlCol="0" anchor="ctr">
            <a:normAutofit/>
          </a:bodyPr>
          <a:lstStyle/>
          <a:p>
            <a:pPr algn="ctr">
              <a:buNone/>
            </a:pPr>
            <a:endParaRPr lang="en-US" sz="1400" b="1">
              <a:solidFill>
                <a:srgbClr val="C2FE06"/>
              </a:solidFill>
            </a:endParaRPr>
          </a:p>
        </p:txBody>
      </p:sp>
      <p:grpSp>
        <p:nvGrpSpPr>
          <p:cNvPr id="45" name="Gruppieren 44">
            <a:extLst>
              <a:ext uri="{FF2B5EF4-FFF2-40B4-BE49-F238E27FC236}">
                <a16:creationId xmlns:a16="http://schemas.microsoft.com/office/drawing/2014/main" id="{696C276B-A784-F9B7-3987-81582774CD0F}"/>
              </a:ext>
            </a:extLst>
          </p:cNvPr>
          <p:cNvGrpSpPr/>
          <p:nvPr/>
        </p:nvGrpSpPr>
        <p:grpSpPr>
          <a:xfrm>
            <a:off x="9326836" y="1923353"/>
            <a:ext cx="2161359" cy="546724"/>
            <a:chOff x="8677783" y="1921978"/>
            <a:chExt cx="2161359" cy="546724"/>
          </a:xfrm>
        </p:grpSpPr>
        <p:sp>
          <p:nvSpPr>
            <p:cNvPr id="13" name="Rectangle: Rounded Corners 15">
              <a:extLst>
                <a:ext uri="{FF2B5EF4-FFF2-40B4-BE49-F238E27FC236}">
                  <a16:creationId xmlns:a16="http://schemas.microsoft.com/office/drawing/2014/main" id="{8A009CC4-07AD-4577-375F-18F6C31C0EC7}"/>
                </a:ext>
              </a:extLst>
            </p:cNvPr>
            <p:cNvSpPr/>
            <p:nvPr/>
          </p:nvSpPr>
          <p:spPr>
            <a:xfrm>
              <a:off x="9087632" y="1921978"/>
              <a:ext cx="1751510" cy="546724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he Group TEXT"/>
                  <a:ea typeface="+mn-ea"/>
                  <a:cs typeface="+mn-cs"/>
                </a:rPr>
                <a:t>New Markets &amp; Brands</a:t>
              </a:r>
            </a:p>
          </p:txBody>
        </p:sp>
        <p:grpSp>
          <p:nvGrpSpPr>
            <p:cNvPr id="43" name="Gruppieren 42">
              <a:extLst>
                <a:ext uri="{FF2B5EF4-FFF2-40B4-BE49-F238E27FC236}">
                  <a16:creationId xmlns:a16="http://schemas.microsoft.com/office/drawing/2014/main" id="{32E847DE-AE82-0F4C-F814-5EE12C830AEF}"/>
                </a:ext>
              </a:extLst>
            </p:cNvPr>
            <p:cNvGrpSpPr/>
            <p:nvPr/>
          </p:nvGrpSpPr>
          <p:grpSpPr>
            <a:xfrm>
              <a:off x="8677783" y="1930228"/>
              <a:ext cx="530225" cy="530225"/>
              <a:chOff x="8677783" y="1939133"/>
              <a:chExt cx="530225" cy="530225"/>
            </a:xfrm>
          </p:grpSpPr>
          <p:pic>
            <p:nvPicPr>
              <p:cNvPr id="25" name="Pic">
                <a:extLst>
                  <a:ext uri="{FF2B5EF4-FFF2-40B4-BE49-F238E27FC236}">
                    <a16:creationId xmlns:a16="http://schemas.microsoft.com/office/drawing/2014/main" id="{D4B4405E-2FBA-61B2-1494-84F2BD72B756}"/>
                  </a:ext>
                </a:extLst>
              </p:cNvPr>
              <p:cNvPicPr>
                <a:picLocks/>
              </p:cNvPicPr>
              <p:nvPr>
                <p:custDataLst>
                  <p:tags r:id="rId2"/>
                </p:custDataLst>
              </p:nvPr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4"/>
                  </a:ext>
                  <a:ext uri="{6F801314-5768-4EAC-8CED-0F2297F94238}"/>
                </a:extLst>
              </a:blip>
              <a:stretch>
                <a:fillRect/>
              </a:stretch>
            </p:blipFill>
            <p:spPr bwMode="auto">
              <a:xfrm>
                <a:off x="8677783" y="1939133"/>
                <a:ext cx="530225" cy="5302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</p:pic>
          <p:pic>
            <p:nvPicPr>
              <p:cNvPr id="27" name="Pic">
                <a:extLst>
                  <a:ext uri="{FF2B5EF4-FFF2-40B4-BE49-F238E27FC236}">
                    <a16:creationId xmlns:a16="http://schemas.microsoft.com/office/drawing/2014/main" id="{457B991F-EF06-B76F-7394-824E6CF95ABC}"/>
                  </a:ext>
                </a:extLst>
              </p:cNvPr>
              <p:cNvPicPr>
                <a:picLocks/>
              </p:cNvPicPr>
              <p:nvPr>
                <p:custDataLst>
                  <p:tags r:id="rId3"/>
                </p:custDataLst>
              </p:nvPr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8"/>
                  </a:ext>
                  <a:ext uri="{6F801314-5768-4EAC-8CED-0F2297F94238}"/>
                </a:extLst>
              </a:blip>
              <a:stretch>
                <a:fillRect/>
              </a:stretch>
            </p:blipFill>
            <p:spPr bwMode="auto">
              <a:xfrm>
                <a:off x="8815895" y="1987901"/>
                <a:ext cx="254000" cy="254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</p:pic>
        </p:grpSp>
      </p:grpSp>
      <p:sp>
        <p:nvSpPr>
          <p:cNvPr id="4" name="Objective 11">
            <a:extLst>
              <a:ext uri="{FF2B5EF4-FFF2-40B4-BE49-F238E27FC236}">
                <a16:creationId xmlns:a16="http://schemas.microsoft.com/office/drawing/2014/main" id="{B9F44DA8-BF39-08B8-68B1-ECDCA8C74ED9}"/>
              </a:ext>
            </a:extLst>
          </p:cNvPr>
          <p:cNvSpPr/>
          <p:nvPr/>
        </p:nvSpPr>
        <p:spPr>
          <a:xfrm>
            <a:off x="6164781" y="5573564"/>
            <a:ext cx="2700000" cy="540000"/>
          </a:xfrm>
          <a:prstGeom prst="roundRect">
            <a:avLst>
              <a:gd name="adj" fmla="val 6000"/>
            </a:avLst>
          </a:prstGeom>
          <a:solidFill>
            <a:schemeClr val="tx2">
              <a:lumMod val="85000"/>
            </a:schemeClr>
          </a:solidFill>
          <a:ln>
            <a:noFill/>
          </a:ln>
        </p:spPr>
        <p:txBody>
          <a:bodyPr wrap="square" lIns="108000" tIns="3600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en-US" sz="1050" b="1" i="1">
                <a:solidFill>
                  <a:schemeClr val="bg1"/>
                </a:solidFill>
              </a:rPr>
              <a:t>Management controls – Approver on notifications</a:t>
            </a:r>
            <a:endParaRPr lang="en-US" sz="1050" i="1">
              <a:solidFill>
                <a:schemeClr val="bg1"/>
              </a:solidFill>
            </a:endParaRPr>
          </a:p>
          <a:p>
            <a:pPr algn="l">
              <a:spcAft>
                <a:spcPts val="0"/>
              </a:spcAft>
            </a:pPr>
            <a:endParaRPr lang="en-US" sz="1050" b="0">
              <a:solidFill>
                <a:schemeClr val="bg1"/>
              </a:solidFill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B40797F6-D0AF-BDDB-6B61-23156B8F3BB7}"/>
              </a:ext>
            </a:extLst>
          </p:cNvPr>
          <p:cNvSpPr txBox="1"/>
          <p:nvPr/>
        </p:nvSpPr>
        <p:spPr>
          <a:xfrm>
            <a:off x="8590700" y="5732032"/>
            <a:ext cx="30805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C882BE"/>
                </a:solidFill>
              </a:rPr>
              <a:t>M1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923E804D-EEFB-ED85-A821-65C745A03A52}"/>
              </a:ext>
            </a:extLst>
          </p:cNvPr>
          <p:cNvSpPr txBox="1"/>
          <p:nvPr/>
        </p:nvSpPr>
        <p:spPr>
          <a:xfrm>
            <a:off x="8590700" y="5045915"/>
            <a:ext cx="30805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C882BE"/>
                </a:solidFill>
              </a:rPr>
              <a:t>M1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D9688476-DB46-16DA-70CD-C8B1A007F77C}"/>
              </a:ext>
            </a:extLst>
          </p:cNvPr>
          <p:cNvSpPr txBox="1"/>
          <p:nvPr/>
        </p:nvSpPr>
        <p:spPr>
          <a:xfrm>
            <a:off x="8590700" y="5258900"/>
            <a:ext cx="30805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C882BE"/>
                </a:solidFill>
              </a:rPr>
              <a:t>M2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E5DA046F-FA5F-E9F9-A226-45DDE5A70BCC}"/>
              </a:ext>
            </a:extLst>
          </p:cNvPr>
          <p:cNvSpPr txBox="1"/>
          <p:nvPr/>
        </p:nvSpPr>
        <p:spPr>
          <a:xfrm>
            <a:off x="8590700" y="4555540"/>
            <a:ext cx="30805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C882BE"/>
                </a:solidFill>
              </a:rPr>
              <a:t>M2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24D4A995-CE86-DE6D-C881-0C3249DB8136}"/>
              </a:ext>
            </a:extLst>
          </p:cNvPr>
          <p:cNvSpPr txBox="1"/>
          <p:nvPr/>
        </p:nvSpPr>
        <p:spPr>
          <a:xfrm>
            <a:off x="8590700" y="3977491"/>
            <a:ext cx="30805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C882BE"/>
                </a:solidFill>
              </a:rPr>
              <a:t>M2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84588DA9-351E-FA12-0888-36766EDF81F2}"/>
              </a:ext>
            </a:extLst>
          </p:cNvPr>
          <p:cNvSpPr txBox="1"/>
          <p:nvPr/>
        </p:nvSpPr>
        <p:spPr>
          <a:xfrm>
            <a:off x="8590700" y="3399442"/>
            <a:ext cx="30805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C882BE"/>
                </a:solidFill>
              </a:rPr>
              <a:t>M2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1024F0AD-120A-DBC3-1868-9CEFFE411BAD}"/>
              </a:ext>
            </a:extLst>
          </p:cNvPr>
          <p:cNvSpPr txBox="1"/>
          <p:nvPr/>
        </p:nvSpPr>
        <p:spPr>
          <a:xfrm>
            <a:off x="8590700" y="2821393"/>
            <a:ext cx="30805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C882BE"/>
                </a:solidFill>
              </a:rPr>
              <a:t>M2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28AE20F4-6EDA-A2E8-8B99-57B360F998C2}"/>
              </a:ext>
            </a:extLst>
          </p:cNvPr>
          <p:cNvSpPr txBox="1"/>
          <p:nvPr/>
        </p:nvSpPr>
        <p:spPr>
          <a:xfrm>
            <a:off x="11466473" y="2713979"/>
            <a:ext cx="30805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C882BE"/>
                </a:solidFill>
              </a:rPr>
              <a:t>M1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C6DD66EF-7A9C-FBD9-DD1F-4B3275D334FC}"/>
              </a:ext>
            </a:extLst>
          </p:cNvPr>
          <p:cNvSpPr txBox="1"/>
          <p:nvPr/>
        </p:nvSpPr>
        <p:spPr>
          <a:xfrm>
            <a:off x="11466473" y="2926964"/>
            <a:ext cx="30805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C882BE"/>
                </a:solidFill>
              </a:rPr>
              <a:t>M2</a:t>
            </a:r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D5C96430-A301-2CA2-D0B7-FC2E73E432B3}"/>
              </a:ext>
            </a:extLst>
          </p:cNvPr>
          <p:cNvSpPr/>
          <p:nvPr/>
        </p:nvSpPr>
        <p:spPr>
          <a:xfrm>
            <a:off x="406400" y="1854294"/>
            <a:ext cx="2728086" cy="2545475"/>
          </a:xfrm>
          <a:prstGeom prst="roundRect">
            <a:avLst>
              <a:gd name="adj" fmla="val 1854"/>
            </a:avLst>
          </a:prstGeom>
          <a:noFill/>
          <a:ln w="57150">
            <a:solidFill>
              <a:srgbClr val="DA0C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algn="ctr"/>
            <a:endParaRPr lang="de-DE" sz="1400" err="1"/>
          </a:p>
        </p:txBody>
      </p:sp>
    </p:spTree>
    <p:extLst>
      <p:ext uri="{BB962C8B-B14F-4D97-AF65-F5344CB8AC3E}">
        <p14:creationId xmlns:p14="http://schemas.microsoft.com/office/powerpoint/2010/main" val="2428183360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5A986-3596-0265-4F4D-F772FE142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think-cell data - do not delete" hidden="1">
            <a:extLst>
              <a:ext uri="{FF2B5EF4-FFF2-40B4-BE49-F238E27FC236}">
                <a16:creationId xmlns:a16="http://schemas.microsoft.com/office/drawing/2014/main" id="{F2055E97-DD87-CFC1-19FE-DE9314F07B2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269169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2055E97-DD87-CFC1-19FE-DE9314F07B2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" name="Rectangle: Rounded Corners 2">
            <a:extLst>
              <a:ext uri="{FF2B5EF4-FFF2-40B4-BE49-F238E27FC236}">
                <a16:creationId xmlns:a16="http://schemas.microsoft.com/office/drawing/2014/main" id="{988D98D3-79B8-7AAA-4A3C-1CA5A22D3DC0}"/>
              </a:ext>
            </a:extLst>
          </p:cNvPr>
          <p:cNvSpPr/>
          <p:nvPr/>
        </p:nvSpPr>
        <p:spPr>
          <a:xfrm>
            <a:off x="4387963" y="1199026"/>
            <a:ext cx="4425199" cy="702960"/>
          </a:xfrm>
          <a:prstGeom prst="roundRect">
            <a:avLst/>
          </a:prstGeom>
          <a:solidFill>
            <a:srgbClr val="99A9AD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srgbClr val="0E2841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F7EB0B2-5B17-8798-A2BB-7C6E92E96740}"/>
              </a:ext>
            </a:extLst>
          </p:cNvPr>
          <p:cNvSpPr/>
          <p:nvPr/>
        </p:nvSpPr>
        <p:spPr>
          <a:xfrm>
            <a:off x="1351895" y="1917189"/>
            <a:ext cx="2153541" cy="303472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ReCall 2</a:t>
            </a:r>
          </a:p>
        </p:txBody>
      </p:sp>
      <p:sp>
        <p:nvSpPr>
          <p:cNvPr id="3" name="Rectangle: Rounded Corners 11">
            <a:extLst>
              <a:ext uri="{FF2B5EF4-FFF2-40B4-BE49-F238E27FC236}">
                <a16:creationId xmlns:a16="http://schemas.microsoft.com/office/drawing/2014/main" id="{49C93F34-06B0-0C90-8BE6-0DA4BE4C1271}"/>
              </a:ext>
            </a:extLst>
          </p:cNvPr>
          <p:cNvSpPr/>
          <p:nvPr/>
        </p:nvSpPr>
        <p:spPr>
          <a:xfrm>
            <a:off x="9879713" y="3429000"/>
            <a:ext cx="1418602" cy="61155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ORU 2/3</a:t>
            </a:r>
          </a:p>
        </p:txBody>
      </p:sp>
      <p:sp>
        <p:nvSpPr>
          <p:cNvPr id="5" name="Rectangle: Rounded Corners 11">
            <a:extLst>
              <a:ext uri="{FF2B5EF4-FFF2-40B4-BE49-F238E27FC236}">
                <a16:creationId xmlns:a16="http://schemas.microsoft.com/office/drawing/2014/main" id="{605AF780-CD4D-0551-0ADA-3B3BEC809126}"/>
              </a:ext>
            </a:extLst>
          </p:cNvPr>
          <p:cNvSpPr/>
          <p:nvPr/>
        </p:nvSpPr>
        <p:spPr>
          <a:xfrm>
            <a:off x="9879713" y="4253438"/>
            <a:ext cx="1418602" cy="61155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ORU 4</a:t>
            </a:r>
          </a:p>
        </p:txBody>
      </p:sp>
      <p:cxnSp>
        <p:nvCxnSpPr>
          <p:cNvPr id="24" name="Straight Arrow Connector 47">
            <a:extLst>
              <a:ext uri="{FF2B5EF4-FFF2-40B4-BE49-F238E27FC236}">
                <a16:creationId xmlns:a16="http://schemas.microsoft.com/office/drawing/2014/main" id="{9B03499D-B56E-6ED0-0930-8BAAA8CD990A}"/>
              </a:ext>
            </a:extLst>
          </p:cNvPr>
          <p:cNvCxnSpPr>
            <a:cxnSpLocks/>
            <a:stCxn id="25" idx="3"/>
            <a:endCxn id="3" idx="1"/>
          </p:cNvCxnSpPr>
          <p:nvPr/>
        </p:nvCxnSpPr>
        <p:spPr>
          <a:xfrm>
            <a:off x="6075881" y="3734778"/>
            <a:ext cx="3803832" cy="0"/>
          </a:xfrm>
          <a:prstGeom prst="straightConnector1">
            <a:avLst/>
          </a:prstGeom>
          <a:ln w="28575" cap="rnd">
            <a:solidFill>
              <a:srgbClr val="4EA7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44321CC-AB79-98F1-D979-D6E3EC97B36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today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0490011-AF9D-0C7B-BCB4-D4A38852C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>
            <a:spAutoFit/>
          </a:bodyPr>
          <a:lstStyle/>
          <a:p>
            <a:r>
              <a:rPr lang="en-US"/>
              <a:t>ReCall 2 | Architecture Roadmap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9214251-785F-F306-D3D1-20245C59C847}"/>
              </a:ext>
            </a:extLst>
          </p:cNvPr>
          <p:cNvSpPr/>
          <p:nvPr/>
        </p:nvSpPr>
        <p:spPr>
          <a:xfrm>
            <a:off x="7112770" y="1270087"/>
            <a:ext cx="1418602" cy="58595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CarPort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D8D1027-8DE0-BBB0-8A41-4E430630FDA5}"/>
              </a:ext>
            </a:extLst>
          </p:cNvPr>
          <p:cNvSpPr/>
          <p:nvPr/>
        </p:nvSpPr>
        <p:spPr>
          <a:xfrm>
            <a:off x="4657279" y="1270088"/>
            <a:ext cx="1418602" cy="58595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Car Select</a:t>
            </a:r>
            <a:b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Cognos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F32DAA3-947B-7BE7-94D2-22815DEE8E49}"/>
              </a:ext>
            </a:extLst>
          </p:cNvPr>
          <p:cNvSpPr/>
          <p:nvPr/>
        </p:nvSpPr>
        <p:spPr>
          <a:xfrm>
            <a:off x="4657279" y="3441799"/>
            <a:ext cx="1418602" cy="58595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VW ORU via </a:t>
            </a:r>
            <a:b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RVS &amp; GSB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BB60117-9701-352D-707F-0500B944D473}"/>
              </a:ext>
            </a:extLst>
          </p:cNvPr>
          <p:cNvCxnSpPr>
            <a:cxnSpLocks/>
            <a:stCxn id="16" idx="3"/>
            <a:endCxn id="14" idx="1"/>
          </p:cNvCxnSpPr>
          <p:nvPr/>
        </p:nvCxnSpPr>
        <p:spPr>
          <a:xfrm flipV="1">
            <a:off x="6075881" y="1563066"/>
            <a:ext cx="1036889" cy="1"/>
          </a:xfrm>
          <a:prstGeom prst="straightConnector1">
            <a:avLst/>
          </a:prstGeom>
          <a:ln w="28575" cap="rnd">
            <a:solidFill>
              <a:srgbClr val="4EA7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7412B149-267D-44DD-0A6C-5B87DECAA2FC}"/>
              </a:ext>
            </a:extLst>
          </p:cNvPr>
          <p:cNvCxnSpPr>
            <a:cxnSpLocks/>
            <a:stCxn id="25" idx="3"/>
            <a:endCxn id="5" idx="1"/>
          </p:cNvCxnSpPr>
          <p:nvPr/>
        </p:nvCxnSpPr>
        <p:spPr>
          <a:xfrm>
            <a:off x="6075881" y="3734778"/>
            <a:ext cx="3803832" cy="824438"/>
          </a:xfrm>
          <a:prstGeom prst="bentConnector3">
            <a:avLst>
              <a:gd name="adj1" fmla="val 92908"/>
            </a:avLst>
          </a:prstGeom>
          <a:ln w="28575" cap="rnd">
            <a:solidFill>
              <a:srgbClr val="4EA7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55C9F366-8424-9E6C-6562-FF61C61C338F}"/>
              </a:ext>
            </a:extLst>
          </p:cNvPr>
          <p:cNvCxnSpPr>
            <a:cxnSpLocks/>
            <a:stCxn id="25" idx="3"/>
          </p:cNvCxnSpPr>
          <p:nvPr/>
        </p:nvCxnSpPr>
        <p:spPr>
          <a:xfrm>
            <a:off x="6075881" y="3734778"/>
            <a:ext cx="3803832" cy="1635883"/>
          </a:xfrm>
          <a:prstGeom prst="bentConnector3">
            <a:avLst>
              <a:gd name="adj1" fmla="val 92650"/>
            </a:avLst>
          </a:prstGeom>
          <a:ln w="28575" cap="rnd">
            <a:solidFill>
              <a:srgbClr val="4EA7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11">
            <a:extLst>
              <a:ext uri="{FF2B5EF4-FFF2-40B4-BE49-F238E27FC236}">
                <a16:creationId xmlns:a16="http://schemas.microsoft.com/office/drawing/2014/main" id="{A7BEA158-E8C9-0AC2-F2B4-6F8C310E666F}"/>
              </a:ext>
            </a:extLst>
          </p:cNvPr>
          <p:cNvSpPr/>
          <p:nvPr/>
        </p:nvSpPr>
        <p:spPr>
          <a:xfrm>
            <a:off x="9879713" y="5064883"/>
            <a:ext cx="1418602" cy="61155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ORU NEXT</a:t>
            </a:r>
          </a:p>
        </p:txBody>
      </p:sp>
      <p:cxnSp>
        <p:nvCxnSpPr>
          <p:cNvPr id="17" name="Connector: Elbow 50">
            <a:extLst>
              <a:ext uri="{FF2B5EF4-FFF2-40B4-BE49-F238E27FC236}">
                <a16:creationId xmlns:a16="http://schemas.microsoft.com/office/drawing/2014/main" id="{D0F94B44-E4DD-088A-34BB-E3E665F6BD49}"/>
              </a:ext>
            </a:extLst>
          </p:cNvPr>
          <p:cNvCxnSpPr>
            <a:cxnSpLocks/>
            <a:stCxn id="4" idx="0"/>
            <a:endCxn id="64" idx="1"/>
          </p:cNvCxnSpPr>
          <p:nvPr/>
        </p:nvCxnSpPr>
        <p:spPr>
          <a:xfrm rot="5400000" flipH="1" flipV="1">
            <a:off x="3224973" y="754200"/>
            <a:ext cx="366683" cy="1959297"/>
          </a:xfrm>
          <a:prstGeom prst="bentConnector2">
            <a:avLst/>
          </a:prstGeom>
          <a:ln w="28575" cap="rnd">
            <a:solidFill>
              <a:srgbClr val="4EA7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50">
            <a:extLst>
              <a:ext uri="{FF2B5EF4-FFF2-40B4-BE49-F238E27FC236}">
                <a16:creationId xmlns:a16="http://schemas.microsoft.com/office/drawing/2014/main" id="{C626B1BF-6609-9F75-BC95-31FAD1D13664}"/>
              </a:ext>
            </a:extLst>
          </p:cNvPr>
          <p:cNvCxnSpPr>
            <a:cxnSpLocks/>
            <a:stCxn id="4" idx="3"/>
            <a:endCxn id="25" idx="1"/>
          </p:cNvCxnSpPr>
          <p:nvPr/>
        </p:nvCxnSpPr>
        <p:spPr>
          <a:xfrm>
            <a:off x="3505436" y="3434552"/>
            <a:ext cx="1151843" cy="300226"/>
          </a:xfrm>
          <a:prstGeom prst="bentConnector3">
            <a:avLst>
              <a:gd name="adj1" fmla="val 50000"/>
            </a:avLst>
          </a:prstGeom>
          <a:ln w="28575" cap="rnd">
            <a:solidFill>
              <a:srgbClr val="4EA7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793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382B7-E102-F880-E338-0861A8086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25">
            <a:extLst>
              <a:ext uri="{FF2B5EF4-FFF2-40B4-BE49-F238E27FC236}">
                <a16:creationId xmlns:a16="http://schemas.microsoft.com/office/drawing/2014/main" id="{A1CC3B74-D094-8F4C-4316-47F89C751244}"/>
              </a:ext>
            </a:extLst>
          </p:cNvPr>
          <p:cNvSpPr/>
          <p:nvPr/>
        </p:nvSpPr>
        <p:spPr>
          <a:xfrm>
            <a:off x="1193841" y="1956961"/>
            <a:ext cx="7619321" cy="1208915"/>
          </a:xfrm>
          <a:prstGeom prst="roundRect">
            <a:avLst>
              <a:gd name="adj" fmla="val 9700"/>
            </a:avLst>
          </a:prstGeom>
          <a:solidFill>
            <a:srgbClr val="CCD4D6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Needed for </a:t>
            </a:r>
            <a:r>
              <a:rPr lang="en-US">
                <a:solidFill>
                  <a:schemeClr val="bg2"/>
                </a:solidFill>
                <a:latin typeface="Aptos" panose="02110004020202020204"/>
              </a:rPr>
              <a:t>SDV</a:t>
            </a: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38" name="think-cell data - do not delete" hidden="1">
            <a:extLst>
              <a:ext uri="{FF2B5EF4-FFF2-40B4-BE49-F238E27FC236}">
                <a16:creationId xmlns:a16="http://schemas.microsoft.com/office/drawing/2014/main" id="{D8E0F474-0EE2-B24E-F81B-1F390040D5C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8E0F474-0EE2-B24E-F81B-1F390040D5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" name="Rectangle: Rounded Corners 2">
            <a:extLst>
              <a:ext uri="{FF2B5EF4-FFF2-40B4-BE49-F238E27FC236}">
                <a16:creationId xmlns:a16="http://schemas.microsoft.com/office/drawing/2014/main" id="{CB3FEEAA-200A-0A62-AF6E-1808AF40F5D9}"/>
              </a:ext>
            </a:extLst>
          </p:cNvPr>
          <p:cNvSpPr/>
          <p:nvPr/>
        </p:nvSpPr>
        <p:spPr>
          <a:xfrm>
            <a:off x="4387963" y="1199026"/>
            <a:ext cx="4425199" cy="702960"/>
          </a:xfrm>
          <a:prstGeom prst="roundRect">
            <a:avLst/>
          </a:prstGeom>
          <a:solidFill>
            <a:srgbClr val="99A9AD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srgbClr val="0E2841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D95D31F-086E-C20D-34FB-642527FECC30}"/>
              </a:ext>
            </a:extLst>
          </p:cNvPr>
          <p:cNvSpPr/>
          <p:nvPr/>
        </p:nvSpPr>
        <p:spPr>
          <a:xfrm>
            <a:off x="1351895" y="1917189"/>
            <a:ext cx="2153541" cy="303472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ReCall 2</a:t>
            </a:r>
          </a:p>
        </p:txBody>
      </p:sp>
      <p:sp>
        <p:nvSpPr>
          <p:cNvPr id="3" name="Rectangle: Rounded Corners 11">
            <a:extLst>
              <a:ext uri="{FF2B5EF4-FFF2-40B4-BE49-F238E27FC236}">
                <a16:creationId xmlns:a16="http://schemas.microsoft.com/office/drawing/2014/main" id="{8694EAE4-4D8C-5DD1-848E-3A04AD4A2386}"/>
              </a:ext>
            </a:extLst>
          </p:cNvPr>
          <p:cNvSpPr/>
          <p:nvPr/>
        </p:nvSpPr>
        <p:spPr>
          <a:xfrm>
            <a:off x="9879713" y="3429000"/>
            <a:ext cx="1418602" cy="61155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ORU 2/3</a:t>
            </a:r>
          </a:p>
        </p:txBody>
      </p:sp>
      <p:sp>
        <p:nvSpPr>
          <p:cNvPr id="5" name="Rectangle: Rounded Corners 11">
            <a:extLst>
              <a:ext uri="{FF2B5EF4-FFF2-40B4-BE49-F238E27FC236}">
                <a16:creationId xmlns:a16="http://schemas.microsoft.com/office/drawing/2014/main" id="{F3EB50E2-F484-3CBC-70BE-DC5B21D02EE4}"/>
              </a:ext>
            </a:extLst>
          </p:cNvPr>
          <p:cNvSpPr/>
          <p:nvPr/>
        </p:nvSpPr>
        <p:spPr>
          <a:xfrm>
            <a:off x="9879713" y="4253438"/>
            <a:ext cx="1418602" cy="61155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ORU 4</a:t>
            </a:r>
          </a:p>
        </p:txBody>
      </p:sp>
      <p:cxnSp>
        <p:nvCxnSpPr>
          <p:cNvPr id="24" name="Straight Arrow Connector 47">
            <a:extLst>
              <a:ext uri="{FF2B5EF4-FFF2-40B4-BE49-F238E27FC236}">
                <a16:creationId xmlns:a16="http://schemas.microsoft.com/office/drawing/2014/main" id="{B33841F2-CE15-710D-FD7A-0B07DF299956}"/>
              </a:ext>
            </a:extLst>
          </p:cNvPr>
          <p:cNvCxnSpPr>
            <a:cxnSpLocks/>
            <a:stCxn id="25" idx="3"/>
            <a:endCxn id="3" idx="1"/>
          </p:cNvCxnSpPr>
          <p:nvPr/>
        </p:nvCxnSpPr>
        <p:spPr>
          <a:xfrm>
            <a:off x="6075881" y="3734778"/>
            <a:ext cx="3803832" cy="0"/>
          </a:xfrm>
          <a:prstGeom prst="straightConnector1">
            <a:avLst/>
          </a:prstGeom>
          <a:ln w="28575" cap="rnd">
            <a:solidFill>
              <a:srgbClr val="4EA7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C1787AE-3E8E-7D3A-6FB5-81ED9304B9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today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DB0A724-F8B6-6F07-E858-B3C64DF4C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>
            <a:spAutoFit/>
          </a:bodyPr>
          <a:lstStyle/>
          <a:p>
            <a:r>
              <a:rPr lang="en-US"/>
              <a:t>ReCall 2 | Architecture Roadmap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50F83D9-CF37-DACC-134F-A2C8D6F47B39}"/>
              </a:ext>
            </a:extLst>
          </p:cNvPr>
          <p:cNvSpPr/>
          <p:nvPr/>
        </p:nvSpPr>
        <p:spPr>
          <a:xfrm>
            <a:off x="7112770" y="1270087"/>
            <a:ext cx="1418602" cy="58595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CarPort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EAC34EE-BE31-824E-EA24-8B91F92CFBB7}"/>
              </a:ext>
            </a:extLst>
          </p:cNvPr>
          <p:cNvSpPr/>
          <p:nvPr/>
        </p:nvSpPr>
        <p:spPr>
          <a:xfrm>
            <a:off x="4657279" y="1270088"/>
            <a:ext cx="1418602" cy="58595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Car Select</a:t>
            </a:r>
            <a:b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Cognos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2B24817-FAEA-78F9-E2C5-743505DFA397}"/>
              </a:ext>
            </a:extLst>
          </p:cNvPr>
          <p:cNvSpPr/>
          <p:nvPr/>
        </p:nvSpPr>
        <p:spPr>
          <a:xfrm>
            <a:off x="4657279" y="3441799"/>
            <a:ext cx="1418602" cy="58595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VW ORU via </a:t>
            </a:r>
            <a:b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RVS &amp; GSB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46B227A-4D47-F6B3-7DDE-15C9C2792FE8}"/>
              </a:ext>
            </a:extLst>
          </p:cNvPr>
          <p:cNvCxnSpPr>
            <a:cxnSpLocks/>
            <a:stCxn id="16" idx="3"/>
            <a:endCxn id="14" idx="1"/>
          </p:cNvCxnSpPr>
          <p:nvPr/>
        </p:nvCxnSpPr>
        <p:spPr>
          <a:xfrm flipV="1">
            <a:off x="6075881" y="1563066"/>
            <a:ext cx="1036889" cy="1"/>
          </a:xfrm>
          <a:prstGeom prst="straightConnector1">
            <a:avLst/>
          </a:prstGeom>
          <a:ln w="28575" cap="rnd">
            <a:solidFill>
              <a:srgbClr val="4EA7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2C1E8A80-B788-F24D-9114-FB6E020A210B}"/>
              </a:ext>
            </a:extLst>
          </p:cNvPr>
          <p:cNvCxnSpPr>
            <a:cxnSpLocks/>
            <a:stCxn id="25" idx="3"/>
            <a:endCxn id="5" idx="1"/>
          </p:cNvCxnSpPr>
          <p:nvPr/>
        </p:nvCxnSpPr>
        <p:spPr>
          <a:xfrm>
            <a:off x="6075881" y="3734778"/>
            <a:ext cx="3803832" cy="824438"/>
          </a:xfrm>
          <a:prstGeom prst="bentConnector3">
            <a:avLst>
              <a:gd name="adj1" fmla="val 92908"/>
            </a:avLst>
          </a:prstGeom>
          <a:ln w="28575" cap="rnd">
            <a:solidFill>
              <a:srgbClr val="4EA7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4FD8C2C1-99C6-C0D3-5173-7A9359E50146}"/>
              </a:ext>
            </a:extLst>
          </p:cNvPr>
          <p:cNvCxnSpPr>
            <a:cxnSpLocks/>
            <a:stCxn id="25" idx="3"/>
          </p:cNvCxnSpPr>
          <p:nvPr/>
        </p:nvCxnSpPr>
        <p:spPr>
          <a:xfrm>
            <a:off x="6075881" y="3734778"/>
            <a:ext cx="3803832" cy="1635883"/>
          </a:xfrm>
          <a:prstGeom prst="bentConnector3">
            <a:avLst>
              <a:gd name="adj1" fmla="val 92650"/>
            </a:avLst>
          </a:prstGeom>
          <a:ln w="28575" cap="rnd">
            <a:solidFill>
              <a:srgbClr val="4EA7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11">
            <a:extLst>
              <a:ext uri="{FF2B5EF4-FFF2-40B4-BE49-F238E27FC236}">
                <a16:creationId xmlns:a16="http://schemas.microsoft.com/office/drawing/2014/main" id="{B5B7A46B-F276-5103-900F-2C32A49BB34D}"/>
              </a:ext>
            </a:extLst>
          </p:cNvPr>
          <p:cNvSpPr/>
          <p:nvPr/>
        </p:nvSpPr>
        <p:spPr>
          <a:xfrm>
            <a:off x="9879713" y="5064883"/>
            <a:ext cx="1418602" cy="61155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ORU NEXT</a:t>
            </a:r>
          </a:p>
        </p:txBody>
      </p:sp>
      <p:cxnSp>
        <p:nvCxnSpPr>
          <p:cNvPr id="17" name="Connector: Elbow 50">
            <a:extLst>
              <a:ext uri="{FF2B5EF4-FFF2-40B4-BE49-F238E27FC236}">
                <a16:creationId xmlns:a16="http://schemas.microsoft.com/office/drawing/2014/main" id="{0C038FEE-0255-B555-DDF8-835F14C46775}"/>
              </a:ext>
            </a:extLst>
          </p:cNvPr>
          <p:cNvCxnSpPr>
            <a:cxnSpLocks/>
            <a:stCxn id="4" idx="0"/>
            <a:endCxn id="64" idx="1"/>
          </p:cNvCxnSpPr>
          <p:nvPr/>
        </p:nvCxnSpPr>
        <p:spPr>
          <a:xfrm rot="5400000" flipH="1" flipV="1">
            <a:off x="3224973" y="754200"/>
            <a:ext cx="366683" cy="1959297"/>
          </a:xfrm>
          <a:prstGeom prst="bentConnector2">
            <a:avLst/>
          </a:prstGeom>
          <a:ln w="28575" cap="rnd">
            <a:solidFill>
              <a:srgbClr val="4EA7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50">
            <a:extLst>
              <a:ext uri="{FF2B5EF4-FFF2-40B4-BE49-F238E27FC236}">
                <a16:creationId xmlns:a16="http://schemas.microsoft.com/office/drawing/2014/main" id="{0AB5248B-3263-CB42-F3B5-E6A38E5478B6}"/>
              </a:ext>
            </a:extLst>
          </p:cNvPr>
          <p:cNvCxnSpPr>
            <a:cxnSpLocks/>
            <a:stCxn id="4" idx="3"/>
            <a:endCxn id="25" idx="1"/>
          </p:cNvCxnSpPr>
          <p:nvPr/>
        </p:nvCxnSpPr>
        <p:spPr>
          <a:xfrm>
            <a:off x="3505436" y="3434552"/>
            <a:ext cx="1151843" cy="300226"/>
          </a:xfrm>
          <a:prstGeom prst="bentConnector3">
            <a:avLst>
              <a:gd name="adj1" fmla="val 50000"/>
            </a:avLst>
          </a:prstGeom>
          <a:ln w="28575" cap="rnd">
            <a:solidFill>
              <a:srgbClr val="4EA7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9">
            <a:extLst>
              <a:ext uri="{FF2B5EF4-FFF2-40B4-BE49-F238E27FC236}">
                <a16:creationId xmlns:a16="http://schemas.microsoft.com/office/drawing/2014/main" id="{862A20DB-E4DB-3BB5-A533-C729B86D8CD1}"/>
              </a:ext>
            </a:extLst>
          </p:cNvPr>
          <p:cNvSpPr/>
          <p:nvPr/>
        </p:nvSpPr>
        <p:spPr>
          <a:xfrm>
            <a:off x="7061277" y="2440075"/>
            <a:ext cx="1451363" cy="502955"/>
          </a:xfrm>
          <a:prstGeom prst="roundRect">
            <a:avLst/>
          </a:prstGeom>
          <a:solidFill>
            <a:srgbClr val="99D1C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GVF</a:t>
            </a:r>
          </a:p>
        </p:txBody>
      </p:sp>
      <p:sp>
        <p:nvSpPr>
          <p:cNvPr id="10" name="Rectangle: Rounded Corners 19">
            <a:extLst>
              <a:ext uri="{FF2B5EF4-FFF2-40B4-BE49-F238E27FC236}">
                <a16:creationId xmlns:a16="http://schemas.microsoft.com/office/drawing/2014/main" id="{45BAB5D4-4B30-A175-990F-5AED1C16BB67}"/>
              </a:ext>
            </a:extLst>
          </p:cNvPr>
          <p:cNvSpPr/>
          <p:nvPr/>
        </p:nvSpPr>
        <p:spPr>
          <a:xfrm>
            <a:off x="2086834" y="2385774"/>
            <a:ext cx="1418602" cy="611556"/>
          </a:xfrm>
          <a:prstGeom prst="roundRect">
            <a:avLst/>
          </a:prstGeom>
          <a:solidFill>
            <a:srgbClr val="99D1C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Car Select</a:t>
            </a:r>
            <a:b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UI</a:t>
            </a:r>
          </a:p>
        </p:txBody>
      </p:sp>
      <p:cxnSp>
        <p:nvCxnSpPr>
          <p:cNvPr id="11" name="Straight Arrow Connector 20">
            <a:extLst>
              <a:ext uri="{FF2B5EF4-FFF2-40B4-BE49-F238E27FC236}">
                <a16:creationId xmlns:a16="http://schemas.microsoft.com/office/drawing/2014/main" id="{390CCF33-C430-5A8E-4300-52E5800DE382}"/>
              </a:ext>
            </a:extLst>
          </p:cNvPr>
          <p:cNvCxnSpPr>
            <a:cxnSpLocks/>
            <a:stCxn id="10" idx="3"/>
            <a:endCxn id="7" idx="1"/>
          </p:cNvCxnSpPr>
          <p:nvPr/>
        </p:nvCxnSpPr>
        <p:spPr>
          <a:xfrm>
            <a:off x="3505436" y="2691552"/>
            <a:ext cx="3555841" cy="1"/>
          </a:xfrm>
          <a:prstGeom prst="straightConnector1">
            <a:avLst/>
          </a:prstGeom>
          <a:ln w="28575" cap="rnd">
            <a:solidFill>
              <a:srgbClr val="C882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66">
            <a:extLst>
              <a:ext uri="{FF2B5EF4-FFF2-40B4-BE49-F238E27FC236}">
                <a16:creationId xmlns:a16="http://schemas.microsoft.com/office/drawing/2014/main" id="{E0C872DA-BC61-FE2C-7C0C-21AD369B3D39}"/>
              </a:ext>
            </a:extLst>
          </p:cNvPr>
          <p:cNvSpPr/>
          <p:nvPr/>
        </p:nvSpPr>
        <p:spPr>
          <a:xfrm>
            <a:off x="6760755" y="2375884"/>
            <a:ext cx="251053" cy="261498"/>
          </a:xfrm>
          <a:prstGeom prst="ellipse">
            <a:avLst/>
          </a:prstGeom>
          <a:solidFill>
            <a:srgbClr val="FAAA3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</p:txBody>
      </p:sp>
      <p:sp>
        <p:nvSpPr>
          <p:cNvPr id="13" name="Oval 70">
            <a:extLst>
              <a:ext uri="{FF2B5EF4-FFF2-40B4-BE49-F238E27FC236}">
                <a16:creationId xmlns:a16="http://schemas.microsoft.com/office/drawing/2014/main" id="{1545A8FE-1ED5-271A-6585-F7F2FEA1C8D1}"/>
              </a:ext>
            </a:extLst>
          </p:cNvPr>
          <p:cNvSpPr/>
          <p:nvPr/>
        </p:nvSpPr>
        <p:spPr>
          <a:xfrm>
            <a:off x="1786312" y="2384807"/>
            <a:ext cx="251053" cy="261498"/>
          </a:xfrm>
          <a:prstGeom prst="ellipse">
            <a:avLst/>
          </a:prstGeom>
          <a:solidFill>
            <a:srgbClr val="FAAA3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</p:txBody>
      </p:sp>
      <p:cxnSp>
        <p:nvCxnSpPr>
          <p:cNvPr id="21" name="Connector: Elbow 50">
            <a:extLst>
              <a:ext uri="{FF2B5EF4-FFF2-40B4-BE49-F238E27FC236}">
                <a16:creationId xmlns:a16="http://schemas.microsoft.com/office/drawing/2014/main" id="{9BD6E1DA-FA4B-0290-DE3D-8F2EAEE6ECBC}"/>
              </a:ext>
            </a:extLst>
          </p:cNvPr>
          <p:cNvCxnSpPr>
            <a:cxnSpLocks/>
          </p:cNvCxnSpPr>
          <p:nvPr/>
        </p:nvCxnSpPr>
        <p:spPr>
          <a:xfrm flipV="1">
            <a:off x="3505436" y="2814255"/>
            <a:ext cx="3506372" cy="281332"/>
          </a:xfrm>
          <a:prstGeom prst="bentConnector3">
            <a:avLst>
              <a:gd name="adj1" fmla="val 50000"/>
            </a:avLst>
          </a:prstGeom>
          <a:ln w="28575" cap="rnd">
            <a:solidFill>
              <a:srgbClr val="4EA7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66">
            <a:extLst>
              <a:ext uri="{FF2B5EF4-FFF2-40B4-BE49-F238E27FC236}">
                <a16:creationId xmlns:a16="http://schemas.microsoft.com/office/drawing/2014/main" id="{024A1814-E597-67CA-4968-42B12D09B550}"/>
              </a:ext>
            </a:extLst>
          </p:cNvPr>
          <p:cNvSpPr/>
          <p:nvPr/>
        </p:nvSpPr>
        <p:spPr>
          <a:xfrm>
            <a:off x="4879671" y="2779591"/>
            <a:ext cx="251053" cy="261498"/>
          </a:xfrm>
          <a:prstGeom prst="ellipse">
            <a:avLst/>
          </a:prstGeom>
          <a:solidFill>
            <a:srgbClr val="FAAA3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265500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D6284-4E07-348E-8791-F3C290E97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25">
            <a:extLst>
              <a:ext uri="{FF2B5EF4-FFF2-40B4-BE49-F238E27FC236}">
                <a16:creationId xmlns:a16="http://schemas.microsoft.com/office/drawing/2014/main" id="{B76C1984-D428-F8A7-DB9C-8E97FD7DF945}"/>
              </a:ext>
            </a:extLst>
          </p:cNvPr>
          <p:cNvSpPr/>
          <p:nvPr/>
        </p:nvSpPr>
        <p:spPr>
          <a:xfrm>
            <a:off x="1193841" y="1956961"/>
            <a:ext cx="7619321" cy="1208915"/>
          </a:xfrm>
          <a:prstGeom prst="roundRect">
            <a:avLst>
              <a:gd name="adj" fmla="val 9700"/>
            </a:avLst>
          </a:prstGeom>
          <a:solidFill>
            <a:srgbClr val="CCD4D6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Needed for </a:t>
            </a:r>
            <a:r>
              <a:rPr lang="en-US">
                <a:solidFill>
                  <a:schemeClr val="bg2"/>
                </a:solidFill>
                <a:latin typeface="Aptos" panose="02110004020202020204"/>
              </a:rPr>
              <a:t>SDV</a:t>
            </a: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38" name="think-cell data - do not delete" hidden="1">
            <a:extLst>
              <a:ext uri="{FF2B5EF4-FFF2-40B4-BE49-F238E27FC236}">
                <a16:creationId xmlns:a16="http://schemas.microsoft.com/office/drawing/2014/main" id="{530D9EE6-C616-CA19-E65B-33B80D882A9B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30D9EE6-C616-CA19-E65B-33B80D882A9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" name="Rectangle: Rounded Corners 2">
            <a:extLst>
              <a:ext uri="{FF2B5EF4-FFF2-40B4-BE49-F238E27FC236}">
                <a16:creationId xmlns:a16="http://schemas.microsoft.com/office/drawing/2014/main" id="{B71DF97E-D979-AADB-58FD-86EBE7CBC3FA}"/>
              </a:ext>
            </a:extLst>
          </p:cNvPr>
          <p:cNvSpPr/>
          <p:nvPr/>
        </p:nvSpPr>
        <p:spPr>
          <a:xfrm>
            <a:off x="4387963" y="1199026"/>
            <a:ext cx="4425199" cy="702960"/>
          </a:xfrm>
          <a:prstGeom prst="roundRect">
            <a:avLst/>
          </a:prstGeom>
          <a:solidFill>
            <a:srgbClr val="99A9AD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srgbClr val="0E2841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3C3764A-F290-745F-5451-A7C95CCA5DC3}"/>
              </a:ext>
            </a:extLst>
          </p:cNvPr>
          <p:cNvSpPr/>
          <p:nvPr/>
        </p:nvSpPr>
        <p:spPr>
          <a:xfrm>
            <a:off x="1351895" y="1917189"/>
            <a:ext cx="2153541" cy="303472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ReCall 2</a:t>
            </a:r>
          </a:p>
        </p:txBody>
      </p:sp>
      <p:sp>
        <p:nvSpPr>
          <p:cNvPr id="3" name="Rectangle: Rounded Corners 11">
            <a:extLst>
              <a:ext uri="{FF2B5EF4-FFF2-40B4-BE49-F238E27FC236}">
                <a16:creationId xmlns:a16="http://schemas.microsoft.com/office/drawing/2014/main" id="{1DCD9655-53CD-5E5D-834F-298CB683C5E9}"/>
              </a:ext>
            </a:extLst>
          </p:cNvPr>
          <p:cNvSpPr/>
          <p:nvPr/>
        </p:nvSpPr>
        <p:spPr>
          <a:xfrm>
            <a:off x="9879713" y="3429000"/>
            <a:ext cx="1418602" cy="61155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ORU 2/3</a:t>
            </a:r>
          </a:p>
        </p:txBody>
      </p:sp>
      <p:sp>
        <p:nvSpPr>
          <p:cNvPr id="5" name="Rectangle: Rounded Corners 11">
            <a:extLst>
              <a:ext uri="{FF2B5EF4-FFF2-40B4-BE49-F238E27FC236}">
                <a16:creationId xmlns:a16="http://schemas.microsoft.com/office/drawing/2014/main" id="{58F765AB-5DAF-33C3-7731-44BBC69E4588}"/>
              </a:ext>
            </a:extLst>
          </p:cNvPr>
          <p:cNvSpPr/>
          <p:nvPr/>
        </p:nvSpPr>
        <p:spPr>
          <a:xfrm>
            <a:off x="9879713" y="4253438"/>
            <a:ext cx="1418602" cy="61155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ORU 4</a:t>
            </a:r>
          </a:p>
        </p:txBody>
      </p:sp>
      <p:cxnSp>
        <p:nvCxnSpPr>
          <p:cNvPr id="24" name="Straight Arrow Connector 47">
            <a:extLst>
              <a:ext uri="{FF2B5EF4-FFF2-40B4-BE49-F238E27FC236}">
                <a16:creationId xmlns:a16="http://schemas.microsoft.com/office/drawing/2014/main" id="{825C8824-19DD-AFAC-58B3-10C70E595A6C}"/>
              </a:ext>
            </a:extLst>
          </p:cNvPr>
          <p:cNvCxnSpPr>
            <a:cxnSpLocks/>
            <a:stCxn id="25" idx="3"/>
            <a:endCxn id="3" idx="1"/>
          </p:cNvCxnSpPr>
          <p:nvPr/>
        </p:nvCxnSpPr>
        <p:spPr>
          <a:xfrm>
            <a:off x="6075881" y="3734778"/>
            <a:ext cx="3803832" cy="0"/>
          </a:xfrm>
          <a:prstGeom prst="straightConnector1">
            <a:avLst/>
          </a:prstGeom>
          <a:ln w="28575" cap="rnd">
            <a:solidFill>
              <a:srgbClr val="4EA7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28405FA-FA5D-4399-95F7-155F96062D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today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BAA8E0F-2FC5-F5C1-3F39-D1D9F9F2B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>
            <a:spAutoFit/>
          </a:bodyPr>
          <a:lstStyle/>
          <a:p>
            <a:r>
              <a:rPr lang="en-US"/>
              <a:t>ReCall 2 | Architecture Roadmap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77704E5-F049-63DA-201D-19CE3E11FC4F}"/>
              </a:ext>
            </a:extLst>
          </p:cNvPr>
          <p:cNvSpPr/>
          <p:nvPr/>
        </p:nvSpPr>
        <p:spPr>
          <a:xfrm>
            <a:off x="7112770" y="1270087"/>
            <a:ext cx="1418602" cy="58595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CarPort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D01EEAC-3EC4-0375-8699-3E2A99E6BBAB}"/>
              </a:ext>
            </a:extLst>
          </p:cNvPr>
          <p:cNvSpPr/>
          <p:nvPr/>
        </p:nvSpPr>
        <p:spPr>
          <a:xfrm>
            <a:off x="4657279" y="1270088"/>
            <a:ext cx="1418602" cy="58595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Car Select</a:t>
            </a:r>
            <a:b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Cognos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F3B9FF6-0CC9-E0BE-EE0C-71B853D033A4}"/>
              </a:ext>
            </a:extLst>
          </p:cNvPr>
          <p:cNvSpPr/>
          <p:nvPr/>
        </p:nvSpPr>
        <p:spPr>
          <a:xfrm>
            <a:off x="4657279" y="3441799"/>
            <a:ext cx="1418602" cy="58595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VW ORU via </a:t>
            </a:r>
            <a:b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RVS &amp; GSB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ED31C80-5E33-36D4-79F0-DD8376138AB0}"/>
              </a:ext>
            </a:extLst>
          </p:cNvPr>
          <p:cNvCxnSpPr>
            <a:cxnSpLocks/>
            <a:stCxn id="16" idx="3"/>
            <a:endCxn id="14" idx="1"/>
          </p:cNvCxnSpPr>
          <p:nvPr/>
        </p:nvCxnSpPr>
        <p:spPr>
          <a:xfrm flipV="1">
            <a:off x="6075881" y="1563066"/>
            <a:ext cx="1036889" cy="1"/>
          </a:xfrm>
          <a:prstGeom prst="straightConnector1">
            <a:avLst/>
          </a:prstGeom>
          <a:ln w="28575" cap="rnd">
            <a:solidFill>
              <a:srgbClr val="4EA7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971D4738-CC3A-50A9-E8D5-50BB57950A25}"/>
              </a:ext>
            </a:extLst>
          </p:cNvPr>
          <p:cNvCxnSpPr>
            <a:cxnSpLocks/>
            <a:stCxn id="25" idx="3"/>
            <a:endCxn id="5" idx="1"/>
          </p:cNvCxnSpPr>
          <p:nvPr/>
        </p:nvCxnSpPr>
        <p:spPr>
          <a:xfrm>
            <a:off x="6075881" y="3734778"/>
            <a:ext cx="3803832" cy="824438"/>
          </a:xfrm>
          <a:prstGeom prst="bentConnector3">
            <a:avLst>
              <a:gd name="adj1" fmla="val 92908"/>
            </a:avLst>
          </a:prstGeom>
          <a:ln w="28575" cap="rnd">
            <a:solidFill>
              <a:srgbClr val="4EA7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A707F171-A549-34AD-1E0E-F17D3C27275D}"/>
              </a:ext>
            </a:extLst>
          </p:cNvPr>
          <p:cNvCxnSpPr>
            <a:cxnSpLocks/>
            <a:stCxn id="25" idx="3"/>
          </p:cNvCxnSpPr>
          <p:nvPr/>
        </p:nvCxnSpPr>
        <p:spPr>
          <a:xfrm>
            <a:off x="6075881" y="3734778"/>
            <a:ext cx="3803832" cy="1635883"/>
          </a:xfrm>
          <a:prstGeom prst="bentConnector3">
            <a:avLst>
              <a:gd name="adj1" fmla="val 92650"/>
            </a:avLst>
          </a:prstGeom>
          <a:ln w="28575" cap="rnd">
            <a:solidFill>
              <a:srgbClr val="4EA7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11">
            <a:extLst>
              <a:ext uri="{FF2B5EF4-FFF2-40B4-BE49-F238E27FC236}">
                <a16:creationId xmlns:a16="http://schemas.microsoft.com/office/drawing/2014/main" id="{8367DA58-D4CD-D0AA-F44E-7E5B56CF112F}"/>
              </a:ext>
            </a:extLst>
          </p:cNvPr>
          <p:cNvSpPr/>
          <p:nvPr/>
        </p:nvSpPr>
        <p:spPr>
          <a:xfrm>
            <a:off x="9879713" y="5064883"/>
            <a:ext cx="1418602" cy="61155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ORU NEXT</a:t>
            </a:r>
          </a:p>
        </p:txBody>
      </p:sp>
      <p:cxnSp>
        <p:nvCxnSpPr>
          <p:cNvPr id="17" name="Connector: Elbow 50">
            <a:extLst>
              <a:ext uri="{FF2B5EF4-FFF2-40B4-BE49-F238E27FC236}">
                <a16:creationId xmlns:a16="http://schemas.microsoft.com/office/drawing/2014/main" id="{B7997155-D409-D882-8142-3A376612EBF0}"/>
              </a:ext>
            </a:extLst>
          </p:cNvPr>
          <p:cNvCxnSpPr>
            <a:cxnSpLocks/>
            <a:stCxn id="4" idx="0"/>
            <a:endCxn id="64" idx="1"/>
          </p:cNvCxnSpPr>
          <p:nvPr/>
        </p:nvCxnSpPr>
        <p:spPr>
          <a:xfrm rot="5400000" flipH="1" flipV="1">
            <a:off x="3224973" y="754200"/>
            <a:ext cx="366683" cy="1959297"/>
          </a:xfrm>
          <a:prstGeom prst="bentConnector2">
            <a:avLst/>
          </a:prstGeom>
          <a:ln w="28575" cap="rnd">
            <a:solidFill>
              <a:srgbClr val="4EA7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50">
            <a:extLst>
              <a:ext uri="{FF2B5EF4-FFF2-40B4-BE49-F238E27FC236}">
                <a16:creationId xmlns:a16="http://schemas.microsoft.com/office/drawing/2014/main" id="{DA047769-8C4E-F6CA-1847-DE2CE42B2748}"/>
              </a:ext>
            </a:extLst>
          </p:cNvPr>
          <p:cNvCxnSpPr>
            <a:cxnSpLocks/>
            <a:stCxn id="4" idx="3"/>
            <a:endCxn id="25" idx="1"/>
          </p:cNvCxnSpPr>
          <p:nvPr/>
        </p:nvCxnSpPr>
        <p:spPr>
          <a:xfrm>
            <a:off x="3505436" y="3434552"/>
            <a:ext cx="1151843" cy="300226"/>
          </a:xfrm>
          <a:prstGeom prst="bentConnector3">
            <a:avLst>
              <a:gd name="adj1" fmla="val 50000"/>
            </a:avLst>
          </a:prstGeom>
          <a:ln w="28575" cap="rnd">
            <a:solidFill>
              <a:srgbClr val="4EA7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9">
            <a:extLst>
              <a:ext uri="{FF2B5EF4-FFF2-40B4-BE49-F238E27FC236}">
                <a16:creationId xmlns:a16="http://schemas.microsoft.com/office/drawing/2014/main" id="{AF127DD6-3D11-67F5-A50C-8C4510F15368}"/>
              </a:ext>
            </a:extLst>
          </p:cNvPr>
          <p:cNvSpPr/>
          <p:nvPr/>
        </p:nvSpPr>
        <p:spPr>
          <a:xfrm>
            <a:off x="7061277" y="2440075"/>
            <a:ext cx="1451363" cy="502955"/>
          </a:xfrm>
          <a:prstGeom prst="roundRect">
            <a:avLst/>
          </a:prstGeom>
          <a:solidFill>
            <a:srgbClr val="99D1C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GVF</a:t>
            </a:r>
          </a:p>
        </p:txBody>
      </p:sp>
      <p:sp>
        <p:nvSpPr>
          <p:cNvPr id="10" name="Rectangle: Rounded Corners 19">
            <a:extLst>
              <a:ext uri="{FF2B5EF4-FFF2-40B4-BE49-F238E27FC236}">
                <a16:creationId xmlns:a16="http://schemas.microsoft.com/office/drawing/2014/main" id="{B52AEBBB-C80C-9C1A-6CC7-5660E7FEE3B8}"/>
              </a:ext>
            </a:extLst>
          </p:cNvPr>
          <p:cNvSpPr/>
          <p:nvPr/>
        </p:nvSpPr>
        <p:spPr>
          <a:xfrm>
            <a:off x="2086834" y="2385774"/>
            <a:ext cx="1418602" cy="611556"/>
          </a:xfrm>
          <a:prstGeom prst="roundRect">
            <a:avLst/>
          </a:prstGeom>
          <a:solidFill>
            <a:srgbClr val="99D1C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Car Select</a:t>
            </a:r>
            <a:b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UI</a:t>
            </a:r>
          </a:p>
        </p:txBody>
      </p:sp>
      <p:cxnSp>
        <p:nvCxnSpPr>
          <p:cNvPr id="11" name="Straight Arrow Connector 20">
            <a:extLst>
              <a:ext uri="{FF2B5EF4-FFF2-40B4-BE49-F238E27FC236}">
                <a16:creationId xmlns:a16="http://schemas.microsoft.com/office/drawing/2014/main" id="{B2DF17E0-5854-680E-C8D2-8A53B0D98AA9}"/>
              </a:ext>
            </a:extLst>
          </p:cNvPr>
          <p:cNvCxnSpPr>
            <a:cxnSpLocks/>
            <a:stCxn id="10" idx="3"/>
            <a:endCxn id="7" idx="1"/>
          </p:cNvCxnSpPr>
          <p:nvPr/>
        </p:nvCxnSpPr>
        <p:spPr>
          <a:xfrm>
            <a:off x="3505436" y="2691552"/>
            <a:ext cx="3555841" cy="1"/>
          </a:xfrm>
          <a:prstGeom prst="straightConnector1">
            <a:avLst/>
          </a:prstGeom>
          <a:ln w="28575" cap="rnd">
            <a:solidFill>
              <a:srgbClr val="C882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66">
            <a:extLst>
              <a:ext uri="{FF2B5EF4-FFF2-40B4-BE49-F238E27FC236}">
                <a16:creationId xmlns:a16="http://schemas.microsoft.com/office/drawing/2014/main" id="{C1DEBD2B-A349-EEF3-09CA-EABB4647338C}"/>
              </a:ext>
            </a:extLst>
          </p:cNvPr>
          <p:cNvSpPr/>
          <p:nvPr/>
        </p:nvSpPr>
        <p:spPr>
          <a:xfrm>
            <a:off x="6760755" y="2375884"/>
            <a:ext cx="251053" cy="261498"/>
          </a:xfrm>
          <a:prstGeom prst="ellipse">
            <a:avLst/>
          </a:prstGeom>
          <a:solidFill>
            <a:srgbClr val="FAAA3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</p:txBody>
      </p:sp>
      <p:sp>
        <p:nvSpPr>
          <p:cNvPr id="13" name="Oval 70">
            <a:extLst>
              <a:ext uri="{FF2B5EF4-FFF2-40B4-BE49-F238E27FC236}">
                <a16:creationId xmlns:a16="http://schemas.microsoft.com/office/drawing/2014/main" id="{1723A16F-F108-C139-8268-43F7449266B6}"/>
              </a:ext>
            </a:extLst>
          </p:cNvPr>
          <p:cNvSpPr/>
          <p:nvPr/>
        </p:nvSpPr>
        <p:spPr>
          <a:xfrm>
            <a:off x="1786312" y="2384807"/>
            <a:ext cx="251053" cy="261498"/>
          </a:xfrm>
          <a:prstGeom prst="ellipse">
            <a:avLst/>
          </a:prstGeom>
          <a:solidFill>
            <a:srgbClr val="FAAA3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</p:txBody>
      </p:sp>
      <p:cxnSp>
        <p:nvCxnSpPr>
          <p:cNvPr id="21" name="Connector: Elbow 50">
            <a:extLst>
              <a:ext uri="{FF2B5EF4-FFF2-40B4-BE49-F238E27FC236}">
                <a16:creationId xmlns:a16="http://schemas.microsoft.com/office/drawing/2014/main" id="{F41D36C8-C332-6D27-F149-0CD8B2FA62F2}"/>
              </a:ext>
            </a:extLst>
          </p:cNvPr>
          <p:cNvCxnSpPr>
            <a:cxnSpLocks/>
          </p:cNvCxnSpPr>
          <p:nvPr/>
        </p:nvCxnSpPr>
        <p:spPr>
          <a:xfrm flipV="1">
            <a:off x="3505436" y="2814255"/>
            <a:ext cx="3506372" cy="281332"/>
          </a:xfrm>
          <a:prstGeom prst="bentConnector3">
            <a:avLst>
              <a:gd name="adj1" fmla="val 50000"/>
            </a:avLst>
          </a:prstGeom>
          <a:ln w="28575" cap="rnd">
            <a:solidFill>
              <a:srgbClr val="4EA7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66">
            <a:extLst>
              <a:ext uri="{FF2B5EF4-FFF2-40B4-BE49-F238E27FC236}">
                <a16:creationId xmlns:a16="http://schemas.microsoft.com/office/drawing/2014/main" id="{8CFDA15A-2270-B029-E5CD-1F733CE8D17F}"/>
              </a:ext>
            </a:extLst>
          </p:cNvPr>
          <p:cNvSpPr/>
          <p:nvPr/>
        </p:nvSpPr>
        <p:spPr>
          <a:xfrm>
            <a:off x="4879671" y="2779591"/>
            <a:ext cx="251053" cy="261498"/>
          </a:xfrm>
          <a:prstGeom prst="ellipse">
            <a:avLst/>
          </a:prstGeom>
          <a:solidFill>
            <a:srgbClr val="FAAA3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</p:txBody>
      </p:sp>
      <p:sp>
        <p:nvSpPr>
          <p:cNvPr id="15" name="Rectangle: Rounded Corners 11">
            <a:extLst>
              <a:ext uri="{FF2B5EF4-FFF2-40B4-BE49-F238E27FC236}">
                <a16:creationId xmlns:a16="http://schemas.microsoft.com/office/drawing/2014/main" id="{6EB92CCC-3D60-3F9A-A64A-E3D03C043E35}"/>
              </a:ext>
            </a:extLst>
          </p:cNvPr>
          <p:cNvSpPr/>
          <p:nvPr/>
        </p:nvSpPr>
        <p:spPr>
          <a:xfrm>
            <a:off x="9879713" y="5868541"/>
            <a:ext cx="1418602" cy="611556"/>
          </a:xfrm>
          <a:prstGeom prst="roundRect">
            <a:avLst/>
          </a:prstGeom>
          <a:solidFill>
            <a:srgbClr val="99D1C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SDV OTA</a:t>
            </a:r>
          </a:p>
        </p:txBody>
      </p:sp>
      <p:cxnSp>
        <p:nvCxnSpPr>
          <p:cNvPr id="18" name="Connector: Elbow 36">
            <a:extLst>
              <a:ext uri="{FF2B5EF4-FFF2-40B4-BE49-F238E27FC236}">
                <a16:creationId xmlns:a16="http://schemas.microsoft.com/office/drawing/2014/main" id="{6A153548-9E69-4CC5-3F9C-2CEF0107F341}"/>
              </a:ext>
            </a:extLst>
          </p:cNvPr>
          <p:cNvCxnSpPr>
            <a:cxnSpLocks/>
            <a:stCxn id="4" idx="3"/>
            <a:endCxn id="15" idx="1"/>
          </p:cNvCxnSpPr>
          <p:nvPr/>
        </p:nvCxnSpPr>
        <p:spPr>
          <a:xfrm>
            <a:off x="3505436" y="3434552"/>
            <a:ext cx="6374277" cy="2739767"/>
          </a:xfrm>
          <a:prstGeom prst="bentConnector3">
            <a:avLst>
              <a:gd name="adj1" fmla="val 4511"/>
            </a:avLst>
          </a:prstGeom>
          <a:ln w="28575" cap="rnd">
            <a:solidFill>
              <a:srgbClr val="C882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11">
            <a:extLst>
              <a:ext uri="{FF2B5EF4-FFF2-40B4-BE49-F238E27FC236}">
                <a16:creationId xmlns:a16="http://schemas.microsoft.com/office/drawing/2014/main" id="{A03081C3-AEA7-905C-84D9-2704DC731A70}"/>
              </a:ext>
            </a:extLst>
          </p:cNvPr>
          <p:cNvSpPr/>
          <p:nvPr/>
        </p:nvSpPr>
        <p:spPr>
          <a:xfrm>
            <a:off x="3105767" y="5135524"/>
            <a:ext cx="1418602" cy="283306"/>
          </a:xfrm>
          <a:prstGeom prst="roundRect">
            <a:avLst>
              <a:gd name="adj" fmla="val 0"/>
            </a:avLst>
          </a:prstGeom>
          <a:solidFill>
            <a:srgbClr val="C2FE0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US">
                <a:solidFill>
                  <a:schemeClr val="bg2"/>
                </a:solidFill>
              </a:rPr>
              <a:t>via REST</a:t>
            </a: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6" name="Oval 66">
            <a:extLst>
              <a:ext uri="{FF2B5EF4-FFF2-40B4-BE49-F238E27FC236}">
                <a16:creationId xmlns:a16="http://schemas.microsoft.com/office/drawing/2014/main" id="{CF4292B2-588E-2549-917C-69307570EBFA}"/>
              </a:ext>
            </a:extLst>
          </p:cNvPr>
          <p:cNvSpPr/>
          <p:nvPr/>
        </p:nvSpPr>
        <p:spPr>
          <a:xfrm>
            <a:off x="9452875" y="5782073"/>
            <a:ext cx="251053" cy="261498"/>
          </a:xfrm>
          <a:prstGeom prst="ellipse">
            <a:avLst/>
          </a:prstGeom>
          <a:solidFill>
            <a:srgbClr val="FAAA3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</p:txBody>
      </p:sp>
      <p:sp>
        <p:nvSpPr>
          <p:cNvPr id="28" name="Rectangle: Rounded Corners 11">
            <a:extLst>
              <a:ext uri="{FF2B5EF4-FFF2-40B4-BE49-F238E27FC236}">
                <a16:creationId xmlns:a16="http://schemas.microsoft.com/office/drawing/2014/main" id="{BCC06DF3-B2FD-6BB9-9FA1-1C41AA6CE739}"/>
              </a:ext>
            </a:extLst>
          </p:cNvPr>
          <p:cNvSpPr/>
          <p:nvPr/>
        </p:nvSpPr>
        <p:spPr>
          <a:xfrm>
            <a:off x="4657279" y="5875788"/>
            <a:ext cx="1418602" cy="611556"/>
          </a:xfrm>
          <a:prstGeom prst="roundRect">
            <a:avLst/>
          </a:prstGeom>
          <a:solidFill>
            <a:srgbClr val="99D1C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Smart Campaign</a:t>
            </a:r>
          </a:p>
        </p:txBody>
      </p:sp>
    </p:spTree>
    <p:extLst>
      <p:ext uri="{BB962C8B-B14F-4D97-AF65-F5344CB8AC3E}">
        <p14:creationId xmlns:p14="http://schemas.microsoft.com/office/powerpoint/2010/main" val="3138713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2F551-C473-1346-C6BD-154DF0112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25">
            <a:extLst>
              <a:ext uri="{FF2B5EF4-FFF2-40B4-BE49-F238E27FC236}">
                <a16:creationId xmlns:a16="http://schemas.microsoft.com/office/drawing/2014/main" id="{F5A5C952-DBFC-8BBE-E3AE-474D277EFA61}"/>
              </a:ext>
            </a:extLst>
          </p:cNvPr>
          <p:cNvSpPr/>
          <p:nvPr/>
        </p:nvSpPr>
        <p:spPr>
          <a:xfrm>
            <a:off x="1193841" y="1956961"/>
            <a:ext cx="7619321" cy="1208915"/>
          </a:xfrm>
          <a:prstGeom prst="roundRect">
            <a:avLst>
              <a:gd name="adj" fmla="val 9700"/>
            </a:avLst>
          </a:prstGeom>
          <a:solidFill>
            <a:srgbClr val="CCD4D6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Needed for </a:t>
            </a:r>
            <a:r>
              <a:rPr lang="en-US">
                <a:solidFill>
                  <a:schemeClr val="bg2"/>
                </a:solidFill>
                <a:latin typeface="Aptos" panose="02110004020202020204"/>
              </a:rPr>
              <a:t>SDV</a:t>
            </a: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38" name="think-cell data - do not delete" hidden="1">
            <a:extLst>
              <a:ext uri="{FF2B5EF4-FFF2-40B4-BE49-F238E27FC236}">
                <a16:creationId xmlns:a16="http://schemas.microsoft.com/office/drawing/2014/main" id="{7D8CBD1A-6793-62AB-6C9F-2ED1FBBD3CF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8CBD1A-6793-62AB-6C9F-2ED1FBBD3C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" name="Rectangle: Rounded Corners 2">
            <a:extLst>
              <a:ext uri="{FF2B5EF4-FFF2-40B4-BE49-F238E27FC236}">
                <a16:creationId xmlns:a16="http://schemas.microsoft.com/office/drawing/2014/main" id="{C449FDB5-D3BD-8DB5-5A35-C0DA58CE3D3F}"/>
              </a:ext>
            </a:extLst>
          </p:cNvPr>
          <p:cNvSpPr/>
          <p:nvPr/>
        </p:nvSpPr>
        <p:spPr>
          <a:xfrm>
            <a:off x="4387963" y="1199026"/>
            <a:ext cx="4425199" cy="702960"/>
          </a:xfrm>
          <a:prstGeom prst="roundRect">
            <a:avLst/>
          </a:prstGeom>
          <a:solidFill>
            <a:srgbClr val="99A9AD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srgbClr val="0E2841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34C9930-0F2F-78F8-1749-7C63A750F102}"/>
              </a:ext>
            </a:extLst>
          </p:cNvPr>
          <p:cNvSpPr/>
          <p:nvPr/>
        </p:nvSpPr>
        <p:spPr>
          <a:xfrm>
            <a:off x="1351895" y="1917189"/>
            <a:ext cx="2153541" cy="303472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ReCall 2</a:t>
            </a:r>
          </a:p>
        </p:txBody>
      </p:sp>
      <p:sp>
        <p:nvSpPr>
          <p:cNvPr id="3" name="Rectangle: Rounded Corners 11">
            <a:extLst>
              <a:ext uri="{FF2B5EF4-FFF2-40B4-BE49-F238E27FC236}">
                <a16:creationId xmlns:a16="http://schemas.microsoft.com/office/drawing/2014/main" id="{601858F4-69EB-2184-FD1F-82A7C9D2ED76}"/>
              </a:ext>
            </a:extLst>
          </p:cNvPr>
          <p:cNvSpPr/>
          <p:nvPr/>
        </p:nvSpPr>
        <p:spPr>
          <a:xfrm>
            <a:off x="9879713" y="3429000"/>
            <a:ext cx="1418602" cy="61155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ORU 2/3</a:t>
            </a:r>
          </a:p>
        </p:txBody>
      </p:sp>
      <p:sp>
        <p:nvSpPr>
          <p:cNvPr id="5" name="Rectangle: Rounded Corners 11">
            <a:extLst>
              <a:ext uri="{FF2B5EF4-FFF2-40B4-BE49-F238E27FC236}">
                <a16:creationId xmlns:a16="http://schemas.microsoft.com/office/drawing/2014/main" id="{257D9A72-0AFB-EBA4-B3AE-DB8324D1DC56}"/>
              </a:ext>
            </a:extLst>
          </p:cNvPr>
          <p:cNvSpPr/>
          <p:nvPr/>
        </p:nvSpPr>
        <p:spPr>
          <a:xfrm>
            <a:off x="9879713" y="4253438"/>
            <a:ext cx="1418602" cy="61155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ORU 4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D92A330-E423-B6CB-8B63-B64FEF8369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today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6EC1EE1-63C3-59F0-B7F6-B341D7A19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>
            <a:spAutoFit/>
          </a:bodyPr>
          <a:lstStyle/>
          <a:p>
            <a:r>
              <a:rPr lang="en-US"/>
              <a:t>ReCall 2 | Architecture Roadmap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831956A-9D57-20A0-53EC-1D7EDA833CC8}"/>
              </a:ext>
            </a:extLst>
          </p:cNvPr>
          <p:cNvSpPr/>
          <p:nvPr/>
        </p:nvSpPr>
        <p:spPr>
          <a:xfrm>
            <a:off x="7112770" y="1270087"/>
            <a:ext cx="1418602" cy="58595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CarPort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476F513-C936-8C93-3068-032600B10238}"/>
              </a:ext>
            </a:extLst>
          </p:cNvPr>
          <p:cNvSpPr/>
          <p:nvPr/>
        </p:nvSpPr>
        <p:spPr>
          <a:xfrm>
            <a:off x="4657279" y="1270088"/>
            <a:ext cx="1418602" cy="58595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Car Select</a:t>
            </a:r>
            <a:b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Cognos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6D2F6F7-00B4-9FDF-6B0C-23C597DB49B5}"/>
              </a:ext>
            </a:extLst>
          </p:cNvPr>
          <p:cNvSpPr/>
          <p:nvPr/>
        </p:nvSpPr>
        <p:spPr>
          <a:xfrm>
            <a:off x="4657279" y="3441799"/>
            <a:ext cx="1418602" cy="58595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VW ORU via </a:t>
            </a:r>
            <a:b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RVS &amp; GSB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9439F6C-CB21-AC89-19F0-948E872AB94A}"/>
              </a:ext>
            </a:extLst>
          </p:cNvPr>
          <p:cNvCxnSpPr>
            <a:cxnSpLocks/>
            <a:stCxn id="16" idx="3"/>
            <a:endCxn id="14" idx="1"/>
          </p:cNvCxnSpPr>
          <p:nvPr/>
        </p:nvCxnSpPr>
        <p:spPr>
          <a:xfrm flipV="1">
            <a:off x="6075881" y="1563066"/>
            <a:ext cx="1036889" cy="1"/>
          </a:xfrm>
          <a:prstGeom prst="straightConnector1">
            <a:avLst/>
          </a:prstGeom>
          <a:ln w="28575" cap="rnd">
            <a:solidFill>
              <a:srgbClr val="4EA7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2527ECA3-C98E-CFB7-E9BE-A39B85E90619}"/>
              </a:ext>
            </a:extLst>
          </p:cNvPr>
          <p:cNvCxnSpPr>
            <a:cxnSpLocks/>
            <a:stCxn id="28" idx="3"/>
          </p:cNvCxnSpPr>
          <p:nvPr/>
        </p:nvCxnSpPr>
        <p:spPr>
          <a:xfrm flipV="1">
            <a:off x="6075881" y="5370661"/>
            <a:ext cx="3803832" cy="810905"/>
          </a:xfrm>
          <a:prstGeom prst="bentConnector3">
            <a:avLst>
              <a:gd name="adj1" fmla="val 50000"/>
            </a:avLst>
          </a:prstGeom>
          <a:ln w="28575" cap="rnd">
            <a:solidFill>
              <a:srgbClr val="8CBE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11">
            <a:extLst>
              <a:ext uri="{FF2B5EF4-FFF2-40B4-BE49-F238E27FC236}">
                <a16:creationId xmlns:a16="http://schemas.microsoft.com/office/drawing/2014/main" id="{95B9916B-1EC9-49C5-18DA-E28B1E4E86B6}"/>
              </a:ext>
            </a:extLst>
          </p:cNvPr>
          <p:cNvSpPr/>
          <p:nvPr/>
        </p:nvSpPr>
        <p:spPr>
          <a:xfrm>
            <a:off x="9879713" y="5064883"/>
            <a:ext cx="1418602" cy="61155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ORU NEXT</a:t>
            </a:r>
          </a:p>
        </p:txBody>
      </p:sp>
      <p:cxnSp>
        <p:nvCxnSpPr>
          <p:cNvPr id="17" name="Connector: Elbow 50">
            <a:extLst>
              <a:ext uri="{FF2B5EF4-FFF2-40B4-BE49-F238E27FC236}">
                <a16:creationId xmlns:a16="http://schemas.microsoft.com/office/drawing/2014/main" id="{DE644A95-74C5-20B5-EFED-F4D9BA347D33}"/>
              </a:ext>
            </a:extLst>
          </p:cNvPr>
          <p:cNvCxnSpPr>
            <a:cxnSpLocks/>
            <a:stCxn id="4" idx="0"/>
            <a:endCxn id="64" idx="1"/>
          </p:cNvCxnSpPr>
          <p:nvPr/>
        </p:nvCxnSpPr>
        <p:spPr>
          <a:xfrm rot="5400000" flipH="1" flipV="1">
            <a:off x="3224973" y="754200"/>
            <a:ext cx="366683" cy="1959297"/>
          </a:xfrm>
          <a:prstGeom prst="bentConnector2">
            <a:avLst/>
          </a:prstGeom>
          <a:ln w="28575" cap="rnd">
            <a:solidFill>
              <a:srgbClr val="4EA7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50">
            <a:extLst>
              <a:ext uri="{FF2B5EF4-FFF2-40B4-BE49-F238E27FC236}">
                <a16:creationId xmlns:a16="http://schemas.microsoft.com/office/drawing/2014/main" id="{2505DFD7-ED49-3D9E-2FAE-16415B764B2B}"/>
              </a:ext>
            </a:extLst>
          </p:cNvPr>
          <p:cNvCxnSpPr>
            <a:cxnSpLocks/>
            <a:stCxn id="4" idx="3"/>
            <a:endCxn id="25" idx="1"/>
          </p:cNvCxnSpPr>
          <p:nvPr/>
        </p:nvCxnSpPr>
        <p:spPr>
          <a:xfrm>
            <a:off x="3505436" y="3434552"/>
            <a:ext cx="1151843" cy="300226"/>
          </a:xfrm>
          <a:prstGeom prst="bentConnector3">
            <a:avLst>
              <a:gd name="adj1" fmla="val 50000"/>
            </a:avLst>
          </a:prstGeom>
          <a:ln w="28575" cap="rnd">
            <a:solidFill>
              <a:srgbClr val="4EA7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9">
            <a:extLst>
              <a:ext uri="{FF2B5EF4-FFF2-40B4-BE49-F238E27FC236}">
                <a16:creationId xmlns:a16="http://schemas.microsoft.com/office/drawing/2014/main" id="{8407041D-D2B9-596C-65B6-0E71014CB87B}"/>
              </a:ext>
            </a:extLst>
          </p:cNvPr>
          <p:cNvSpPr/>
          <p:nvPr/>
        </p:nvSpPr>
        <p:spPr>
          <a:xfrm>
            <a:off x="7061277" y="2440075"/>
            <a:ext cx="1451363" cy="502955"/>
          </a:xfrm>
          <a:prstGeom prst="roundRect">
            <a:avLst/>
          </a:prstGeom>
          <a:solidFill>
            <a:srgbClr val="99D1C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GVF</a:t>
            </a:r>
          </a:p>
        </p:txBody>
      </p:sp>
      <p:sp>
        <p:nvSpPr>
          <p:cNvPr id="10" name="Rectangle: Rounded Corners 19">
            <a:extLst>
              <a:ext uri="{FF2B5EF4-FFF2-40B4-BE49-F238E27FC236}">
                <a16:creationId xmlns:a16="http://schemas.microsoft.com/office/drawing/2014/main" id="{A1466A7A-1234-0560-7D63-809747BD5B3F}"/>
              </a:ext>
            </a:extLst>
          </p:cNvPr>
          <p:cNvSpPr/>
          <p:nvPr/>
        </p:nvSpPr>
        <p:spPr>
          <a:xfrm>
            <a:off x="2086834" y="2385774"/>
            <a:ext cx="1418602" cy="611556"/>
          </a:xfrm>
          <a:prstGeom prst="roundRect">
            <a:avLst/>
          </a:prstGeom>
          <a:solidFill>
            <a:srgbClr val="99D1C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Car Select</a:t>
            </a:r>
            <a:b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UI</a:t>
            </a:r>
          </a:p>
        </p:txBody>
      </p:sp>
      <p:cxnSp>
        <p:nvCxnSpPr>
          <p:cNvPr id="11" name="Straight Arrow Connector 20">
            <a:extLst>
              <a:ext uri="{FF2B5EF4-FFF2-40B4-BE49-F238E27FC236}">
                <a16:creationId xmlns:a16="http://schemas.microsoft.com/office/drawing/2014/main" id="{2A350015-1EC9-6D22-D734-662FED894C44}"/>
              </a:ext>
            </a:extLst>
          </p:cNvPr>
          <p:cNvCxnSpPr>
            <a:cxnSpLocks/>
            <a:stCxn id="10" idx="3"/>
            <a:endCxn id="7" idx="1"/>
          </p:cNvCxnSpPr>
          <p:nvPr/>
        </p:nvCxnSpPr>
        <p:spPr>
          <a:xfrm>
            <a:off x="3505436" y="2691552"/>
            <a:ext cx="3555841" cy="1"/>
          </a:xfrm>
          <a:prstGeom prst="straightConnector1">
            <a:avLst/>
          </a:prstGeom>
          <a:ln w="28575" cap="rnd">
            <a:solidFill>
              <a:srgbClr val="C882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66">
            <a:extLst>
              <a:ext uri="{FF2B5EF4-FFF2-40B4-BE49-F238E27FC236}">
                <a16:creationId xmlns:a16="http://schemas.microsoft.com/office/drawing/2014/main" id="{722625E6-B751-D370-B6A4-F939BD5E8DC9}"/>
              </a:ext>
            </a:extLst>
          </p:cNvPr>
          <p:cNvSpPr/>
          <p:nvPr/>
        </p:nvSpPr>
        <p:spPr>
          <a:xfrm>
            <a:off x="6760755" y="2375884"/>
            <a:ext cx="251053" cy="261498"/>
          </a:xfrm>
          <a:prstGeom prst="ellipse">
            <a:avLst/>
          </a:prstGeom>
          <a:solidFill>
            <a:srgbClr val="FAAA3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</p:txBody>
      </p:sp>
      <p:sp>
        <p:nvSpPr>
          <p:cNvPr id="13" name="Oval 70">
            <a:extLst>
              <a:ext uri="{FF2B5EF4-FFF2-40B4-BE49-F238E27FC236}">
                <a16:creationId xmlns:a16="http://schemas.microsoft.com/office/drawing/2014/main" id="{3AD4C95B-B2D3-E755-2C92-4FDD8DBDAA88}"/>
              </a:ext>
            </a:extLst>
          </p:cNvPr>
          <p:cNvSpPr/>
          <p:nvPr/>
        </p:nvSpPr>
        <p:spPr>
          <a:xfrm>
            <a:off x="1786312" y="2384807"/>
            <a:ext cx="251053" cy="261498"/>
          </a:xfrm>
          <a:prstGeom prst="ellipse">
            <a:avLst/>
          </a:prstGeom>
          <a:solidFill>
            <a:srgbClr val="FAAA3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</p:txBody>
      </p:sp>
      <p:cxnSp>
        <p:nvCxnSpPr>
          <p:cNvPr id="21" name="Connector: Elbow 50">
            <a:extLst>
              <a:ext uri="{FF2B5EF4-FFF2-40B4-BE49-F238E27FC236}">
                <a16:creationId xmlns:a16="http://schemas.microsoft.com/office/drawing/2014/main" id="{19DEFED9-23FD-F968-4DCD-BC30528B028A}"/>
              </a:ext>
            </a:extLst>
          </p:cNvPr>
          <p:cNvCxnSpPr>
            <a:cxnSpLocks/>
          </p:cNvCxnSpPr>
          <p:nvPr/>
        </p:nvCxnSpPr>
        <p:spPr>
          <a:xfrm flipV="1">
            <a:off x="3505436" y="2814255"/>
            <a:ext cx="3506372" cy="281332"/>
          </a:xfrm>
          <a:prstGeom prst="bentConnector3">
            <a:avLst>
              <a:gd name="adj1" fmla="val 50000"/>
            </a:avLst>
          </a:prstGeom>
          <a:ln w="28575" cap="rnd">
            <a:solidFill>
              <a:srgbClr val="4EA7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66">
            <a:extLst>
              <a:ext uri="{FF2B5EF4-FFF2-40B4-BE49-F238E27FC236}">
                <a16:creationId xmlns:a16="http://schemas.microsoft.com/office/drawing/2014/main" id="{73373AC3-744A-390F-E7DD-3E319F324A0E}"/>
              </a:ext>
            </a:extLst>
          </p:cNvPr>
          <p:cNvSpPr/>
          <p:nvPr/>
        </p:nvSpPr>
        <p:spPr>
          <a:xfrm>
            <a:off x="4879671" y="2779591"/>
            <a:ext cx="251053" cy="261498"/>
          </a:xfrm>
          <a:prstGeom prst="ellipse">
            <a:avLst/>
          </a:prstGeom>
          <a:solidFill>
            <a:srgbClr val="FAAA3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</p:txBody>
      </p:sp>
      <p:sp>
        <p:nvSpPr>
          <p:cNvPr id="15" name="Rectangle: Rounded Corners 11">
            <a:extLst>
              <a:ext uri="{FF2B5EF4-FFF2-40B4-BE49-F238E27FC236}">
                <a16:creationId xmlns:a16="http://schemas.microsoft.com/office/drawing/2014/main" id="{555ED8CC-E0F8-BD43-D100-DC5C37FE759D}"/>
              </a:ext>
            </a:extLst>
          </p:cNvPr>
          <p:cNvSpPr/>
          <p:nvPr/>
        </p:nvSpPr>
        <p:spPr>
          <a:xfrm>
            <a:off x="9879713" y="5868541"/>
            <a:ext cx="1418602" cy="611556"/>
          </a:xfrm>
          <a:prstGeom prst="roundRect">
            <a:avLst/>
          </a:prstGeom>
          <a:solidFill>
            <a:srgbClr val="99D1C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SDV OTA</a:t>
            </a:r>
          </a:p>
        </p:txBody>
      </p:sp>
      <p:cxnSp>
        <p:nvCxnSpPr>
          <p:cNvPr id="18" name="Connector: Elbow 36">
            <a:extLst>
              <a:ext uri="{FF2B5EF4-FFF2-40B4-BE49-F238E27FC236}">
                <a16:creationId xmlns:a16="http://schemas.microsoft.com/office/drawing/2014/main" id="{388B6AA6-157C-803D-D264-97254BC4F071}"/>
              </a:ext>
            </a:extLst>
          </p:cNvPr>
          <p:cNvCxnSpPr>
            <a:cxnSpLocks/>
            <a:stCxn id="4" idx="3"/>
            <a:endCxn id="15" idx="1"/>
          </p:cNvCxnSpPr>
          <p:nvPr/>
        </p:nvCxnSpPr>
        <p:spPr>
          <a:xfrm>
            <a:off x="3505436" y="3434552"/>
            <a:ext cx="6374277" cy="2739767"/>
          </a:xfrm>
          <a:prstGeom prst="bentConnector3">
            <a:avLst>
              <a:gd name="adj1" fmla="val 4511"/>
            </a:avLst>
          </a:prstGeom>
          <a:ln w="28575" cap="rnd">
            <a:solidFill>
              <a:srgbClr val="C882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11">
            <a:extLst>
              <a:ext uri="{FF2B5EF4-FFF2-40B4-BE49-F238E27FC236}">
                <a16:creationId xmlns:a16="http://schemas.microsoft.com/office/drawing/2014/main" id="{21EFAC07-B6BD-354D-BF21-883D11B925DC}"/>
              </a:ext>
            </a:extLst>
          </p:cNvPr>
          <p:cNvSpPr/>
          <p:nvPr/>
        </p:nvSpPr>
        <p:spPr>
          <a:xfrm>
            <a:off x="3105767" y="5135524"/>
            <a:ext cx="1418602" cy="283306"/>
          </a:xfrm>
          <a:prstGeom prst="roundRect">
            <a:avLst>
              <a:gd name="adj" fmla="val 0"/>
            </a:avLst>
          </a:prstGeom>
          <a:solidFill>
            <a:srgbClr val="C2FE0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US">
                <a:solidFill>
                  <a:schemeClr val="bg2"/>
                </a:solidFill>
              </a:rPr>
              <a:t>via REST</a:t>
            </a: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6" name="Oval 66">
            <a:extLst>
              <a:ext uri="{FF2B5EF4-FFF2-40B4-BE49-F238E27FC236}">
                <a16:creationId xmlns:a16="http://schemas.microsoft.com/office/drawing/2014/main" id="{6BB8EAE2-2B85-3C27-100C-0A22C95F065A}"/>
              </a:ext>
            </a:extLst>
          </p:cNvPr>
          <p:cNvSpPr/>
          <p:nvPr/>
        </p:nvSpPr>
        <p:spPr>
          <a:xfrm>
            <a:off x="9452875" y="5782073"/>
            <a:ext cx="251053" cy="261498"/>
          </a:xfrm>
          <a:prstGeom prst="ellipse">
            <a:avLst/>
          </a:prstGeom>
          <a:solidFill>
            <a:srgbClr val="FAAA3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</p:txBody>
      </p:sp>
      <p:sp>
        <p:nvSpPr>
          <p:cNvPr id="28" name="Rectangle: Rounded Corners 11">
            <a:extLst>
              <a:ext uri="{FF2B5EF4-FFF2-40B4-BE49-F238E27FC236}">
                <a16:creationId xmlns:a16="http://schemas.microsoft.com/office/drawing/2014/main" id="{BF73F19D-FC8E-41A6-9F3B-E72DB79441B5}"/>
              </a:ext>
            </a:extLst>
          </p:cNvPr>
          <p:cNvSpPr/>
          <p:nvPr/>
        </p:nvSpPr>
        <p:spPr>
          <a:xfrm>
            <a:off x="4657279" y="5875788"/>
            <a:ext cx="1418602" cy="611556"/>
          </a:xfrm>
          <a:prstGeom prst="roundRect">
            <a:avLst/>
          </a:prstGeom>
          <a:solidFill>
            <a:srgbClr val="99D1C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Smart Campaign</a:t>
            </a:r>
          </a:p>
        </p:txBody>
      </p:sp>
      <p:cxnSp>
        <p:nvCxnSpPr>
          <p:cNvPr id="23" name="Connector: Elbow 50">
            <a:extLst>
              <a:ext uri="{FF2B5EF4-FFF2-40B4-BE49-F238E27FC236}">
                <a16:creationId xmlns:a16="http://schemas.microsoft.com/office/drawing/2014/main" id="{5C1AC5B8-A805-8609-8917-2EFA6DC6D7B2}"/>
              </a:ext>
            </a:extLst>
          </p:cNvPr>
          <p:cNvCxnSpPr>
            <a:cxnSpLocks/>
            <a:stCxn id="28" idx="3"/>
            <a:endCxn id="5" idx="1"/>
          </p:cNvCxnSpPr>
          <p:nvPr/>
        </p:nvCxnSpPr>
        <p:spPr>
          <a:xfrm flipV="1">
            <a:off x="6075881" y="4559216"/>
            <a:ext cx="3803832" cy="1622350"/>
          </a:xfrm>
          <a:prstGeom prst="bentConnector3">
            <a:avLst>
              <a:gd name="adj1" fmla="val 50000"/>
            </a:avLst>
          </a:prstGeom>
          <a:ln w="28575" cap="rnd">
            <a:solidFill>
              <a:srgbClr val="8CBE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50">
            <a:extLst>
              <a:ext uri="{FF2B5EF4-FFF2-40B4-BE49-F238E27FC236}">
                <a16:creationId xmlns:a16="http://schemas.microsoft.com/office/drawing/2014/main" id="{D878CD35-F95B-4CD2-F578-021801B09E48}"/>
              </a:ext>
            </a:extLst>
          </p:cNvPr>
          <p:cNvCxnSpPr>
            <a:cxnSpLocks/>
            <a:stCxn id="28" idx="3"/>
          </p:cNvCxnSpPr>
          <p:nvPr/>
        </p:nvCxnSpPr>
        <p:spPr>
          <a:xfrm flipV="1">
            <a:off x="6075881" y="3747771"/>
            <a:ext cx="3803832" cy="2433795"/>
          </a:xfrm>
          <a:prstGeom prst="bentConnector3">
            <a:avLst>
              <a:gd name="adj1" fmla="val 50000"/>
            </a:avLst>
          </a:prstGeom>
          <a:ln w="28575" cap="rnd">
            <a:solidFill>
              <a:srgbClr val="8CBE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5069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AFFE6-BADD-7C02-B7B1-E4FBDB120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25">
            <a:extLst>
              <a:ext uri="{FF2B5EF4-FFF2-40B4-BE49-F238E27FC236}">
                <a16:creationId xmlns:a16="http://schemas.microsoft.com/office/drawing/2014/main" id="{3D5D6DEC-F94A-E24F-3DA1-7BA73F775EB5}"/>
              </a:ext>
            </a:extLst>
          </p:cNvPr>
          <p:cNvSpPr/>
          <p:nvPr/>
        </p:nvSpPr>
        <p:spPr>
          <a:xfrm>
            <a:off x="1193841" y="1956961"/>
            <a:ext cx="7619321" cy="1208915"/>
          </a:xfrm>
          <a:prstGeom prst="roundRect">
            <a:avLst>
              <a:gd name="adj" fmla="val 9700"/>
            </a:avLst>
          </a:prstGeom>
          <a:solidFill>
            <a:srgbClr val="CCD4D6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Needed for </a:t>
            </a:r>
            <a:r>
              <a:rPr lang="en-US">
                <a:solidFill>
                  <a:schemeClr val="bg2"/>
                </a:solidFill>
                <a:latin typeface="Aptos" panose="02110004020202020204"/>
              </a:rPr>
              <a:t>SDV</a:t>
            </a: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38" name="think-cell data - do not delete" hidden="1">
            <a:extLst>
              <a:ext uri="{FF2B5EF4-FFF2-40B4-BE49-F238E27FC236}">
                <a16:creationId xmlns:a16="http://schemas.microsoft.com/office/drawing/2014/main" id="{929BA074-BC77-DDA8-D6FE-0C0663CA4672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29BA074-BC77-DDA8-D6FE-0C0663CA46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" name="Rectangle: Rounded Corners 2">
            <a:extLst>
              <a:ext uri="{FF2B5EF4-FFF2-40B4-BE49-F238E27FC236}">
                <a16:creationId xmlns:a16="http://schemas.microsoft.com/office/drawing/2014/main" id="{0A3F8805-C62B-93C9-F2D0-195EE1AFD22D}"/>
              </a:ext>
            </a:extLst>
          </p:cNvPr>
          <p:cNvSpPr/>
          <p:nvPr/>
        </p:nvSpPr>
        <p:spPr>
          <a:xfrm>
            <a:off x="4387963" y="1199026"/>
            <a:ext cx="4425199" cy="702960"/>
          </a:xfrm>
          <a:prstGeom prst="roundRect">
            <a:avLst/>
          </a:prstGeom>
          <a:solidFill>
            <a:srgbClr val="99A9AD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srgbClr val="0E2841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2D8912A-FB7A-978E-B8BB-B23E676F4A95}"/>
              </a:ext>
            </a:extLst>
          </p:cNvPr>
          <p:cNvSpPr/>
          <p:nvPr/>
        </p:nvSpPr>
        <p:spPr>
          <a:xfrm>
            <a:off x="1351895" y="1917189"/>
            <a:ext cx="2153541" cy="303472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ReCall 2</a:t>
            </a:r>
          </a:p>
        </p:txBody>
      </p:sp>
      <p:sp>
        <p:nvSpPr>
          <p:cNvPr id="3" name="Rectangle: Rounded Corners 11">
            <a:extLst>
              <a:ext uri="{FF2B5EF4-FFF2-40B4-BE49-F238E27FC236}">
                <a16:creationId xmlns:a16="http://schemas.microsoft.com/office/drawing/2014/main" id="{CBF6EF6E-CF62-0718-F7D0-AB015315A857}"/>
              </a:ext>
            </a:extLst>
          </p:cNvPr>
          <p:cNvSpPr/>
          <p:nvPr/>
        </p:nvSpPr>
        <p:spPr>
          <a:xfrm>
            <a:off x="9879713" y="3429000"/>
            <a:ext cx="1418602" cy="61155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ORU 2/3</a:t>
            </a:r>
          </a:p>
        </p:txBody>
      </p:sp>
      <p:sp>
        <p:nvSpPr>
          <p:cNvPr id="5" name="Rectangle: Rounded Corners 11">
            <a:extLst>
              <a:ext uri="{FF2B5EF4-FFF2-40B4-BE49-F238E27FC236}">
                <a16:creationId xmlns:a16="http://schemas.microsoft.com/office/drawing/2014/main" id="{1B5448B2-F19C-29C6-8CB0-A02987C91BE3}"/>
              </a:ext>
            </a:extLst>
          </p:cNvPr>
          <p:cNvSpPr/>
          <p:nvPr/>
        </p:nvSpPr>
        <p:spPr>
          <a:xfrm>
            <a:off x="9879713" y="4253438"/>
            <a:ext cx="1418602" cy="61155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ORU 4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8D5D4E2-C223-E2D5-7884-511D08DFC7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today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123DF4B-FFF8-8C8F-5EC5-B57A25F25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>
            <a:spAutoFit/>
          </a:bodyPr>
          <a:lstStyle/>
          <a:p>
            <a:r>
              <a:rPr lang="en-US"/>
              <a:t>ReCall 2 | Architecture Roadmap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99AB71A-9408-3871-893D-131A80DE4827}"/>
              </a:ext>
            </a:extLst>
          </p:cNvPr>
          <p:cNvSpPr/>
          <p:nvPr/>
        </p:nvSpPr>
        <p:spPr>
          <a:xfrm>
            <a:off x="7112770" y="1270087"/>
            <a:ext cx="1418602" cy="58595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CarPort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BC3515-0C97-3CA6-4A7A-D9C4C6102260}"/>
              </a:ext>
            </a:extLst>
          </p:cNvPr>
          <p:cNvSpPr/>
          <p:nvPr/>
        </p:nvSpPr>
        <p:spPr>
          <a:xfrm>
            <a:off x="4657279" y="1270088"/>
            <a:ext cx="1418602" cy="58595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Car Select</a:t>
            </a:r>
            <a:b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Cognos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4571187-EC59-3AA4-1658-6ABC880AB474}"/>
              </a:ext>
            </a:extLst>
          </p:cNvPr>
          <p:cNvSpPr/>
          <p:nvPr/>
        </p:nvSpPr>
        <p:spPr>
          <a:xfrm>
            <a:off x="4657279" y="3441799"/>
            <a:ext cx="1418602" cy="58595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VW ORU via </a:t>
            </a:r>
            <a:b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RVS &amp; GSB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7A2EDC5-4AF1-1EE7-D3CD-A48C779B61D4}"/>
              </a:ext>
            </a:extLst>
          </p:cNvPr>
          <p:cNvCxnSpPr>
            <a:cxnSpLocks/>
            <a:stCxn id="16" idx="3"/>
            <a:endCxn id="14" idx="1"/>
          </p:cNvCxnSpPr>
          <p:nvPr/>
        </p:nvCxnSpPr>
        <p:spPr>
          <a:xfrm flipV="1">
            <a:off x="6075881" y="1563066"/>
            <a:ext cx="1036889" cy="1"/>
          </a:xfrm>
          <a:prstGeom prst="straightConnector1">
            <a:avLst/>
          </a:prstGeom>
          <a:ln w="28575" cap="rnd">
            <a:solidFill>
              <a:srgbClr val="4EA7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BA5CEB27-E2F1-BF6A-38FC-5DF7ACE28134}"/>
              </a:ext>
            </a:extLst>
          </p:cNvPr>
          <p:cNvCxnSpPr>
            <a:cxnSpLocks/>
            <a:stCxn id="28" idx="3"/>
          </p:cNvCxnSpPr>
          <p:nvPr/>
        </p:nvCxnSpPr>
        <p:spPr>
          <a:xfrm flipV="1">
            <a:off x="6075881" y="5370661"/>
            <a:ext cx="3803832" cy="810905"/>
          </a:xfrm>
          <a:prstGeom prst="bentConnector3">
            <a:avLst>
              <a:gd name="adj1" fmla="val 50000"/>
            </a:avLst>
          </a:prstGeom>
          <a:ln w="28575" cap="rnd">
            <a:solidFill>
              <a:srgbClr val="8CBE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11">
            <a:extLst>
              <a:ext uri="{FF2B5EF4-FFF2-40B4-BE49-F238E27FC236}">
                <a16:creationId xmlns:a16="http://schemas.microsoft.com/office/drawing/2014/main" id="{E6DA892B-4599-43CA-A82C-BA7B955D9300}"/>
              </a:ext>
            </a:extLst>
          </p:cNvPr>
          <p:cNvSpPr/>
          <p:nvPr/>
        </p:nvSpPr>
        <p:spPr>
          <a:xfrm>
            <a:off x="9879713" y="5064883"/>
            <a:ext cx="1418602" cy="61155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ORU NEXT</a:t>
            </a:r>
          </a:p>
        </p:txBody>
      </p:sp>
      <p:cxnSp>
        <p:nvCxnSpPr>
          <p:cNvPr id="17" name="Connector: Elbow 50">
            <a:extLst>
              <a:ext uri="{FF2B5EF4-FFF2-40B4-BE49-F238E27FC236}">
                <a16:creationId xmlns:a16="http://schemas.microsoft.com/office/drawing/2014/main" id="{DE02DBD7-ADE1-6D3A-BE18-EEB30EF60C07}"/>
              </a:ext>
            </a:extLst>
          </p:cNvPr>
          <p:cNvCxnSpPr>
            <a:cxnSpLocks/>
            <a:stCxn id="4" idx="0"/>
            <a:endCxn id="64" idx="1"/>
          </p:cNvCxnSpPr>
          <p:nvPr/>
        </p:nvCxnSpPr>
        <p:spPr>
          <a:xfrm rot="5400000" flipH="1" flipV="1">
            <a:off x="3224973" y="754200"/>
            <a:ext cx="366683" cy="1959297"/>
          </a:xfrm>
          <a:prstGeom prst="bentConnector2">
            <a:avLst/>
          </a:prstGeom>
          <a:ln w="28575" cap="rnd">
            <a:solidFill>
              <a:srgbClr val="4EA7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50">
            <a:extLst>
              <a:ext uri="{FF2B5EF4-FFF2-40B4-BE49-F238E27FC236}">
                <a16:creationId xmlns:a16="http://schemas.microsoft.com/office/drawing/2014/main" id="{BA0897FB-7C2E-3D1B-1A97-313F69C69BF2}"/>
              </a:ext>
            </a:extLst>
          </p:cNvPr>
          <p:cNvCxnSpPr>
            <a:cxnSpLocks/>
            <a:stCxn id="4" idx="3"/>
            <a:endCxn id="25" idx="1"/>
          </p:cNvCxnSpPr>
          <p:nvPr/>
        </p:nvCxnSpPr>
        <p:spPr>
          <a:xfrm>
            <a:off x="3505436" y="3434552"/>
            <a:ext cx="1151843" cy="300226"/>
          </a:xfrm>
          <a:prstGeom prst="bentConnector3">
            <a:avLst>
              <a:gd name="adj1" fmla="val 50000"/>
            </a:avLst>
          </a:prstGeom>
          <a:ln w="28575" cap="rnd">
            <a:solidFill>
              <a:srgbClr val="4EA7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9">
            <a:extLst>
              <a:ext uri="{FF2B5EF4-FFF2-40B4-BE49-F238E27FC236}">
                <a16:creationId xmlns:a16="http://schemas.microsoft.com/office/drawing/2014/main" id="{5FA6D058-4FCE-F519-5B26-47A224F95553}"/>
              </a:ext>
            </a:extLst>
          </p:cNvPr>
          <p:cNvSpPr/>
          <p:nvPr/>
        </p:nvSpPr>
        <p:spPr>
          <a:xfrm>
            <a:off x="7061277" y="2440075"/>
            <a:ext cx="1451363" cy="502955"/>
          </a:xfrm>
          <a:prstGeom prst="roundRect">
            <a:avLst/>
          </a:prstGeom>
          <a:solidFill>
            <a:srgbClr val="99D1C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GVF</a:t>
            </a:r>
          </a:p>
        </p:txBody>
      </p:sp>
      <p:sp>
        <p:nvSpPr>
          <p:cNvPr id="10" name="Rectangle: Rounded Corners 19">
            <a:extLst>
              <a:ext uri="{FF2B5EF4-FFF2-40B4-BE49-F238E27FC236}">
                <a16:creationId xmlns:a16="http://schemas.microsoft.com/office/drawing/2014/main" id="{2AC588E9-C54E-4435-4391-D1583E07950C}"/>
              </a:ext>
            </a:extLst>
          </p:cNvPr>
          <p:cNvSpPr/>
          <p:nvPr/>
        </p:nvSpPr>
        <p:spPr>
          <a:xfrm>
            <a:off x="2086834" y="2385774"/>
            <a:ext cx="1418602" cy="611556"/>
          </a:xfrm>
          <a:prstGeom prst="roundRect">
            <a:avLst/>
          </a:prstGeom>
          <a:solidFill>
            <a:srgbClr val="99D1C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Car Select</a:t>
            </a:r>
            <a:b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UI</a:t>
            </a:r>
          </a:p>
        </p:txBody>
      </p:sp>
      <p:cxnSp>
        <p:nvCxnSpPr>
          <p:cNvPr id="11" name="Straight Arrow Connector 20">
            <a:extLst>
              <a:ext uri="{FF2B5EF4-FFF2-40B4-BE49-F238E27FC236}">
                <a16:creationId xmlns:a16="http://schemas.microsoft.com/office/drawing/2014/main" id="{20CE3917-9D18-A733-F318-80F2F94BB3CE}"/>
              </a:ext>
            </a:extLst>
          </p:cNvPr>
          <p:cNvCxnSpPr>
            <a:cxnSpLocks/>
            <a:stCxn id="10" idx="3"/>
            <a:endCxn id="7" idx="1"/>
          </p:cNvCxnSpPr>
          <p:nvPr/>
        </p:nvCxnSpPr>
        <p:spPr>
          <a:xfrm>
            <a:off x="3505436" y="2691552"/>
            <a:ext cx="3555841" cy="1"/>
          </a:xfrm>
          <a:prstGeom prst="straightConnector1">
            <a:avLst/>
          </a:prstGeom>
          <a:ln w="28575" cap="rnd">
            <a:solidFill>
              <a:srgbClr val="C882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66">
            <a:extLst>
              <a:ext uri="{FF2B5EF4-FFF2-40B4-BE49-F238E27FC236}">
                <a16:creationId xmlns:a16="http://schemas.microsoft.com/office/drawing/2014/main" id="{76069336-106B-D409-9237-83F74C6F0560}"/>
              </a:ext>
            </a:extLst>
          </p:cNvPr>
          <p:cNvSpPr/>
          <p:nvPr/>
        </p:nvSpPr>
        <p:spPr>
          <a:xfrm>
            <a:off x="6760755" y="2375884"/>
            <a:ext cx="251053" cy="261498"/>
          </a:xfrm>
          <a:prstGeom prst="ellipse">
            <a:avLst/>
          </a:prstGeom>
          <a:solidFill>
            <a:srgbClr val="FAAA3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</p:txBody>
      </p:sp>
      <p:sp>
        <p:nvSpPr>
          <p:cNvPr id="13" name="Oval 70">
            <a:extLst>
              <a:ext uri="{FF2B5EF4-FFF2-40B4-BE49-F238E27FC236}">
                <a16:creationId xmlns:a16="http://schemas.microsoft.com/office/drawing/2014/main" id="{A5117B83-EA22-9234-3628-ADE650F71EB4}"/>
              </a:ext>
            </a:extLst>
          </p:cNvPr>
          <p:cNvSpPr/>
          <p:nvPr/>
        </p:nvSpPr>
        <p:spPr>
          <a:xfrm>
            <a:off x="1786312" y="2384807"/>
            <a:ext cx="251053" cy="261498"/>
          </a:xfrm>
          <a:prstGeom prst="ellipse">
            <a:avLst/>
          </a:prstGeom>
          <a:solidFill>
            <a:srgbClr val="FAAA3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</p:txBody>
      </p:sp>
      <p:cxnSp>
        <p:nvCxnSpPr>
          <p:cNvPr id="21" name="Connector: Elbow 50">
            <a:extLst>
              <a:ext uri="{FF2B5EF4-FFF2-40B4-BE49-F238E27FC236}">
                <a16:creationId xmlns:a16="http://schemas.microsoft.com/office/drawing/2014/main" id="{7880CFFD-BE9A-A00D-DD78-5D353CC95C26}"/>
              </a:ext>
            </a:extLst>
          </p:cNvPr>
          <p:cNvCxnSpPr>
            <a:cxnSpLocks/>
          </p:cNvCxnSpPr>
          <p:nvPr/>
        </p:nvCxnSpPr>
        <p:spPr>
          <a:xfrm flipV="1">
            <a:off x="3505436" y="2814255"/>
            <a:ext cx="3506372" cy="281332"/>
          </a:xfrm>
          <a:prstGeom prst="bentConnector3">
            <a:avLst>
              <a:gd name="adj1" fmla="val 50000"/>
            </a:avLst>
          </a:prstGeom>
          <a:ln w="28575" cap="rnd">
            <a:solidFill>
              <a:srgbClr val="4EA7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66">
            <a:extLst>
              <a:ext uri="{FF2B5EF4-FFF2-40B4-BE49-F238E27FC236}">
                <a16:creationId xmlns:a16="http://schemas.microsoft.com/office/drawing/2014/main" id="{FC03D533-81A7-415A-7925-60CAFA218635}"/>
              </a:ext>
            </a:extLst>
          </p:cNvPr>
          <p:cNvSpPr/>
          <p:nvPr/>
        </p:nvSpPr>
        <p:spPr>
          <a:xfrm>
            <a:off x="4879671" y="2779591"/>
            <a:ext cx="251053" cy="261498"/>
          </a:xfrm>
          <a:prstGeom prst="ellipse">
            <a:avLst/>
          </a:prstGeom>
          <a:solidFill>
            <a:srgbClr val="FAAA3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</p:txBody>
      </p:sp>
      <p:sp>
        <p:nvSpPr>
          <p:cNvPr id="15" name="Rectangle: Rounded Corners 11">
            <a:extLst>
              <a:ext uri="{FF2B5EF4-FFF2-40B4-BE49-F238E27FC236}">
                <a16:creationId xmlns:a16="http://schemas.microsoft.com/office/drawing/2014/main" id="{27CF6080-726D-F5FF-8B85-ED6DCDC50DFB}"/>
              </a:ext>
            </a:extLst>
          </p:cNvPr>
          <p:cNvSpPr/>
          <p:nvPr/>
        </p:nvSpPr>
        <p:spPr>
          <a:xfrm>
            <a:off x="9879713" y="5868541"/>
            <a:ext cx="1418602" cy="611556"/>
          </a:xfrm>
          <a:prstGeom prst="roundRect">
            <a:avLst/>
          </a:prstGeom>
          <a:solidFill>
            <a:srgbClr val="99D1C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SDV OTA</a:t>
            </a:r>
          </a:p>
        </p:txBody>
      </p:sp>
      <p:cxnSp>
        <p:nvCxnSpPr>
          <p:cNvPr id="18" name="Connector: Elbow 36">
            <a:extLst>
              <a:ext uri="{FF2B5EF4-FFF2-40B4-BE49-F238E27FC236}">
                <a16:creationId xmlns:a16="http://schemas.microsoft.com/office/drawing/2014/main" id="{963873CC-CE38-D73A-4E3A-35F090EE6EB3}"/>
              </a:ext>
            </a:extLst>
          </p:cNvPr>
          <p:cNvCxnSpPr>
            <a:cxnSpLocks/>
            <a:stCxn id="4" idx="3"/>
            <a:endCxn id="15" idx="1"/>
          </p:cNvCxnSpPr>
          <p:nvPr/>
        </p:nvCxnSpPr>
        <p:spPr>
          <a:xfrm>
            <a:off x="3505436" y="3434552"/>
            <a:ext cx="6374277" cy="2739767"/>
          </a:xfrm>
          <a:prstGeom prst="bentConnector3">
            <a:avLst>
              <a:gd name="adj1" fmla="val 4511"/>
            </a:avLst>
          </a:prstGeom>
          <a:ln w="28575" cap="rnd">
            <a:solidFill>
              <a:srgbClr val="C882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11">
            <a:extLst>
              <a:ext uri="{FF2B5EF4-FFF2-40B4-BE49-F238E27FC236}">
                <a16:creationId xmlns:a16="http://schemas.microsoft.com/office/drawing/2014/main" id="{700F5A49-C89C-4343-4CCA-89BE6E42C51A}"/>
              </a:ext>
            </a:extLst>
          </p:cNvPr>
          <p:cNvSpPr/>
          <p:nvPr/>
        </p:nvSpPr>
        <p:spPr>
          <a:xfrm>
            <a:off x="3105767" y="5135524"/>
            <a:ext cx="1418602" cy="283306"/>
          </a:xfrm>
          <a:prstGeom prst="roundRect">
            <a:avLst>
              <a:gd name="adj" fmla="val 0"/>
            </a:avLst>
          </a:prstGeom>
          <a:solidFill>
            <a:srgbClr val="C2FE0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US">
                <a:solidFill>
                  <a:schemeClr val="bg2"/>
                </a:solidFill>
              </a:rPr>
              <a:t>via REST</a:t>
            </a: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6" name="Oval 66">
            <a:extLst>
              <a:ext uri="{FF2B5EF4-FFF2-40B4-BE49-F238E27FC236}">
                <a16:creationId xmlns:a16="http://schemas.microsoft.com/office/drawing/2014/main" id="{F8562759-872A-61CE-795F-B8BB269EFC21}"/>
              </a:ext>
            </a:extLst>
          </p:cNvPr>
          <p:cNvSpPr/>
          <p:nvPr/>
        </p:nvSpPr>
        <p:spPr>
          <a:xfrm>
            <a:off x="9452875" y="5782073"/>
            <a:ext cx="251053" cy="261498"/>
          </a:xfrm>
          <a:prstGeom prst="ellipse">
            <a:avLst/>
          </a:prstGeom>
          <a:solidFill>
            <a:srgbClr val="FAAA3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</p:txBody>
      </p:sp>
      <p:sp>
        <p:nvSpPr>
          <p:cNvPr id="28" name="Rectangle: Rounded Corners 11">
            <a:extLst>
              <a:ext uri="{FF2B5EF4-FFF2-40B4-BE49-F238E27FC236}">
                <a16:creationId xmlns:a16="http://schemas.microsoft.com/office/drawing/2014/main" id="{0A0339C2-4E28-1498-CEAD-7094E97FE73F}"/>
              </a:ext>
            </a:extLst>
          </p:cNvPr>
          <p:cNvSpPr/>
          <p:nvPr/>
        </p:nvSpPr>
        <p:spPr>
          <a:xfrm>
            <a:off x="4657279" y="5875788"/>
            <a:ext cx="1418602" cy="611556"/>
          </a:xfrm>
          <a:prstGeom prst="roundRect">
            <a:avLst/>
          </a:prstGeom>
          <a:solidFill>
            <a:srgbClr val="99D1C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Smart Campaign</a:t>
            </a:r>
          </a:p>
        </p:txBody>
      </p:sp>
      <p:cxnSp>
        <p:nvCxnSpPr>
          <p:cNvPr id="23" name="Connector: Elbow 50">
            <a:extLst>
              <a:ext uri="{FF2B5EF4-FFF2-40B4-BE49-F238E27FC236}">
                <a16:creationId xmlns:a16="http://schemas.microsoft.com/office/drawing/2014/main" id="{762AD9E4-4529-A945-D15F-05FA299F41A1}"/>
              </a:ext>
            </a:extLst>
          </p:cNvPr>
          <p:cNvCxnSpPr>
            <a:cxnSpLocks/>
            <a:stCxn id="28" idx="3"/>
            <a:endCxn id="5" idx="1"/>
          </p:cNvCxnSpPr>
          <p:nvPr/>
        </p:nvCxnSpPr>
        <p:spPr>
          <a:xfrm flipV="1">
            <a:off x="6075881" y="4559216"/>
            <a:ext cx="3803832" cy="1622350"/>
          </a:xfrm>
          <a:prstGeom prst="bentConnector3">
            <a:avLst>
              <a:gd name="adj1" fmla="val 50000"/>
            </a:avLst>
          </a:prstGeom>
          <a:ln w="28575" cap="rnd">
            <a:solidFill>
              <a:srgbClr val="8CBE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50">
            <a:extLst>
              <a:ext uri="{FF2B5EF4-FFF2-40B4-BE49-F238E27FC236}">
                <a16:creationId xmlns:a16="http://schemas.microsoft.com/office/drawing/2014/main" id="{9A3B0E13-0DC7-0B8D-5FEE-3E787FADC319}"/>
              </a:ext>
            </a:extLst>
          </p:cNvPr>
          <p:cNvCxnSpPr>
            <a:cxnSpLocks/>
            <a:stCxn id="28" idx="3"/>
          </p:cNvCxnSpPr>
          <p:nvPr/>
        </p:nvCxnSpPr>
        <p:spPr>
          <a:xfrm flipV="1">
            <a:off x="6075881" y="3747771"/>
            <a:ext cx="3803832" cy="2433795"/>
          </a:xfrm>
          <a:prstGeom prst="bentConnector3">
            <a:avLst>
              <a:gd name="adj1" fmla="val 50000"/>
            </a:avLst>
          </a:prstGeom>
          <a:ln w="28575" cap="rnd">
            <a:solidFill>
              <a:srgbClr val="8CBE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feld 31">
            <a:extLst>
              <a:ext uri="{FF2B5EF4-FFF2-40B4-BE49-F238E27FC236}">
                <a16:creationId xmlns:a16="http://schemas.microsoft.com/office/drawing/2014/main" id="{6D66D8F8-C9FC-F7F3-29CA-B13ACBA60D25}"/>
              </a:ext>
            </a:extLst>
          </p:cNvPr>
          <p:cNvSpPr txBox="1"/>
          <p:nvPr/>
        </p:nvSpPr>
        <p:spPr>
          <a:xfrm>
            <a:off x="5424852" y="1402671"/>
            <a:ext cx="1948294" cy="360850"/>
          </a:xfrm>
          <a:prstGeom prst="rect">
            <a:avLst/>
          </a:prstGeom>
          <a:solidFill>
            <a:schemeClr val="tx1"/>
          </a:solidFill>
        </p:spPr>
        <p:txBody>
          <a:bodyPr wrap="square" lIns="0" tIns="72000" rIns="0" bIns="72000" rtlCol="0" anchor="ctr">
            <a:spAutoFit/>
          </a:bodyPr>
          <a:lstStyle/>
          <a:p>
            <a:pPr algn="ctr"/>
            <a:r>
              <a:rPr lang="en-US" sz="1400">
                <a:solidFill>
                  <a:srgbClr val="FF0000"/>
                </a:solidFill>
                <a:latin typeface="Aptos" panose="02110004020202020204"/>
              </a:rPr>
              <a:t>Incremental Phaseout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8F7F1FD0-F75E-81F7-6B68-122190CA5E81}"/>
              </a:ext>
            </a:extLst>
          </p:cNvPr>
          <p:cNvSpPr txBox="1"/>
          <p:nvPr/>
        </p:nvSpPr>
        <p:spPr>
          <a:xfrm>
            <a:off x="4392433" y="3567346"/>
            <a:ext cx="1948294" cy="360850"/>
          </a:xfrm>
          <a:prstGeom prst="rect">
            <a:avLst/>
          </a:prstGeom>
          <a:solidFill>
            <a:schemeClr val="tx1"/>
          </a:solidFill>
        </p:spPr>
        <p:txBody>
          <a:bodyPr wrap="square" lIns="0" tIns="72000" rIns="0" bIns="72000" rtlCol="0" anchor="ctr">
            <a:spAutoFit/>
          </a:bodyPr>
          <a:lstStyle/>
          <a:p>
            <a:pPr algn="ctr"/>
            <a:r>
              <a:rPr lang="en-US" sz="1400">
                <a:solidFill>
                  <a:srgbClr val="FF0000"/>
                </a:solidFill>
                <a:latin typeface="Aptos" panose="02110004020202020204"/>
              </a:rPr>
              <a:t>Incremental Phaseout</a:t>
            </a:r>
          </a:p>
        </p:txBody>
      </p:sp>
    </p:spTree>
    <p:extLst>
      <p:ext uri="{BB962C8B-B14F-4D97-AF65-F5344CB8AC3E}">
        <p14:creationId xmlns:p14="http://schemas.microsoft.com/office/powerpoint/2010/main" val="879363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11EB3-B3F4-18F5-E239-F33B5CC47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25">
            <a:extLst>
              <a:ext uri="{FF2B5EF4-FFF2-40B4-BE49-F238E27FC236}">
                <a16:creationId xmlns:a16="http://schemas.microsoft.com/office/drawing/2014/main" id="{EE904BB3-0534-574C-6761-CBCE86AF396F}"/>
              </a:ext>
            </a:extLst>
          </p:cNvPr>
          <p:cNvSpPr/>
          <p:nvPr/>
        </p:nvSpPr>
        <p:spPr>
          <a:xfrm>
            <a:off x="1193841" y="1956961"/>
            <a:ext cx="7619321" cy="1208915"/>
          </a:xfrm>
          <a:prstGeom prst="roundRect">
            <a:avLst>
              <a:gd name="adj" fmla="val 9700"/>
            </a:avLst>
          </a:prstGeom>
          <a:solidFill>
            <a:srgbClr val="CCD4D6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Needed for </a:t>
            </a:r>
            <a:r>
              <a:rPr lang="en-US">
                <a:solidFill>
                  <a:schemeClr val="bg2"/>
                </a:solidFill>
                <a:latin typeface="Aptos" panose="02110004020202020204"/>
              </a:rPr>
              <a:t>SDV</a:t>
            </a: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38" name="think-cell data - do not delete" hidden="1">
            <a:extLst>
              <a:ext uri="{FF2B5EF4-FFF2-40B4-BE49-F238E27FC236}">
                <a16:creationId xmlns:a16="http://schemas.microsoft.com/office/drawing/2014/main" id="{9012DDAA-BAF8-6D0B-2C62-2DE0FABD75A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012DDAA-BAF8-6D0B-2C62-2DE0FABD75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9E11BAD-DFDE-1EB7-217B-CE466D11F073}"/>
              </a:ext>
            </a:extLst>
          </p:cNvPr>
          <p:cNvSpPr/>
          <p:nvPr/>
        </p:nvSpPr>
        <p:spPr>
          <a:xfrm>
            <a:off x="1351895" y="1917189"/>
            <a:ext cx="2153541" cy="303472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ReCall 2</a:t>
            </a:r>
          </a:p>
        </p:txBody>
      </p:sp>
      <p:sp>
        <p:nvSpPr>
          <p:cNvPr id="3" name="Rectangle: Rounded Corners 11">
            <a:extLst>
              <a:ext uri="{FF2B5EF4-FFF2-40B4-BE49-F238E27FC236}">
                <a16:creationId xmlns:a16="http://schemas.microsoft.com/office/drawing/2014/main" id="{A8BDB872-39B2-4D3D-6884-E8506A8EB202}"/>
              </a:ext>
            </a:extLst>
          </p:cNvPr>
          <p:cNvSpPr/>
          <p:nvPr/>
        </p:nvSpPr>
        <p:spPr>
          <a:xfrm>
            <a:off x="9879713" y="3429000"/>
            <a:ext cx="1418602" cy="61155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ORU 2/3</a:t>
            </a:r>
          </a:p>
        </p:txBody>
      </p:sp>
      <p:sp>
        <p:nvSpPr>
          <p:cNvPr id="5" name="Rectangle: Rounded Corners 11">
            <a:extLst>
              <a:ext uri="{FF2B5EF4-FFF2-40B4-BE49-F238E27FC236}">
                <a16:creationId xmlns:a16="http://schemas.microsoft.com/office/drawing/2014/main" id="{7FB8F9AA-D0BD-5F21-A6CC-2895E9D11CFA}"/>
              </a:ext>
            </a:extLst>
          </p:cNvPr>
          <p:cNvSpPr/>
          <p:nvPr/>
        </p:nvSpPr>
        <p:spPr>
          <a:xfrm>
            <a:off x="9879713" y="4253438"/>
            <a:ext cx="1418602" cy="61155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ORU 4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947E989-6C31-1DD0-6ABF-263383FA79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today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3586267-CDE4-4926-94F3-DBDF8F70A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>
            <a:spAutoFit/>
          </a:bodyPr>
          <a:lstStyle/>
          <a:p>
            <a:r>
              <a:rPr lang="en-US"/>
              <a:t>ReCall 2 | Architecture Roadmap</a:t>
            </a:r>
          </a:p>
        </p:txBody>
      </p: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D275D55B-D487-1EEF-69F9-0897A343EE96}"/>
              </a:ext>
            </a:extLst>
          </p:cNvPr>
          <p:cNvCxnSpPr>
            <a:cxnSpLocks/>
            <a:stCxn id="28" idx="3"/>
          </p:cNvCxnSpPr>
          <p:nvPr/>
        </p:nvCxnSpPr>
        <p:spPr>
          <a:xfrm flipV="1">
            <a:off x="6075881" y="5370661"/>
            <a:ext cx="3803832" cy="810905"/>
          </a:xfrm>
          <a:prstGeom prst="bentConnector3">
            <a:avLst>
              <a:gd name="adj1" fmla="val 50000"/>
            </a:avLst>
          </a:prstGeom>
          <a:ln w="28575" cap="rnd">
            <a:solidFill>
              <a:srgbClr val="8CBE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11">
            <a:extLst>
              <a:ext uri="{FF2B5EF4-FFF2-40B4-BE49-F238E27FC236}">
                <a16:creationId xmlns:a16="http://schemas.microsoft.com/office/drawing/2014/main" id="{F82C330A-7BB8-B642-62B4-EF1830A49E05}"/>
              </a:ext>
            </a:extLst>
          </p:cNvPr>
          <p:cNvSpPr/>
          <p:nvPr/>
        </p:nvSpPr>
        <p:spPr>
          <a:xfrm>
            <a:off x="9879713" y="5064883"/>
            <a:ext cx="1418602" cy="61155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ORU NEXT</a:t>
            </a:r>
          </a:p>
        </p:txBody>
      </p:sp>
      <p:sp>
        <p:nvSpPr>
          <p:cNvPr id="7" name="Rectangle: Rounded Corners 9">
            <a:extLst>
              <a:ext uri="{FF2B5EF4-FFF2-40B4-BE49-F238E27FC236}">
                <a16:creationId xmlns:a16="http://schemas.microsoft.com/office/drawing/2014/main" id="{77BADF18-10EE-3E9C-9278-D1F4F7A70B9C}"/>
              </a:ext>
            </a:extLst>
          </p:cNvPr>
          <p:cNvSpPr/>
          <p:nvPr/>
        </p:nvSpPr>
        <p:spPr>
          <a:xfrm>
            <a:off x="7061277" y="2440075"/>
            <a:ext cx="1451363" cy="502955"/>
          </a:xfrm>
          <a:prstGeom prst="roundRect">
            <a:avLst/>
          </a:prstGeom>
          <a:solidFill>
            <a:srgbClr val="99D1C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GVF</a:t>
            </a:r>
          </a:p>
        </p:txBody>
      </p:sp>
      <p:sp>
        <p:nvSpPr>
          <p:cNvPr id="10" name="Rectangle: Rounded Corners 19">
            <a:extLst>
              <a:ext uri="{FF2B5EF4-FFF2-40B4-BE49-F238E27FC236}">
                <a16:creationId xmlns:a16="http://schemas.microsoft.com/office/drawing/2014/main" id="{6459EAC3-A8FA-E2D1-CFBD-B0A355DBCF99}"/>
              </a:ext>
            </a:extLst>
          </p:cNvPr>
          <p:cNvSpPr/>
          <p:nvPr/>
        </p:nvSpPr>
        <p:spPr>
          <a:xfrm>
            <a:off x="2086834" y="2385774"/>
            <a:ext cx="1418602" cy="611556"/>
          </a:xfrm>
          <a:prstGeom prst="roundRect">
            <a:avLst/>
          </a:prstGeom>
          <a:solidFill>
            <a:srgbClr val="99D1C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Car Select</a:t>
            </a:r>
            <a:b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UI</a:t>
            </a:r>
          </a:p>
        </p:txBody>
      </p:sp>
      <p:cxnSp>
        <p:nvCxnSpPr>
          <p:cNvPr id="11" name="Straight Arrow Connector 20">
            <a:extLst>
              <a:ext uri="{FF2B5EF4-FFF2-40B4-BE49-F238E27FC236}">
                <a16:creationId xmlns:a16="http://schemas.microsoft.com/office/drawing/2014/main" id="{AB95AEBB-6583-1317-ECAC-16FFB9E15718}"/>
              </a:ext>
            </a:extLst>
          </p:cNvPr>
          <p:cNvCxnSpPr>
            <a:cxnSpLocks/>
            <a:stCxn id="10" idx="3"/>
            <a:endCxn id="7" idx="1"/>
          </p:cNvCxnSpPr>
          <p:nvPr/>
        </p:nvCxnSpPr>
        <p:spPr>
          <a:xfrm>
            <a:off x="3505436" y="2691552"/>
            <a:ext cx="3555841" cy="1"/>
          </a:xfrm>
          <a:prstGeom prst="straightConnector1">
            <a:avLst/>
          </a:prstGeom>
          <a:ln w="28575" cap="rnd">
            <a:solidFill>
              <a:srgbClr val="C882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66">
            <a:extLst>
              <a:ext uri="{FF2B5EF4-FFF2-40B4-BE49-F238E27FC236}">
                <a16:creationId xmlns:a16="http://schemas.microsoft.com/office/drawing/2014/main" id="{F29160AB-1E3B-396D-79E8-F1BCEA97A918}"/>
              </a:ext>
            </a:extLst>
          </p:cNvPr>
          <p:cNvSpPr/>
          <p:nvPr/>
        </p:nvSpPr>
        <p:spPr>
          <a:xfrm>
            <a:off x="6760755" y="2375884"/>
            <a:ext cx="251053" cy="261498"/>
          </a:xfrm>
          <a:prstGeom prst="ellipse">
            <a:avLst/>
          </a:prstGeom>
          <a:solidFill>
            <a:srgbClr val="FAAA3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</p:txBody>
      </p:sp>
      <p:sp>
        <p:nvSpPr>
          <p:cNvPr id="13" name="Oval 70">
            <a:extLst>
              <a:ext uri="{FF2B5EF4-FFF2-40B4-BE49-F238E27FC236}">
                <a16:creationId xmlns:a16="http://schemas.microsoft.com/office/drawing/2014/main" id="{1CBF964A-5524-5684-5D20-850FDC08D6FE}"/>
              </a:ext>
            </a:extLst>
          </p:cNvPr>
          <p:cNvSpPr/>
          <p:nvPr/>
        </p:nvSpPr>
        <p:spPr>
          <a:xfrm>
            <a:off x="1786312" y="2384807"/>
            <a:ext cx="251053" cy="261498"/>
          </a:xfrm>
          <a:prstGeom prst="ellipse">
            <a:avLst/>
          </a:prstGeom>
          <a:solidFill>
            <a:srgbClr val="FAAA3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</p:txBody>
      </p:sp>
      <p:cxnSp>
        <p:nvCxnSpPr>
          <p:cNvPr id="21" name="Connector: Elbow 50">
            <a:extLst>
              <a:ext uri="{FF2B5EF4-FFF2-40B4-BE49-F238E27FC236}">
                <a16:creationId xmlns:a16="http://schemas.microsoft.com/office/drawing/2014/main" id="{4F369A1E-86BC-A8FF-FAD7-60474A5A1BD6}"/>
              </a:ext>
            </a:extLst>
          </p:cNvPr>
          <p:cNvCxnSpPr>
            <a:cxnSpLocks/>
          </p:cNvCxnSpPr>
          <p:nvPr/>
        </p:nvCxnSpPr>
        <p:spPr>
          <a:xfrm flipV="1">
            <a:off x="3505436" y="2814255"/>
            <a:ext cx="3506372" cy="281332"/>
          </a:xfrm>
          <a:prstGeom prst="bentConnector3">
            <a:avLst>
              <a:gd name="adj1" fmla="val 50000"/>
            </a:avLst>
          </a:prstGeom>
          <a:ln w="28575" cap="rnd">
            <a:solidFill>
              <a:srgbClr val="4EA7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66">
            <a:extLst>
              <a:ext uri="{FF2B5EF4-FFF2-40B4-BE49-F238E27FC236}">
                <a16:creationId xmlns:a16="http://schemas.microsoft.com/office/drawing/2014/main" id="{D8570561-67C2-3E90-7B70-FADA006E7751}"/>
              </a:ext>
            </a:extLst>
          </p:cNvPr>
          <p:cNvSpPr/>
          <p:nvPr/>
        </p:nvSpPr>
        <p:spPr>
          <a:xfrm>
            <a:off x="4879671" y="2779591"/>
            <a:ext cx="251053" cy="261498"/>
          </a:xfrm>
          <a:prstGeom prst="ellipse">
            <a:avLst/>
          </a:prstGeom>
          <a:solidFill>
            <a:srgbClr val="FAAA3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</a:p>
        </p:txBody>
      </p:sp>
      <p:sp>
        <p:nvSpPr>
          <p:cNvPr id="15" name="Rectangle: Rounded Corners 11">
            <a:extLst>
              <a:ext uri="{FF2B5EF4-FFF2-40B4-BE49-F238E27FC236}">
                <a16:creationId xmlns:a16="http://schemas.microsoft.com/office/drawing/2014/main" id="{10BDC3B6-6245-4FF0-3DC4-B2F33E5E5F71}"/>
              </a:ext>
            </a:extLst>
          </p:cNvPr>
          <p:cNvSpPr/>
          <p:nvPr/>
        </p:nvSpPr>
        <p:spPr>
          <a:xfrm>
            <a:off x="9879713" y="5868541"/>
            <a:ext cx="1418602" cy="611556"/>
          </a:xfrm>
          <a:prstGeom prst="roundRect">
            <a:avLst/>
          </a:prstGeom>
          <a:solidFill>
            <a:srgbClr val="99D1C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SDV OTA</a:t>
            </a:r>
          </a:p>
        </p:txBody>
      </p:sp>
      <p:cxnSp>
        <p:nvCxnSpPr>
          <p:cNvPr id="18" name="Connector: Elbow 36">
            <a:extLst>
              <a:ext uri="{FF2B5EF4-FFF2-40B4-BE49-F238E27FC236}">
                <a16:creationId xmlns:a16="http://schemas.microsoft.com/office/drawing/2014/main" id="{1C5A48F7-4AD7-9AE0-0AE4-7D7622FDFED2}"/>
              </a:ext>
            </a:extLst>
          </p:cNvPr>
          <p:cNvCxnSpPr>
            <a:cxnSpLocks/>
            <a:stCxn id="4" idx="3"/>
            <a:endCxn id="15" idx="1"/>
          </p:cNvCxnSpPr>
          <p:nvPr/>
        </p:nvCxnSpPr>
        <p:spPr>
          <a:xfrm>
            <a:off x="3505436" y="3434552"/>
            <a:ext cx="6374277" cy="2739767"/>
          </a:xfrm>
          <a:prstGeom prst="bentConnector3">
            <a:avLst>
              <a:gd name="adj1" fmla="val 4511"/>
            </a:avLst>
          </a:prstGeom>
          <a:ln w="28575" cap="rnd">
            <a:solidFill>
              <a:srgbClr val="C882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11">
            <a:extLst>
              <a:ext uri="{FF2B5EF4-FFF2-40B4-BE49-F238E27FC236}">
                <a16:creationId xmlns:a16="http://schemas.microsoft.com/office/drawing/2014/main" id="{312EC699-8356-00E5-7D49-2F0278BA100D}"/>
              </a:ext>
            </a:extLst>
          </p:cNvPr>
          <p:cNvSpPr/>
          <p:nvPr/>
        </p:nvSpPr>
        <p:spPr>
          <a:xfrm>
            <a:off x="3105767" y="5135524"/>
            <a:ext cx="1418602" cy="283306"/>
          </a:xfrm>
          <a:prstGeom prst="roundRect">
            <a:avLst>
              <a:gd name="adj" fmla="val 0"/>
            </a:avLst>
          </a:prstGeom>
          <a:solidFill>
            <a:srgbClr val="C2FE0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US">
                <a:solidFill>
                  <a:schemeClr val="bg2"/>
                </a:solidFill>
              </a:rPr>
              <a:t>via REST</a:t>
            </a: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6" name="Oval 66">
            <a:extLst>
              <a:ext uri="{FF2B5EF4-FFF2-40B4-BE49-F238E27FC236}">
                <a16:creationId xmlns:a16="http://schemas.microsoft.com/office/drawing/2014/main" id="{C55ED9E6-2F8A-ECA8-CCCD-EB3346CFA5BB}"/>
              </a:ext>
            </a:extLst>
          </p:cNvPr>
          <p:cNvSpPr/>
          <p:nvPr/>
        </p:nvSpPr>
        <p:spPr>
          <a:xfrm>
            <a:off x="9452875" y="5782073"/>
            <a:ext cx="251053" cy="261498"/>
          </a:xfrm>
          <a:prstGeom prst="ellipse">
            <a:avLst/>
          </a:prstGeom>
          <a:solidFill>
            <a:srgbClr val="FAAA3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</a:t>
            </a:r>
          </a:p>
        </p:txBody>
      </p:sp>
      <p:sp>
        <p:nvSpPr>
          <p:cNvPr id="28" name="Rectangle: Rounded Corners 11">
            <a:extLst>
              <a:ext uri="{FF2B5EF4-FFF2-40B4-BE49-F238E27FC236}">
                <a16:creationId xmlns:a16="http://schemas.microsoft.com/office/drawing/2014/main" id="{A7B9F0CC-32A3-6E01-8A79-34E89E524574}"/>
              </a:ext>
            </a:extLst>
          </p:cNvPr>
          <p:cNvSpPr/>
          <p:nvPr/>
        </p:nvSpPr>
        <p:spPr>
          <a:xfrm>
            <a:off x="4657279" y="5875788"/>
            <a:ext cx="1418602" cy="611556"/>
          </a:xfrm>
          <a:prstGeom prst="roundRect">
            <a:avLst/>
          </a:prstGeom>
          <a:solidFill>
            <a:srgbClr val="99D1C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Smart Campaign</a:t>
            </a:r>
          </a:p>
        </p:txBody>
      </p:sp>
      <p:cxnSp>
        <p:nvCxnSpPr>
          <p:cNvPr id="23" name="Connector: Elbow 50">
            <a:extLst>
              <a:ext uri="{FF2B5EF4-FFF2-40B4-BE49-F238E27FC236}">
                <a16:creationId xmlns:a16="http://schemas.microsoft.com/office/drawing/2014/main" id="{E9975C18-AD51-4515-A118-DEFFDDAB472E}"/>
              </a:ext>
            </a:extLst>
          </p:cNvPr>
          <p:cNvCxnSpPr>
            <a:cxnSpLocks/>
            <a:stCxn id="28" idx="3"/>
            <a:endCxn id="5" idx="1"/>
          </p:cNvCxnSpPr>
          <p:nvPr/>
        </p:nvCxnSpPr>
        <p:spPr>
          <a:xfrm flipV="1">
            <a:off x="6075881" y="4559216"/>
            <a:ext cx="3803832" cy="1622350"/>
          </a:xfrm>
          <a:prstGeom prst="bentConnector3">
            <a:avLst>
              <a:gd name="adj1" fmla="val 50000"/>
            </a:avLst>
          </a:prstGeom>
          <a:ln w="28575" cap="rnd">
            <a:solidFill>
              <a:srgbClr val="8CBE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50">
            <a:extLst>
              <a:ext uri="{FF2B5EF4-FFF2-40B4-BE49-F238E27FC236}">
                <a16:creationId xmlns:a16="http://schemas.microsoft.com/office/drawing/2014/main" id="{21D9542F-009A-EBFB-3CA6-CB81CC574307}"/>
              </a:ext>
            </a:extLst>
          </p:cNvPr>
          <p:cNvCxnSpPr>
            <a:cxnSpLocks/>
            <a:stCxn id="28" idx="3"/>
          </p:cNvCxnSpPr>
          <p:nvPr/>
        </p:nvCxnSpPr>
        <p:spPr>
          <a:xfrm flipV="1">
            <a:off x="6075881" y="3747771"/>
            <a:ext cx="3803832" cy="2433795"/>
          </a:xfrm>
          <a:prstGeom prst="bentConnector3">
            <a:avLst>
              <a:gd name="adj1" fmla="val 50000"/>
            </a:avLst>
          </a:prstGeom>
          <a:ln w="28575" cap="rnd">
            <a:solidFill>
              <a:srgbClr val="8CBE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7355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hink-cell data - do not delete" hidden="1">
            <a:extLst>
              <a:ext uri="{FF2B5EF4-FFF2-40B4-BE49-F238E27FC236}">
                <a16:creationId xmlns:a16="http://schemas.microsoft.com/office/drawing/2014/main" id="{D552EB62-DD17-EC8A-DB13-6C6065D1685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1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552EB62-DD17-EC8A-DB13-6C6065D168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hteck 5">
            <a:extLst>
              <a:ext uri="{FF2B5EF4-FFF2-40B4-BE49-F238E27FC236}">
                <a16:creationId xmlns:a16="http://schemas.microsoft.com/office/drawing/2014/main" id="{F6C88135-85B1-4FB7-E424-D159832B20CC}"/>
              </a:ext>
            </a:extLst>
          </p:cNvPr>
          <p:cNvSpPr/>
          <p:nvPr/>
        </p:nvSpPr>
        <p:spPr>
          <a:xfrm>
            <a:off x="3422867" y="4390693"/>
            <a:ext cx="5372539" cy="2307022"/>
          </a:xfrm>
          <a:prstGeom prst="rect">
            <a:avLst/>
          </a:prstGeom>
          <a:solidFill>
            <a:srgbClr val="8CBEE6"/>
          </a:solidFill>
          <a:ln>
            <a:solidFill>
              <a:srgbClr val="8CBE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216000" rIns="216000" bIns="216000" rtlCol="0" anchor="t"/>
          <a:lstStyle/>
          <a:p>
            <a:pPr algn="l" defTabSz="432000">
              <a:spcAft>
                <a:spcPts val="600"/>
              </a:spcAft>
            </a:pPr>
            <a:endParaRPr lang="de-DE" sz="1400"/>
          </a:p>
        </p:txBody>
      </p:sp>
      <p:sp>
        <p:nvSpPr>
          <p:cNvPr id="142" name="Textplatzhalter 125">
            <a:extLst>
              <a:ext uri="{FF2B5EF4-FFF2-40B4-BE49-F238E27FC236}">
                <a16:creationId xmlns:a16="http://schemas.microsoft.com/office/drawing/2014/main" id="{3353E943-CF4A-5CE7-EA11-9708D2EDF15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>
                <a:solidFill>
                  <a:srgbClr val="C2FE06"/>
                </a:solidFill>
              </a:rPr>
              <a:t>Current situation: Design of 2017</a:t>
            </a:r>
            <a:endParaRPr lang="de-DE">
              <a:solidFill>
                <a:srgbClr val="C2FE06"/>
              </a:solidFill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65595087-9205-C1AE-989F-DC56822E7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>
            <a:spAutoFit/>
          </a:bodyPr>
          <a:lstStyle/>
          <a:p>
            <a:r>
              <a:rPr lang="de-DE" err="1"/>
              <a:t>ReCall</a:t>
            </a:r>
            <a:r>
              <a:rPr lang="de-DE"/>
              <a:t> 2 | High </a:t>
            </a:r>
            <a:r>
              <a:rPr lang="de-DE" err="1"/>
              <a:t>level</a:t>
            </a:r>
            <a:r>
              <a:rPr lang="de-DE"/>
              <a:t> </a:t>
            </a:r>
            <a:r>
              <a:rPr lang="de-DE" err="1"/>
              <a:t>Architectural</a:t>
            </a:r>
            <a:r>
              <a:rPr lang="de-DE"/>
              <a:t> Concept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DD178067-CC04-6E4B-DC59-819D4A35CA97}"/>
              </a:ext>
            </a:extLst>
          </p:cNvPr>
          <p:cNvSpPr txBox="1"/>
          <p:nvPr/>
        </p:nvSpPr>
        <p:spPr>
          <a:xfrm>
            <a:off x="6108727" y="2672438"/>
            <a:ext cx="950341" cy="29167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r>
              <a:rPr kumimoji="0" lang="en" sz="1400" b="0" i="0" u="none" strike="noStrike" kern="1200" cap="none" spc="0" normalizeH="0" baseline="0" noProof="0" err="1">
                <a:ln>
                  <a:noFill/>
                </a:ln>
                <a:solidFill>
                  <a:srgbClr val="004666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  <a:t>using COGNOS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br>
              <a:rPr kumimoji="0" lang="de-DE" sz="1000" b="0" i="0" u="none" strike="noStrike" kern="1200" cap="none" spc="0" normalizeH="0" baseline="0" noProof="0">
                <a:ln>
                  <a:noFill/>
                </a:ln>
                <a:solidFill>
                  <a:srgbClr val="004666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</a:br>
            <a:r>
              <a:rPr kumimoji="0" lang="de-DE" sz="1000" b="0" i="0" u="none" strike="noStrike" kern="1200" cap="none" spc="0" normalizeH="0" baseline="0" noProof="0">
                <a:ln>
                  <a:noFill/>
                </a:ln>
                <a:solidFill>
                  <a:srgbClr val="004666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  <a:t>-   </a:t>
            </a: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srgbClr val="004666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  <a:t>Identification of </a:t>
            </a:r>
            <a:b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srgbClr val="004666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</a:b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srgbClr val="004666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  <a:t>     customer vehicles </a:t>
            </a:r>
            <a:b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srgbClr val="004666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</a:b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srgbClr val="004666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  <a:t>     affected by a compaign </a:t>
            </a:r>
            <a:br>
              <a:rPr kumimoji="0" lang="de-DE" sz="1000" b="0" i="0" u="none" strike="noStrike" kern="1200" cap="none" spc="0" normalizeH="0" baseline="0" noProof="0">
                <a:ln>
                  <a:noFill/>
                </a:ln>
                <a:solidFill>
                  <a:srgbClr val="004666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</a:br>
            <a:br>
              <a:rPr kumimoji="0" lang="de-DE" sz="1000" b="0" i="0" u="none" strike="noStrike" kern="1200" cap="none" spc="0" normalizeH="0" baseline="0" noProof="0">
                <a:ln>
                  <a:noFill/>
                </a:ln>
                <a:solidFill>
                  <a:srgbClr val="80B0C8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</a:br>
            <a:endParaRPr kumimoji="0" lang="de-DE" sz="1000" b="0" i="0" u="none" strike="noStrike" kern="1200" cap="none" spc="0" normalizeH="0" baseline="0" noProof="0">
              <a:ln>
                <a:noFill/>
              </a:ln>
              <a:solidFill>
                <a:srgbClr val="80B0C8"/>
              </a:solidFill>
              <a:effectLst/>
              <a:uLnTx/>
              <a:uFillTx/>
              <a:latin typeface="VWAG TheSans"/>
              <a:ea typeface="+mn-ea"/>
              <a:cs typeface="+mn-cs"/>
            </a:endParaRPr>
          </a:p>
        </p:txBody>
      </p:sp>
      <p:pic>
        <p:nvPicPr>
          <p:cNvPr id="41" name="Grafik 40">
            <a:extLst>
              <a:ext uri="{FF2B5EF4-FFF2-40B4-BE49-F238E27FC236}">
                <a16:creationId xmlns:a16="http://schemas.microsoft.com/office/drawing/2014/main" id="{08CD56FB-BA3B-5249-EB7B-6050828079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3537" y="2609067"/>
            <a:ext cx="497367" cy="502341"/>
          </a:xfrm>
          <a:prstGeom prst="rect">
            <a:avLst/>
          </a:prstGeom>
        </p:spPr>
      </p:pic>
      <p:cxnSp>
        <p:nvCxnSpPr>
          <p:cNvPr id="83" name="Gerade Verbindung mit Pfeil 82">
            <a:extLst>
              <a:ext uri="{FF2B5EF4-FFF2-40B4-BE49-F238E27FC236}">
                <a16:creationId xmlns:a16="http://schemas.microsoft.com/office/drawing/2014/main" id="{1D566A48-38B4-ACEB-72B6-BA73CF90CF6F}"/>
              </a:ext>
            </a:extLst>
          </p:cNvPr>
          <p:cNvCxnSpPr>
            <a:cxnSpLocks/>
          </p:cNvCxnSpPr>
          <p:nvPr/>
        </p:nvCxnSpPr>
        <p:spPr>
          <a:xfrm flipV="1">
            <a:off x="7436749" y="2496301"/>
            <a:ext cx="0" cy="321313"/>
          </a:xfrm>
          <a:prstGeom prst="straightConnector1">
            <a:avLst/>
          </a:prstGeom>
          <a:ln>
            <a:headEnd type="none" w="med" len="sm"/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04" name="Rechteck: abgerundete Ecken 103">
            <a:extLst>
              <a:ext uri="{FF2B5EF4-FFF2-40B4-BE49-F238E27FC236}">
                <a16:creationId xmlns:a16="http://schemas.microsoft.com/office/drawing/2014/main" id="{C0BB49C6-6435-771B-C18E-FADCF01C3CA7}"/>
              </a:ext>
            </a:extLst>
          </p:cNvPr>
          <p:cNvSpPr/>
          <p:nvPr/>
        </p:nvSpPr>
        <p:spPr>
          <a:xfrm>
            <a:off x="3451215" y="1533810"/>
            <a:ext cx="5289570" cy="2808557"/>
          </a:xfrm>
          <a:prstGeom prst="roundRect">
            <a:avLst>
              <a:gd name="adj" fmla="val 5494"/>
            </a:avLst>
          </a:prstGeom>
          <a:solidFill>
            <a:srgbClr val="667D85"/>
          </a:solidFill>
          <a:ln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t"/>
          <a:lstStyle/>
          <a:p>
            <a:pPr>
              <a:defRPr/>
            </a:pPr>
            <a:r>
              <a:rPr kumimoji="0" lang="en" sz="14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  <a:t>ReCall</a:t>
            </a:r>
            <a:r>
              <a:rPr kumimoji="0" lang="e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  <a:t> 2 </a:t>
            </a:r>
            <a:r>
              <a:rPr kumimoji="0" lang="e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  <a:t>– </a:t>
            </a:r>
            <a:r>
              <a:rPr lang="en" sz="1400">
                <a:solidFill>
                  <a:schemeClr val="tx1"/>
                </a:solidFill>
                <a:latin typeface="VWAG TheSans"/>
              </a:rPr>
              <a:t>Worldwide</a:t>
            </a:r>
            <a:r>
              <a:rPr kumimoji="0" lang="e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  <a:t> – in all Group </a:t>
            </a:r>
            <a:r>
              <a:rPr lang="en" sz="1400">
                <a:solidFill>
                  <a:schemeClr val="tx1"/>
                </a:solidFill>
                <a:latin typeface="VWAG TheSans"/>
              </a:rPr>
              <a:t>Brands</a:t>
            </a:r>
            <a:r>
              <a:rPr kumimoji="0" lang="e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  <a:t> and </a:t>
            </a:r>
            <a:r>
              <a:rPr lang="en" sz="1400">
                <a:solidFill>
                  <a:schemeClr val="tx1"/>
                </a:solidFill>
                <a:latin typeface="VWAG TheSans"/>
              </a:rPr>
              <a:t>Regions </a:t>
            </a:r>
            <a:endParaRPr kumimoji="0" lang="e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WAG TheSans"/>
              <a:ea typeface="+mn-ea"/>
              <a:cs typeface="+mn-cs"/>
            </a:endParaRPr>
          </a:p>
          <a:p>
            <a:pPr>
              <a:defRPr/>
            </a:pPr>
            <a:r>
              <a:rPr kumimoji="0" lang="en" sz="1400" b="0" i="1" u="none" strike="noStrike" kern="1200" cap="none" spc="0" normalizeH="0" baseline="0" noProof="0">
                <a:ln>
                  <a:noFill/>
                </a:ln>
                <a:solidFill>
                  <a:srgbClr val="C2FE06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  <a:t>AWS hosted FR, </a:t>
            </a:r>
            <a:r>
              <a:rPr lang="en" sz="1400" i="1">
                <a:solidFill>
                  <a:srgbClr val="C2FE06"/>
                </a:solidFill>
                <a:latin typeface="VWAG TheSans"/>
              </a:rPr>
              <a:t>Vanguard</a:t>
            </a:r>
            <a:endParaRPr kumimoji="0" lang="de-DE" sz="1400" b="0" i="1" u="none" strike="noStrike" kern="1200" cap="none" spc="0" normalizeH="0" baseline="0" noProof="0">
              <a:ln>
                <a:noFill/>
              </a:ln>
              <a:solidFill>
                <a:srgbClr val="C2FE06"/>
              </a:solidFill>
              <a:effectLst/>
              <a:uLnTx/>
              <a:uFillTx/>
              <a:latin typeface="The Group TEXT"/>
              <a:ea typeface="+mn-ea"/>
              <a:cs typeface="+mn-cs"/>
            </a:endParaRPr>
          </a:p>
        </p:txBody>
      </p:sp>
      <p:sp>
        <p:nvSpPr>
          <p:cNvPr id="105" name="Rechteck: abgerundete Ecken 104">
            <a:extLst>
              <a:ext uri="{FF2B5EF4-FFF2-40B4-BE49-F238E27FC236}">
                <a16:creationId xmlns:a16="http://schemas.microsoft.com/office/drawing/2014/main" id="{A2EBA24C-E4D7-7063-4128-C7CD7BDB9D4C}"/>
              </a:ext>
            </a:extLst>
          </p:cNvPr>
          <p:cNvSpPr/>
          <p:nvPr/>
        </p:nvSpPr>
        <p:spPr>
          <a:xfrm>
            <a:off x="3554739" y="2239567"/>
            <a:ext cx="1656000" cy="1550738"/>
          </a:xfrm>
          <a:prstGeom prst="roundRect">
            <a:avLst>
              <a:gd name="adj" fmla="val 9678"/>
            </a:avLst>
          </a:prstGeom>
          <a:solidFill>
            <a:schemeClr val="accent3">
              <a:lumMod val="50000"/>
            </a:schemeClr>
          </a:solidFill>
          <a:ln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180000" rtlCol="0" anchor="t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SCS</a:t>
            </a:r>
            <a:b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</a:br>
            <a:r>
              <a:rPr kumimoji="0" lang="de-DE" sz="12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Notification</a:t>
            </a:r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he Group TEXT"/>
              <a:ea typeface="+mn-ea"/>
              <a:cs typeface="+mn-cs"/>
            </a:endParaRPr>
          </a:p>
        </p:txBody>
      </p:sp>
      <p:sp>
        <p:nvSpPr>
          <p:cNvPr id="106" name="Rechteck: abgerundete Ecken 105">
            <a:extLst>
              <a:ext uri="{FF2B5EF4-FFF2-40B4-BE49-F238E27FC236}">
                <a16:creationId xmlns:a16="http://schemas.microsoft.com/office/drawing/2014/main" id="{9B2BEFB2-AA5D-C045-D0EC-C2AEC34B5683}"/>
              </a:ext>
            </a:extLst>
          </p:cNvPr>
          <p:cNvSpPr/>
          <p:nvPr/>
        </p:nvSpPr>
        <p:spPr>
          <a:xfrm>
            <a:off x="5252340" y="2239567"/>
            <a:ext cx="1656000" cy="1550738"/>
          </a:xfrm>
          <a:prstGeom prst="roundRect">
            <a:avLst>
              <a:gd name="adj" fmla="val 9678"/>
            </a:avLst>
          </a:prstGeom>
          <a:solidFill>
            <a:schemeClr val="accent3">
              <a:lumMod val="50000"/>
            </a:schemeClr>
          </a:solidFill>
          <a:ln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>
              <a:defRPr/>
            </a:pPr>
            <a:r>
              <a:rPr kumimoji="0" lang="de-DE" sz="12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SCS‘s</a:t>
            </a: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 -  Modul 1: </a:t>
            </a:r>
            <a:r>
              <a:rPr lang="en" sz="1200">
                <a:latin typeface="+mj-lt"/>
              </a:rPr>
              <a:t>Safety and compliance </a:t>
            </a:r>
            <a:r>
              <a:rPr lang="de-DE" sz="1200" err="1">
                <a:latin typeface="+mj-lt"/>
              </a:rPr>
              <a:t>decision</a:t>
            </a:r>
            <a:r>
              <a:rPr lang="de-DE" sz="1200">
                <a:latin typeface="+mj-lt"/>
              </a:rPr>
              <a:t> </a:t>
            </a:r>
            <a:r>
              <a:rPr lang="de-DE" sz="1200" err="1">
                <a:latin typeface="+mj-lt"/>
              </a:rPr>
              <a:t>made</a:t>
            </a:r>
            <a:r>
              <a:rPr lang="de-DE" sz="1200">
                <a:latin typeface="+mj-lt"/>
              </a:rPr>
              <a:t> </a:t>
            </a:r>
            <a:r>
              <a:rPr lang="de-DE" sz="1200" err="1">
                <a:latin typeface="+mj-lt"/>
              </a:rPr>
              <a:t>by</a:t>
            </a:r>
            <a:r>
              <a:rPr lang="de-DE" sz="1200">
                <a:latin typeface="+mj-lt"/>
              </a:rPr>
              <a:t> </a:t>
            </a:r>
            <a:r>
              <a:rPr lang="de-DE" sz="1200" err="1">
                <a:latin typeface="+mj-lt"/>
              </a:rPr>
              <a:t>the</a:t>
            </a:r>
            <a:r>
              <a:rPr lang="de-DE" sz="1200">
                <a:latin typeface="+mj-lt"/>
              </a:rPr>
              <a:t> PSC</a:t>
            </a:r>
            <a:endParaRPr lang="en-GB" sz="1200">
              <a:latin typeface="+mj-lt"/>
            </a:endParaRPr>
          </a:p>
        </p:txBody>
      </p:sp>
      <p:sp>
        <p:nvSpPr>
          <p:cNvPr id="107" name="Rechteck: abgerundete Ecken 106">
            <a:extLst>
              <a:ext uri="{FF2B5EF4-FFF2-40B4-BE49-F238E27FC236}">
                <a16:creationId xmlns:a16="http://schemas.microsoft.com/office/drawing/2014/main" id="{7EF77298-5EBB-80C1-51A5-ECF6F83DCB67}"/>
              </a:ext>
            </a:extLst>
          </p:cNvPr>
          <p:cNvSpPr/>
          <p:nvPr/>
        </p:nvSpPr>
        <p:spPr>
          <a:xfrm>
            <a:off x="6958605" y="2234429"/>
            <a:ext cx="1656000" cy="1550738"/>
          </a:xfrm>
          <a:prstGeom prst="roundRect">
            <a:avLst>
              <a:gd name="adj" fmla="val 9678"/>
            </a:avLst>
          </a:prstGeom>
          <a:solidFill>
            <a:schemeClr val="accent3">
              <a:lumMod val="50000"/>
            </a:schemeClr>
          </a:solidFill>
          <a:ln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SCS</a:t>
            </a:r>
            <a:r>
              <a:rPr lang="de-DE" sz="1200">
                <a:solidFill>
                  <a:srgbClr val="FFFFFF"/>
                </a:solidFill>
                <a:latin typeface="The Group TEXT"/>
              </a:rPr>
              <a:t> - </a:t>
            </a: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 Modul 2: </a:t>
            </a:r>
            <a:r>
              <a:rPr lang="de-DE" sz="1200">
                <a:latin typeface="+mj-lt"/>
              </a:rPr>
              <a:t>Field </a:t>
            </a:r>
            <a:r>
              <a:rPr lang="de-DE" sz="1200" err="1">
                <a:latin typeface="+mj-lt"/>
              </a:rPr>
              <a:t>Campaigns</a:t>
            </a:r>
            <a:endParaRPr lang="en-GB" sz="1200">
              <a:latin typeface="+mj-lt"/>
            </a:endParaRPr>
          </a:p>
        </p:txBody>
      </p:sp>
      <p:sp>
        <p:nvSpPr>
          <p:cNvPr id="27" name="Chevron 76">
            <a:extLst>
              <a:ext uri="{FF2B5EF4-FFF2-40B4-BE49-F238E27FC236}">
                <a16:creationId xmlns:a16="http://schemas.microsoft.com/office/drawing/2014/main" id="{1121092D-5F50-2CFB-C24A-C7FE47C13E6A}"/>
              </a:ext>
            </a:extLst>
          </p:cNvPr>
          <p:cNvSpPr/>
          <p:nvPr/>
        </p:nvSpPr>
        <p:spPr>
          <a:xfrm>
            <a:off x="4474791" y="3307838"/>
            <a:ext cx="1337688" cy="403826"/>
          </a:xfrm>
          <a:prstGeom prst="chevron">
            <a:avLst/>
          </a:prstGeom>
          <a:solidFill>
            <a:srgbClr val="C2E3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100" b="0" i="0" u="none" strike="noStrike" kern="1200" cap="none" spc="0" normalizeH="0" baseline="0" noProof="0">
                <a:ln>
                  <a:noFill/>
                </a:ln>
                <a:solidFill>
                  <a:srgbClr val="2D5159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  <a:t>Notification</a:t>
            </a:r>
          </a:p>
        </p:txBody>
      </p:sp>
      <p:sp>
        <p:nvSpPr>
          <p:cNvPr id="113" name="Rechteck: abgerundete Ecken 112">
            <a:extLst>
              <a:ext uri="{FF2B5EF4-FFF2-40B4-BE49-F238E27FC236}">
                <a16:creationId xmlns:a16="http://schemas.microsoft.com/office/drawing/2014/main" id="{7B5DAAD1-0AEB-769F-991C-0C1DF50D0753}"/>
              </a:ext>
            </a:extLst>
          </p:cNvPr>
          <p:cNvSpPr/>
          <p:nvPr/>
        </p:nvSpPr>
        <p:spPr>
          <a:xfrm>
            <a:off x="3596097" y="3869885"/>
            <a:ext cx="5018508" cy="366978"/>
          </a:xfrm>
          <a:prstGeom prst="roundRect">
            <a:avLst/>
          </a:prstGeom>
          <a:solidFill>
            <a:srgbClr val="387D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r>
              <a:rPr lang="de-DE" sz="1200">
                <a:solidFill>
                  <a:srgbClr val="FFFFFF"/>
                </a:solidFill>
                <a:latin typeface="The Group TEXT"/>
              </a:rPr>
              <a:t>Database</a:t>
            </a:r>
          </a:p>
        </p:txBody>
      </p:sp>
      <p:sp>
        <p:nvSpPr>
          <p:cNvPr id="28" name="Oval 6">
            <a:extLst>
              <a:ext uri="{FF2B5EF4-FFF2-40B4-BE49-F238E27FC236}">
                <a16:creationId xmlns:a16="http://schemas.microsoft.com/office/drawing/2014/main" id="{7D71EAEA-88B7-765E-67BF-FA8AE3B78800}"/>
              </a:ext>
            </a:extLst>
          </p:cNvPr>
          <p:cNvSpPr/>
          <p:nvPr/>
        </p:nvSpPr>
        <p:spPr>
          <a:xfrm>
            <a:off x="6990299" y="2727068"/>
            <a:ext cx="794655" cy="508964"/>
          </a:xfrm>
          <a:prstGeom prst="ellipse">
            <a:avLst/>
          </a:prstGeom>
          <a:solidFill>
            <a:srgbClr val="8CBE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  <a:t>BCAL</a:t>
            </a:r>
          </a:p>
        </p:txBody>
      </p:sp>
      <p:sp>
        <p:nvSpPr>
          <p:cNvPr id="108" name="Chevron 76">
            <a:extLst>
              <a:ext uri="{FF2B5EF4-FFF2-40B4-BE49-F238E27FC236}">
                <a16:creationId xmlns:a16="http://schemas.microsoft.com/office/drawing/2014/main" id="{5DA6E085-A7ED-3F68-F789-2681C459888B}"/>
              </a:ext>
            </a:extLst>
          </p:cNvPr>
          <p:cNvSpPr/>
          <p:nvPr/>
        </p:nvSpPr>
        <p:spPr>
          <a:xfrm>
            <a:off x="6033818" y="3294518"/>
            <a:ext cx="1337688" cy="403826"/>
          </a:xfrm>
          <a:prstGeom prst="chevron">
            <a:avLst/>
          </a:prstGeom>
          <a:solidFill>
            <a:srgbClr val="C2E3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100" b="0" i="0" u="none" strike="noStrike" kern="1200" cap="none" spc="0" normalizeH="0" baseline="0" noProof="0">
                <a:ln>
                  <a:noFill/>
                </a:ln>
                <a:solidFill>
                  <a:srgbClr val="2D5159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  <a:t>PSC Decision</a:t>
            </a:r>
          </a:p>
        </p:txBody>
      </p:sp>
      <p:sp>
        <p:nvSpPr>
          <p:cNvPr id="30" name="Rechteck: abgerundete Ecken 29">
            <a:extLst>
              <a:ext uri="{FF2B5EF4-FFF2-40B4-BE49-F238E27FC236}">
                <a16:creationId xmlns:a16="http://schemas.microsoft.com/office/drawing/2014/main" id="{8CDD9076-7A2F-CD47-5223-213971EF2C97}"/>
              </a:ext>
            </a:extLst>
          </p:cNvPr>
          <p:cNvSpPr/>
          <p:nvPr/>
        </p:nvSpPr>
        <p:spPr>
          <a:xfrm>
            <a:off x="6139267" y="4425716"/>
            <a:ext cx="2592000" cy="2190421"/>
          </a:xfrm>
          <a:prstGeom prst="roundRect">
            <a:avLst>
              <a:gd name="adj" fmla="val 5001"/>
            </a:avLst>
          </a:prstGeom>
          <a:solidFill>
            <a:srgbClr val="99A9AD"/>
          </a:solidFill>
          <a:ln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180000" bIns="180000" rtlCol="0" anchor="t"/>
          <a:lstStyle/>
          <a:p>
            <a:pPr>
              <a:defRPr/>
            </a:pPr>
            <a:r>
              <a:rPr kumimoji="0" lang="e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  <a:t>Data-Analytics</a:t>
            </a:r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he Group TEXT"/>
              <a:ea typeface="+mn-ea"/>
              <a:cs typeface="+mn-cs"/>
            </a:endParaRPr>
          </a:p>
        </p:txBody>
      </p:sp>
      <p:sp>
        <p:nvSpPr>
          <p:cNvPr id="32" name="Rechteck: abgerundete Ecken 31">
            <a:extLst>
              <a:ext uri="{FF2B5EF4-FFF2-40B4-BE49-F238E27FC236}">
                <a16:creationId xmlns:a16="http://schemas.microsoft.com/office/drawing/2014/main" id="{9C781CD4-0701-BD78-2FB2-0EE74DE5C5B6}"/>
              </a:ext>
            </a:extLst>
          </p:cNvPr>
          <p:cNvSpPr/>
          <p:nvPr/>
        </p:nvSpPr>
        <p:spPr>
          <a:xfrm>
            <a:off x="6171376" y="5658608"/>
            <a:ext cx="2493794" cy="880040"/>
          </a:xfrm>
          <a:prstGeom prst="roundRect">
            <a:avLst>
              <a:gd name="adj" fmla="val 9648"/>
            </a:avLst>
          </a:prstGeom>
          <a:solidFill>
            <a:srgbClr val="667D85"/>
          </a:solidFill>
          <a:ln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180000" bIns="180000" rtlCol="0" anchor="t"/>
          <a:lstStyle/>
          <a:p>
            <a:pPr>
              <a:defRPr/>
            </a:pPr>
            <a:r>
              <a:rPr kumimoji="0" lang="en" sz="1400" b="1" i="0" u="none" strike="noStrike" kern="1200" cap="none" spc="0" normalizeH="0" baseline="0" noProof="0">
                <a:ln>
                  <a:noFill/>
                </a:ln>
                <a:solidFill>
                  <a:srgbClr val="C2FE06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  <a:t>  Cognos</a:t>
            </a:r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C2FE06"/>
              </a:solidFill>
              <a:effectLst/>
              <a:uLnTx/>
              <a:uFillTx/>
              <a:latin typeface="The Group TEXT"/>
              <a:ea typeface="+mn-ea"/>
              <a:cs typeface="+mn-cs"/>
            </a:endParaRPr>
          </a:p>
        </p:txBody>
      </p:sp>
      <p:sp>
        <p:nvSpPr>
          <p:cNvPr id="34" name="Rechteck: abgerundete Ecken 33">
            <a:extLst>
              <a:ext uri="{FF2B5EF4-FFF2-40B4-BE49-F238E27FC236}">
                <a16:creationId xmlns:a16="http://schemas.microsoft.com/office/drawing/2014/main" id="{6C13414C-C09F-9077-F6BF-6B009BBF39A3}"/>
              </a:ext>
            </a:extLst>
          </p:cNvPr>
          <p:cNvSpPr/>
          <p:nvPr/>
        </p:nvSpPr>
        <p:spPr>
          <a:xfrm>
            <a:off x="6180776" y="4780376"/>
            <a:ext cx="2484393" cy="513540"/>
          </a:xfrm>
          <a:prstGeom prst="roundRect">
            <a:avLst>
              <a:gd name="adj" fmla="val 9648"/>
            </a:avLst>
          </a:prstGeom>
          <a:solidFill>
            <a:srgbClr val="667D85"/>
          </a:solidFill>
          <a:ln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180000" bIns="180000" rtlCol="0" anchor="t"/>
          <a:lstStyle/>
          <a:p>
            <a:pPr>
              <a:defRPr/>
            </a:pPr>
            <a:r>
              <a:rPr kumimoji="0" lang="e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  <a:t>  </a:t>
            </a:r>
            <a:r>
              <a:rPr lang="en" sz="1400" b="1">
                <a:solidFill>
                  <a:srgbClr val="C2FE06"/>
                </a:solidFill>
                <a:latin typeface="VWAG TheSans"/>
              </a:rPr>
              <a:t>Web-Interfaces</a:t>
            </a:r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C2FE06"/>
              </a:solidFill>
              <a:effectLst/>
              <a:uLnTx/>
              <a:uFillTx/>
              <a:latin typeface="The Group TEXT"/>
              <a:ea typeface="+mn-ea"/>
              <a:cs typeface="+mn-cs"/>
            </a:endParaRPr>
          </a:p>
        </p:txBody>
      </p:sp>
      <p:sp>
        <p:nvSpPr>
          <p:cNvPr id="57" name="Rechteck: abgerundete Ecken 56">
            <a:extLst>
              <a:ext uri="{FF2B5EF4-FFF2-40B4-BE49-F238E27FC236}">
                <a16:creationId xmlns:a16="http://schemas.microsoft.com/office/drawing/2014/main" id="{FB6CE648-C3E6-9664-5302-B589120DB5C1}"/>
              </a:ext>
            </a:extLst>
          </p:cNvPr>
          <p:cNvSpPr/>
          <p:nvPr/>
        </p:nvSpPr>
        <p:spPr>
          <a:xfrm>
            <a:off x="3452830" y="4425716"/>
            <a:ext cx="2592000" cy="2190421"/>
          </a:xfrm>
          <a:prstGeom prst="roundRect">
            <a:avLst>
              <a:gd name="adj" fmla="val 5001"/>
            </a:avLst>
          </a:prstGeom>
          <a:solidFill>
            <a:srgbClr val="99A9AD"/>
          </a:solidFill>
          <a:ln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36000" rIns="180000" bIns="180000" rtlCol="0" anchor="t"/>
          <a:lstStyle/>
          <a:p>
            <a:pPr>
              <a:defRPr/>
            </a:pPr>
            <a:r>
              <a:rPr kumimoji="0" lang="e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  <a:t>Vehicle-Data</a:t>
            </a:r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he Group TEXT"/>
              <a:ea typeface="+mn-ea"/>
              <a:cs typeface="+mn-cs"/>
            </a:endParaRPr>
          </a:p>
        </p:txBody>
      </p:sp>
      <p:sp>
        <p:nvSpPr>
          <p:cNvPr id="62" name="Rechteck 61">
            <a:extLst>
              <a:ext uri="{FF2B5EF4-FFF2-40B4-BE49-F238E27FC236}">
                <a16:creationId xmlns:a16="http://schemas.microsoft.com/office/drawing/2014/main" id="{D7683D60-8680-FC86-AF2C-C4F6C9E74DC4}"/>
              </a:ext>
            </a:extLst>
          </p:cNvPr>
          <p:cNvSpPr/>
          <p:nvPr/>
        </p:nvSpPr>
        <p:spPr>
          <a:xfrm>
            <a:off x="3517030" y="5658608"/>
            <a:ext cx="2463601" cy="900000"/>
          </a:xfrm>
          <a:prstGeom prst="rect">
            <a:avLst/>
          </a:prstGeom>
          <a:solidFill>
            <a:srgbClr val="667D85"/>
          </a:solidFill>
          <a:ln w="9525">
            <a:solidFill>
              <a:srgbClr val="C2FE06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algn="ctr"/>
            <a:r>
              <a:rPr lang="de-DE" sz="2000" b="1">
                <a:solidFill>
                  <a:schemeClr val="tx1"/>
                </a:solidFill>
              </a:rPr>
              <a:t>IDAA</a:t>
            </a:r>
            <a:br>
              <a:rPr lang="de-DE" sz="1200"/>
            </a:br>
            <a:r>
              <a:rPr lang="de-DE" sz="1200" err="1">
                <a:solidFill>
                  <a:srgbClr val="C2FE06"/>
                </a:solidFill>
              </a:rPr>
              <a:t>Based</a:t>
            </a:r>
            <a:r>
              <a:rPr lang="de-DE" sz="1200">
                <a:solidFill>
                  <a:srgbClr val="C2FE06"/>
                </a:solidFill>
              </a:rPr>
              <a:t> on </a:t>
            </a:r>
            <a:r>
              <a:rPr lang="de-DE" sz="1200" err="1">
                <a:solidFill>
                  <a:srgbClr val="C2FE06"/>
                </a:solidFill>
              </a:rPr>
              <a:t>the</a:t>
            </a:r>
            <a:r>
              <a:rPr lang="de-DE" sz="1200">
                <a:solidFill>
                  <a:srgbClr val="C2FE06"/>
                </a:solidFill>
              </a:rPr>
              <a:t> Mainframe</a:t>
            </a:r>
          </a:p>
        </p:txBody>
      </p:sp>
      <p:sp>
        <p:nvSpPr>
          <p:cNvPr id="63" name="Chevron 76">
            <a:extLst>
              <a:ext uri="{FF2B5EF4-FFF2-40B4-BE49-F238E27FC236}">
                <a16:creationId xmlns:a16="http://schemas.microsoft.com/office/drawing/2014/main" id="{56A0F1E6-ADE6-EA5C-5377-22DDD86CE599}"/>
              </a:ext>
            </a:extLst>
          </p:cNvPr>
          <p:cNvSpPr/>
          <p:nvPr/>
        </p:nvSpPr>
        <p:spPr>
          <a:xfrm rot="5400000">
            <a:off x="3401764" y="5302498"/>
            <a:ext cx="1080516" cy="421862"/>
          </a:xfrm>
          <a:prstGeom prst="chevron">
            <a:avLst/>
          </a:prstGeom>
          <a:solidFill>
            <a:srgbClr val="C2E3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1200" cap="none" spc="0" normalizeH="0" baseline="0" noProof="0">
                <a:ln>
                  <a:noFill/>
                </a:ln>
                <a:solidFill>
                  <a:srgbClr val="2D5159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  <a:t>C</a:t>
            </a:r>
            <a:r>
              <a:rPr kumimoji="0" lang="en" sz="1100" b="0" i="0" u="none" strike="noStrike" kern="1200" cap="none" spc="0" normalizeH="0" baseline="0" noProof="0">
                <a:ln>
                  <a:noFill/>
                </a:ln>
                <a:solidFill>
                  <a:srgbClr val="2D5159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  <a:t>opy </a:t>
            </a:r>
            <a:br>
              <a:rPr kumimoji="0" lang="en" sz="1100" b="0" i="0" u="none" strike="noStrike" kern="1200" cap="none" spc="0" normalizeH="0" baseline="0" noProof="0">
                <a:ln>
                  <a:noFill/>
                </a:ln>
                <a:solidFill>
                  <a:srgbClr val="2D5159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</a:br>
            <a:r>
              <a:rPr kumimoji="0" lang="en" sz="1100" b="0" i="0" u="none" strike="noStrike" kern="1200" cap="none" spc="0" normalizeH="0" baseline="0" noProof="0">
                <a:ln>
                  <a:noFill/>
                </a:ln>
                <a:solidFill>
                  <a:srgbClr val="2D5159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  <a:t>data</a:t>
            </a:r>
          </a:p>
        </p:txBody>
      </p:sp>
      <p:sp>
        <p:nvSpPr>
          <p:cNvPr id="64" name="Oval 6">
            <a:extLst>
              <a:ext uri="{FF2B5EF4-FFF2-40B4-BE49-F238E27FC236}">
                <a16:creationId xmlns:a16="http://schemas.microsoft.com/office/drawing/2014/main" id="{DCC6BC36-B354-14EE-58D0-6EB39468551B}"/>
              </a:ext>
            </a:extLst>
          </p:cNvPr>
          <p:cNvSpPr/>
          <p:nvPr/>
        </p:nvSpPr>
        <p:spPr>
          <a:xfrm>
            <a:off x="5094951" y="5685860"/>
            <a:ext cx="771933" cy="460331"/>
          </a:xfrm>
          <a:prstGeom prst="ellipse">
            <a:avLst/>
          </a:prstGeom>
          <a:solidFill>
            <a:srgbClr val="DA0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  <a:t>EOB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  <a:t>2025</a:t>
            </a:r>
          </a:p>
        </p:txBody>
      </p:sp>
      <p:sp>
        <p:nvSpPr>
          <p:cNvPr id="60" name="Rechteck: abgerundete Ecken 59">
            <a:extLst>
              <a:ext uri="{FF2B5EF4-FFF2-40B4-BE49-F238E27FC236}">
                <a16:creationId xmlns:a16="http://schemas.microsoft.com/office/drawing/2014/main" id="{6EDA5C7E-4F5D-0C56-E298-9E29B666093B}"/>
              </a:ext>
            </a:extLst>
          </p:cNvPr>
          <p:cNvSpPr/>
          <p:nvPr/>
        </p:nvSpPr>
        <p:spPr>
          <a:xfrm>
            <a:off x="3510755" y="4760133"/>
            <a:ext cx="2476151" cy="564058"/>
          </a:xfrm>
          <a:prstGeom prst="roundRect">
            <a:avLst>
              <a:gd name="adj" fmla="val 9648"/>
            </a:avLst>
          </a:prstGeom>
          <a:solidFill>
            <a:srgbClr val="667D85"/>
          </a:solidFill>
          <a:ln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80000" bIns="180000" rtlCol="0" anchor="t"/>
          <a:lstStyle/>
          <a:p>
            <a:pPr>
              <a:defRPr/>
            </a:pPr>
            <a:r>
              <a:rPr kumimoji="0" lang="e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  <a:t>CARPORT</a:t>
            </a:r>
            <a:br>
              <a:rPr kumimoji="0" lang="e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</a:br>
            <a:r>
              <a:rPr kumimoji="0" lang="en" sz="1400" i="1" u="none" strike="noStrike" kern="1200" cap="none" spc="0" normalizeH="0" baseline="0" noProof="0">
                <a:ln>
                  <a:noFill/>
                </a:ln>
                <a:solidFill>
                  <a:srgbClr val="C2FE06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  <a:t>Mainframe</a:t>
            </a:r>
            <a:r>
              <a:rPr kumimoji="0" lang="e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  <a:t> </a:t>
            </a:r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he Group TEXT"/>
              <a:ea typeface="+mn-ea"/>
              <a:cs typeface="+mn-cs"/>
            </a:endParaRPr>
          </a:p>
        </p:txBody>
      </p:sp>
      <p:sp>
        <p:nvSpPr>
          <p:cNvPr id="61" name="Textfeld 60">
            <a:extLst>
              <a:ext uri="{FF2B5EF4-FFF2-40B4-BE49-F238E27FC236}">
                <a16:creationId xmlns:a16="http://schemas.microsoft.com/office/drawing/2014/main" id="{0C6754F1-4378-8EAC-A986-43B5EE9F92E1}"/>
              </a:ext>
            </a:extLst>
          </p:cNvPr>
          <p:cNvSpPr txBox="1"/>
          <p:nvPr/>
        </p:nvSpPr>
        <p:spPr>
          <a:xfrm>
            <a:off x="4605154" y="4859840"/>
            <a:ext cx="1256449" cy="3693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1200">
                <a:solidFill>
                  <a:schemeClr val="tx2"/>
                </a:solidFill>
              </a:rPr>
              <a:t>(Currently ca. 236 million vehicles)</a:t>
            </a:r>
            <a:endParaRPr lang="de-DE" sz="1200" err="1">
              <a:solidFill>
                <a:schemeClr val="tx2"/>
              </a:solidFill>
            </a:endParaRPr>
          </a:p>
        </p:txBody>
      </p:sp>
      <p:sp>
        <p:nvSpPr>
          <p:cNvPr id="69" name="Pfeil: nach rechts 68">
            <a:extLst>
              <a:ext uri="{FF2B5EF4-FFF2-40B4-BE49-F238E27FC236}">
                <a16:creationId xmlns:a16="http://schemas.microsoft.com/office/drawing/2014/main" id="{DD6406CC-4316-A01F-B462-72B2C4EB1194}"/>
              </a:ext>
            </a:extLst>
          </p:cNvPr>
          <p:cNvSpPr/>
          <p:nvPr/>
        </p:nvSpPr>
        <p:spPr>
          <a:xfrm rot="5400000">
            <a:off x="7617249" y="4035010"/>
            <a:ext cx="1543861" cy="197339"/>
          </a:xfrm>
          <a:prstGeom prst="rightArrow">
            <a:avLst>
              <a:gd name="adj1" fmla="val 100000"/>
              <a:gd name="adj2" fmla="val 50000"/>
            </a:avLst>
          </a:prstGeom>
          <a:solidFill>
            <a:srgbClr val="FAD2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algn="ctr"/>
            <a:endParaRPr lang="de-DE" sz="1400">
              <a:solidFill>
                <a:srgbClr val="002733"/>
              </a:solidFill>
            </a:endParaRPr>
          </a:p>
        </p:txBody>
      </p:sp>
      <p:sp>
        <p:nvSpPr>
          <p:cNvPr id="74" name="Chevron 76">
            <a:extLst>
              <a:ext uri="{FF2B5EF4-FFF2-40B4-BE49-F238E27FC236}">
                <a16:creationId xmlns:a16="http://schemas.microsoft.com/office/drawing/2014/main" id="{D20127DA-4710-17F4-E7E0-D71DDDF1C8F3}"/>
              </a:ext>
            </a:extLst>
          </p:cNvPr>
          <p:cNvSpPr/>
          <p:nvPr/>
        </p:nvSpPr>
        <p:spPr>
          <a:xfrm rot="10800000">
            <a:off x="5750661" y="6048584"/>
            <a:ext cx="771932" cy="231593"/>
          </a:xfrm>
          <a:prstGeom prst="chevron">
            <a:avLst/>
          </a:prstGeom>
          <a:solidFill>
            <a:srgbClr val="C2E3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" sz="1100" b="0" i="0" u="none" strike="noStrike" kern="1200" cap="none" spc="0" normalizeH="0" baseline="0" noProof="0">
              <a:ln>
                <a:noFill/>
              </a:ln>
              <a:solidFill>
                <a:srgbClr val="2D5159"/>
              </a:solidFill>
              <a:effectLst/>
              <a:uLnTx/>
              <a:uFillTx/>
              <a:latin typeface="VWAG TheSans"/>
              <a:ea typeface="+mn-ea"/>
              <a:cs typeface="+mn-cs"/>
            </a:endParaRPr>
          </a:p>
        </p:txBody>
      </p:sp>
      <p:sp>
        <p:nvSpPr>
          <p:cNvPr id="71" name="Textfeld 70">
            <a:extLst>
              <a:ext uri="{FF2B5EF4-FFF2-40B4-BE49-F238E27FC236}">
                <a16:creationId xmlns:a16="http://schemas.microsoft.com/office/drawing/2014/main" id="{8B1ADF89-D927-3751-63FD-B1D9C842E030}"/>
              </a:ext>
            </a:extLst>
          </p:cNvPr>
          <p:cNvSpPr txBox="1"/>
          <p:nvPr/>
        </p:nvSpPr>
        <p:spPr>
          <a:xfrm>
            <a:off x="5760117" y="6071235"/>
            <a:ext cx="757131" cy="1692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de-DE" sz="1100">
                <a:solidFill>
                  <a:srgbClr val="2D5159"/>
                </a:solidFill>
                <a:latin typeface="VWAG TheSans"/>
              </a:rPr>
              <a:t>Query</a:t>
            </a:r>
          </a:p>
        </p:txBody>
      </p:sp>
      <p:sp>
        <p:nvSpPr>
          <p:cNvPr id="76" name="Chevron 76">
            <a:extLst>
              <a:ext uri="{FF2B5EF4-FFF2-40B4-BE49-F238E27FC236}">
                <a16:creationId xmlns:a16="http://schemas.microsoft.com/office/drawing/2014/main" id="{28C5F688-AE37-AA7F-55C5-98DC26387C60}"/>
              </a:ext>
            </a:extLst>
          </p:cNvPr>
          <p:cNvSpPr/>
          <p:nvPr/>
        </p:nvSpPr>
        <p:spPr>
          <a:xfrm>
            <a:off x="5764609" y="6295200"/>
            <a:ext cx="771932" cy="231593"/>
          </a:xfrm>
          <a:prstGeom prst="chevron">
            <a:avLst/>
          </a:prstGeom>
          <a:solidFill>
            <a:srgbClr val="C2E3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" sz="1100" b="0" i="0" u="none" strike="noStrike" kern="1200" cap="none" spc="0" normalizeH="0" baseline="0" noProof="0">
              <a:ln>
                <a:noFill/>
              </a:ln>
              <a:solidFill>
                <a:srgbClr val="2D5159"/>
              </a:solidFill>
              <a:effectLst/>
              <a:uLnTx/>
              <a:uFillTx/>
              <a:latin typeface="VWAG TheSans"/>
              <a:ea typeface="+mn-ea"/>
              <a:cs typeface="+mn-cs"/>
            </a:endParaRPr>
          </a:p>
        </p:txBody>
      </p:sp>
      <p:sp>
        <p:nvSpPr>
          <p:cNvPr id="77" name="Textfeld 76">
            <a:extLst>
              <a:ext uri="{FF2B5EF4-FFF2-40B4-BE49-F238E27FC236}">
                <a16:creationId xmlns:a16="http://schemas.microsoft.com/office/drawing/2014/main" id="{0CA90456-310F-DA6D-68F7-7281061827FD}"/>
              </a:ext>
            </a:extLst>
          </p:cNvPr>
          <p:cNvSpPr txBox="1"/>
          <p:nvPr/>
        </p:nvSpPr>
        <p:spPr>
          <a:xfrm>
            <a:off x="5780375" y="6327233"/>
            <a:ext cx="757131" cy="1692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de-DE" sz="1100" err="1">
                <a:solidFill>
                  <a:srgbClr val="2D5159"/>
                </a:solidFill>
                <a:latin typeface="VWAG TheSans"/>
              </a:rPr>
              <a:t>Results</a:t>
            </a:r>
          </a:p>
        </p:txBody>
      </p:sp>
      <p:sp>
        <p:nvSpPr>
          <p:cNvPr id="88" name="Textfeld 87">
            <a:extLst>
              <a:ext uri="{FF2B5EF4-FFF2-40B4-BE49-F238E27FC236}">
                <a16:creationId xmlns:a16="http://schemas.microsoft.com/office/drawing/2014/main" id="{E1A11A55-7747-25C1-82C3-C585324261B8}"/>
              </a:ext>
            </a:extLst>
          </p:cNvPr>
          <p:cNvSpPr txBox="1"/>
          <p:nvPr/>
        </p:nvSpPr>
        <p:spPr>
          <a:xfrm rot="5400000">
            <a:off x="7997915" y="4051935"/>
            <a:ext cx="757131" cy="1692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de-DE" sz="1100">
                <a:solidFill>
                  <a:srgbClr val="2D5159"/>
                </a:solidFill>
                <a:latin typeface="VWAG TheSans"/>
              </a:rPr>
              <a:t>Call</a:t>
            </a:r>
          </a:p>
        </p:txBody>
      </p:sp>
      <p:sp>
        <p:nvSpPr>
          <p:cNvPr id="33" name="Chevron 76">
            <a:extLst>
              <a:ext uri="{FF2B5EF4-FFF2-40B4-BE49-F238E27FC236}">
                <a16:creationId xmlns:a16="http://schemas.microsoft.com/office/drawing/2014/main" id="{1F8EAA39-A66B-54CC-CA25-6C1387FDF382}"/>
              </a:ext>
            </a:extLst>
          </p:cNvPr>
          <p:cNvSpPr/>
          <p:nvPr/>
        </p:nvSpPr>
        <p:spPr>
          <a:xfrm rot="5400000">
            <a:off x="7945901" y="5325402"/>
            <a:ext cx="914747" cy="324530"/>
          </a:xfrm>
          <a:prstGeom prst="chevron">
            <a:avLst/>
          </a:prstGeom>
          <a:solidFill>
            <a:srgbClr val="C2E3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" sz="1100" b="0" i="0" u="none" strike="noStrike" kern="1200" cap="none" spc="0" normalizeH="0" baseline="0" noProof="0">
              <a:ln>
                <a:noFill/>
              </a:ln>
              <a:solidFill>
                <a:srgbClr val="2D5159"/>
              </a:solidFill>
              <a:effectLst/>
              <a:uLnTx/>
              <a:uFillTx/>
              <a:latin typeface="VWAG TheSans"/>
              <a:ea typeface="+mn-ea"/>
              <a:cs typeface="+mn-cs"/>
            </a:endParaRPr>
          </a:p>
        </p:txBody>
      </p:sp>
      <p:sp>
        <p:nvSpPr>
          <p:cNvPr id="90" name="Textfeld 89">
            <a:extLst>
              <a:ext uri="{FF2B5EF4-FFF2-40B4-BE49-F238E27FC236}">
                <a16:creationId xmlns:a16="http://schemas.microsoft.com/office/drawing/2014/main" id="{75957AAD-AF5B-DF20-335A-7C87221FAE02}"/>
              </a:ext>
            </a:extLst>
          </p:cNvPr>
          <p:cNvSpPr txBox="1"/>
          <p:nvPr/>
        </p:nvSpPr>
        <p:spPr>
          <a:xfrm rot="5400000">
            <a:off x="8029947" y="5318390"/>
            <a:ext cx="757131" cy="33855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de-DE" sz="1100">
                <a:solidFill>
                  <a:srgbClr val="2D5159"/>
                </a:solidFill>
                <a:latin typeface="VWAG TheSans"/>
              </a:rPr>
              <a:t>Filter-</a:t>
            </a:r>
            <a:r>
              <a:rPr lang="de-DE" sz="1100" err="1">
                <a:solidFill>
                  <a:srgbClr val="2D5159"/>
                </a:solidFill>
                <a:latin typeface="VWAG TheSans"/>
              </a:rPr>
              <a:t>criteria</a:t>
            </a:r>
          </a:p>
        </p:txBody>
      </p:sp>
      <p:sp>
        <p:nvSpPr>
          <p:cNvPr id="92" name="Chevron 76">
            <a:extLst>
              <a:ext uri="{FF2B5EF4-FFF2-40B4-BE49-F238E27FC236}">
                <a16:creationId xmlns:a16="http://schemas.microsoft.com/office/drawing/2014/main" id="{089F0084-5631-BB50-4615-B347F0AC8C0B}"/>
              </a:ext>
            </a:extLst>
          </p:cNvPr>
          <p:cNvSpPr/>
          <p:nvPr/>
        </p:nvSpPr>
        <p:spPr>
          <a:xfrm rot="16200000">
            <a:off x="7036084" y="4766337"/>
            <a:ext cx="1959141" cy="324529"/>
          </a:xfrm>
          <a:prstGeom prst="chevron">
            <a:avLst/>
          </a:prstGeom>
          <a:solidFill>
            <a:srgbClr val="C2E3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" sz="1100" b="0" i="0" u="none" strike="noStrike" kern="1200" cap="none" spc="0" normalizeH="0" baseline="0" noProof="0">
              <a:ln>
                <a:noFill/>
              </a:ln>
              <a:solidFill>
                <a:srgbClr val="2D5159"/>
              </a:solidFill>
              <a:effectLst/>
              <a:uLnTx/>
              <a:uFillTx/>
              <a:latin typeface="VWAG TheSans"/>
              <a:ea typeface="+mn-ea"/>
              <a:cs typeface="+mn-cs"/>
            </a:endParaRPr>
          </a:p>
        </p:txBody>
      </p:sp>
      <p:sp>
        <p:nvSpPr>
          <p:cNvPr id="93" name="Textfeld 92">
            <a:extLst>
              <a:ext uri="{FF2B5EF4-FFF2-40B4-BE49-F238E27FC236}">
                <a16:creationId xmlns:a16="http://schemas.microsoft.com/office/drawing/2014/main" id="{CD06799B-0522-1301-B402-E31FB73D0B31}"/>
              </a:ext>
            </a:extLst>
          </p:cNvPr>
          <p:cNvSpPr txBox="1"/>
          <p:nvPr/>
        </p:nvSpPr>
        <p:spPr>
          <a:xfrm rot="5400000">
            <a:off x="7191037" y="4820972"/>
            <a:ext cx="1642852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0" lang="en" sz="1100" b="0" i="0" u="none" strike="noStrike" kern="1200" cap="none" spc="0" normalizeH="0" baseline="0" noProof="0">
                <a:ln>
                  <a:noFill/>
                </a:ln>
                <a:solidFill>
                  <a:srgbClr val="2D5159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  <a:t>Vehicle lists (XML, CSV,..., ) </a:t>
            </a:r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985FA7C9-B746-052E-1AC4-203F7CBDBAE6}"/>
              </a:ext>
            </a:extLst>
          </p:cNvPr>
          <p:cNvSpPr/>
          <p:nvPr/>
        </p:nvSpPr>
        <p:spPr>
          <a:xfrm>
            <a:off x="419199" y="1512216"/>
            <a:ext cx="2244161" cy="5103920"/>
          </a:xfrm>
          <a:prstGeom prst="roundRect">
            <a:avLst>
              <a:gd name="adj" fmla="val 5494"/>
            </a:avLst>
          </a:prstGeom>
          <a:solidFill>
            <a:srgbClr val="22454E"/>
          </a:solidFill>
          <a:ln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>
              <a:defRPr/>
            </a:pPr>
            <a:r>
              <a:rPr lang="en" sz="1400" b="1">
                <a:solidFill>
                  <a:schemeClr val="tx1"/>
                </a:solidFill>
                <a:latin typeface="VWAG TheSans"/>
              </a:rPr>
              <a:t>Sources</a:t>
            </a:r>
            <a:r>
              <a:rPr kumimoji="0" lang="e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  <a:t> </a:t>
            </a:r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he Group TEXT"/>
              <a:ea typeface="+mn-ea"/>
              <a:cs typeface="+mn-cs"/>
            </a:endParaRPr>
          </a:p>
        </p:txBody>
      </p:sp>
      <p:cxnSp>
        <p:nvCxnSpPr>
          <p:cNvPr id="45" name="Verbinder: gewinkelt 44">
            <a:extLst>
              <a:ext uri="{FF2B5EF4-FFF2-40B4-BE49-F238E27FC236}">
                <a16:creationId xmlns:a16="http://schemas.microsoft.com/office/drawing/2014/main" id="{F9C94D32-777C-CF4E-F403-57C5A9AF540E}"/>
              </a:ext>
            </a:extLst>
          </p:cNvPr>
          <p:cNvCxnSpPr>
            <a:cxnSpLocks/>
            <a:stCxn id="58" idx="3"/>
            <a:endCxn id="104" idx="1"/>
          </p:cNvCxnSpPr>
          <p:nvPr/>
        </p:nvCxnSpPr>
        <p:spPr>
          <a:xfrm flipV="1">
            <a:off x="2546079" y="2938089"/>
            <a:ext cx="905136" cy="132577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accent5"/>
            </a:solidFill>
            <a:headEnd type="none" w="med" len="sm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6" name="Verbinder: gewinkelt 45">
            <a:extLst>
              <a:ext uri="{FF2B5EF4-FFF2-40B4-BE49-F238E27FC236}">
                <a16:creationId xmlns:a16="http://schemas.microsoft.com/office/drawing/2014/main" id="{DFC8A18D-548F-A0D3-74B0-6D374D3D3883}"/>
              </a:ext>
            </a:extLst>
          </p:cNvPr>
          <p:cNvCxnSpPr>
            <a:cxnSpLocks/>
            <a:stCxn id="144" idx="3"/>
            <a:endCxn id="104" idx="1"/>
          </p:cNvCxnSpPr>
          <p:nvPr/>
        </p:nvCxnSpPr>
        <p:spPr>
          <a:xfrm>
            <a:off x="2537739" y="2508361"/>
            <a:ext cx="913476" cy="429728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accent5"/>
            </a:solidFill>
            <a:headEnd type="none" w="med" len="sm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7" name="Verbinder: gewinkelt 46">
            <a:extLst>
              <a:ext uri="{FF2B5EF4-FFF2-40B4-BE49-F238E27FC236}">
                <a16:creationId xmlns:a16="http://schemas.microsoft.com/office/drawing/2014/main" id="{DA9855AE-0972-1A30-B690-629FB6204C97}"/>
              </a:ext>
            </a:extLst>
          </p:cNvPr>
          <p:cNvCxnSpPr>
            <a:cxnSpLocks/>
            <a:stCxn id="51" idx="3"/>
          </p:cNvCxnSpPr>
          <p:nvPr/>
        </p:nvCxnSpPr>
        <p:spPr>
          <a:xfrm flipV="1">
            <a:off x="2555597" y="2957339"/>
            <a:ext cx="1202092" cy="3158416"/>
          </a:xfrm>
          <a:prstGeom prst="bentConnector2">
            <a:avLst/>
          </a:prstGeom>
          <a:noFill/>
          <a:ln w="9525">
            <a:solidFill>
              <a:schemeClr val="accent5"/>
            </a:solidFill>
            <a:headEnd type="none" w="med" len="sm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1" name="Rechteck: abgerundete Ecken 50">
            <a:extLst>
              <a:ext uri="{FF2B5EF4-FFF2-40B4-BE49-F238E27FC236}">
                <a16:creationId xmlns:a16="http://schemas.microsoft.com/office/drawing/2014/main" id="{62CAE878-B9F3-38A2-B51D-DE65F739A46F}"/>
              </a:ext>
            </a:extLst>
          </p:cNvPr>
          <p:cNvSpPr/>
          <p:nvPr/>
        </p:nvSpPr>
        <p:spPr>
          <a:xfrm>
            <a:off x="2008008" y="5866233"/>
            <a:ext cx="547589" cy="499044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rgbClr val="C2FE06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80000" rIns="0" bIns="180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1" u="none" strike="noStrike" kern="1200" cap="none" spc="0" normalizeH="0" baseline="0" noProof="0">
                <a:ln>
                  <a:noFill/>
                </a:ln>
                <a:solidFill>
                  <a:srgbClr val="C2FE06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REST</a:t>
            </a:r>
          </a:p>
        </p:txBody>
      </p:sp>
      <p:sp>
        <p:nvSpPr>
          <p:cNvPr id="112" name="Rechteck: abgerundete Ecken 111">
            <a:extLst>
              <a:ext uri="{FF2B5EF4-FFF2-40B4-BE49-F238E27FC236}">
                <a16:creationId xmlns:a16="http://schemas.microsoft.com/office/drawing/2014/main" id="{FA10C335-9625-D680-6A67-62CEABFD2E04}"/>
              </a:ext>
            </a:extLst>
          </p:cNvPr>
          <p:cNvSpPr/>
          <p:nvPr/>
        </p:nvSpPr>
        <p:spPr>
          <a:xfrm>
            <a:off x="9738843" y="1512215"/>
            <a:ext cx="2074856" cy="5103921"/>
          </a:xfrm>
          <a:prstGeom prst="roundRect">
            <a:avLst>
              <a:gd name="adj" fmla="val 5494"/>
            </a:avLst>
          </a:prstGeom>
          <a:solidFill>
            <a:srgbClr val="22454E"/>
          </a:solidFill>
          <a:ln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>
              <a:defRPr/>
            </a:pPr>
            <a:r>
              <a:rPr lang="en" sz="1400" b="1">
                <a:solidFill>
                  <a:schemeClr val="tx1"/>
                </a:solidFill>
                <a:latin typeface="VWAG TheSans"/>
              </a:rPr>
              <a:t>R</a:t>
            </a:r>
            <a:r>
              <a:rPr kumimoji="0" lang="e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  <a:t>ecipients</a:t>
            </a:r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he Group TEXT"/>
              <a:ea typeface="+mn-ea"/>
              <a:cs typeface="+mn-cs"/>
            </a:endParaRPr>
          </a:p>
        </p:txBody>
      </p:sp>
      <p:sp>
        <p:nvSpPr>
          <p:cNvPr id="116" name="Rechteck: abgerundete Ecken 115">
            <a:extLst>
              <a:ext uri="{FF2B5EF4-FFF2-40B4-BE49-F238E27FC236}">
                <a16:creationId xmlns:a16="http://schemas.microsoft.com/office/drawing/2014/main" id="{1599FFB1-613A-3712-093E-67DA9917B301}"/>
              </a:ext>
            </a:extLst>
          </p:cNvPr>
          <p:cNvSpPr/>
          <p:nvPr/>
        </p:nvSpPr>
        <p:spPr>
          <a:xfrm>
            <a:off x="10444122" y="3307838"/>
            <a:ext cx="1289948" cy="816195"/>
          </a:xfrm>
          <a:prstGeom prst="roundRect">
            <a:avLst>
              <a:gd name="adj" fmla="val 9648"/>
            </a:avLst>
          </a:prstGeom>
          <a:solidFill>
            <a:srgbClr val="667D85"/>
          </a:solidFill>
          <a:ln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>
              <a:defRPr/>
            </a:pPr>
            <a:r>
              <a:rPr kumimoji="0" lang="e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  <a:t>ORU</a:t>
            </a:r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he Group TEXT"/>
              <a:ea typeface="+mn-ea"/>
              <a:cs typeface="+mn-cs"/>
            </a:endParaRPr>
          </a:p>
        </p:txBody>
      </p:sp>
      <p:sp>
        <p:nvSpPr>
          <p:cNvPr id="118" name="Rechteck: abgerundete Ecken 117">
            <a:extLst>
              <a:ext uri="{FF2B5EF4-FFF2-40B4-BE49-F238E27FC236}">
                <a16:creationId xmlns:a16="http://schemas.microsoft.com/office/drawing/2014/main" id="{AB8498E5-E1EC-07D1-9106-6C78AC0DCB01}"/>
              </a:ext>
            </a:extLst>
          </p:cNvPr>
          <p:cNvSpPr/>
          <p:nvPr/>
        </p:nvSpPr>
        <p:spPr>
          <a:xfrm>
            <a:off x="10736133" y="3579134"/>
            <a:ext cx="895077" cy="507747"/>
          </a:xfrm>
          <a:prstGeom prst="roundRect">
            <a:avLst/>
          </a:prstGeom>
          <a:solidFill>
            <a:srgbClr val="99A9AD"/>
          </a:solidFill>
          <a:ln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>
              <a:defRPr/>
            </a:pPr>
            <a:r>
              <a:rPr lang="de-DE" sz="1400">
                <a:solidFill>
                  <a:schemeClr val="tx1"/>
                </a:solidFill>
                <a:latin typeface="VWAG TheSans"/>
              </a:rPr>
              <a:t>MBB </a:t>
            </a:r>
          </a:p>
          <a:p>
            <a:pPr>
              <a:defRPr/>
            </a:pPr>
            <a:r>
              <a:rPr lang="de-DE" sz="1400">
                <a:solidFill>
                  <a:schemeClr val="tx1"/>
                </a:solidFill>
                <a:latin typeface="VWAG TheSans"/>
              </a:rPr>
              <a:t>OEMIL</a:t>
            </a:r>
          </a:p>
        </p:txBody>
      </p:sp>
      <p:sp>
        <p:nvSpPr>
          <p:cNvPr id="121" name="Rechteck: abgerundete Ecken 120">
            <a:extLst>
              <a:ext uri="{FF2B5EF4-FFF2-40B4-BE49-F238E27FC236}">
                <a16:creationId xmlns:a16="http://schemas.microsoft.com/office/drawing/2014/main" id="{B30AF67E-DCED-17C8-F1EA-7F6AEAB7F122}"/>
              </a:ext>
            </a:extLst>
          </p:cNvPr>
          <p:cNvSpPr/>
          <p:nvPr/>
        </p:nvSpPr>
        <p:spPr>
          <a:xfrm>
            <a:off x="10444122" y="2437653"/>
            <a:ext cx="1289948" cy="826369"/>
          </a:xfrm>
          <a:prstGeom prst="roundRect">
            <a:avLst>
              <a:gd name="adj" fmla="val 9648"/>
            </a:avLst>
          </a:prstGeom>
          <a:solidFill>
            <a:srgbClr val="667D85"/>
          </a:solidFill>
          <a:ln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>
              <a:defRPr/>
            </a:pPr>
            <a:r>
              <a:rPr kumimoji="0" lang="e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  <a:t>Market  Data’s</a:t>
            </a:r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he Group TEXT"/>
              <a:ea typeface="+mn-ea"/>
              <a:cs typeface="+mn-cs"/>
            </a:endParaRPr>
          </a:p>
        </p:txBody>
      </p:sp>
      <p:sp>
        <p:nvSpPr>
          <p:cNvPr id="122" name="Rechteck: abgerundete Ecken 121">
            <a:extLst>
              <a:ext uri="{FF2B5EF4-FFF2-40B4-BE49-F238E27FC236}">
                <a16:creationId xmlns:a16="http://schemas.microsoft.com/office/drawing/2014/main" id="{0DFC95CB-976A-8B2E-7032-7F547977BD14}"/>
              </a:ext>
            </a:extLst>
          </p:cNvPr>
          <p:cNvSpPr/>
          <p:nvPr/>
        </p:nvSpPr>
        <p:spPr>
          <a:xfrm>
            <a:off x="10707334" y="2707298"/>
            <a:ext cx="895077" cy="507747"/>
          </a:xfrm>
          <a:prstGeom prst="roundRect">
            <a:avLst/>
          </a:prstGeom>
          <a:solidFill>
            <a:srgbClr val="99A9AD"/>
          </a:solidFill>
          <a:ln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>
              <a:defRPr/>
            </a:pPr>
            <a:r>
              <a:rPr lang="de-DE" sz="1400" err="1">
                <a:solidFill>
                  <a:schemeClr val="tx1"/>
                </a:solidFill>
                <a:latin typeface="VWAG TheSans"/>
              </a:rPr>
              <a:t>Importers</a:t>
            </a:r>
            <a:r>
              <a:rPr lang="de-DE" sz="1400">
                <a:solidFill>
                  <a:schemeClr val="tx1"/>
                </a:solidFill>
                <a:latin typeface="VWAG TheSans"/>
              </a:rPr>
              <a:t> </a:t>
            </a:r>
            <a:r>
              <a:rPr lang="de-DE" sz="1400" err="1">
                <a:solidFill>
                  <a:schemeClr val="tx1"/>
                </a:solidFill>
                <a:latin typeface="VWAG TheSans"/>
              </a:rPr>
              <a:t>APP‘s</a:t>
            </a:r>
            <a:endParaRPr lang="de-DE" sz="1400">
              <a:solidFill>
                <a:schemeClr val="tx1"/>
              </a:solidFill>
              <a:latin typeface="VWAG TheSans"/>
            </a:endParaRPr>
          </a:p>
        </p:txBody>
      </p:sp>
      <p:sp>
        <p:nvSpPr>
          <p:cNvPr id="123" name="Rechteck: abgerundete Ecken 122">
            <a:extLst>
              <a:ext uri="{FF2B5EF4-FFF2-40B4-BE49-F238E27FC236}">
                <a16:creationId xmlns:a16="http://schemas.microsoft.com/office/drawing/2014/main" id="{9636515C-0E79-12E5-C731-B4CFFC8B150E}"/>
              </a:ext>
            </a:extLst>
          </p:cNvPr>
          <p:cNvSpPr/>
          <p:nvPr/>
        </p:nvSpPr>
        <p:spPr>
          <a:xfrm>
            <a:off x="9843976" y="4568088"/>
            <a:ext cx="547589" cy="1177524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rgbClr val="C2FE06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0" rIns="36000" bIns="180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1" u="none" strike="noStrike" kern="1200" cap="none" spc="0" normalizeH="0" baseline="0" noProof="0">
                <a:ln>
                  <a:noFill/>
                </a:ln>
                <a:solidFill>
                  <a:srgbClr val="C2FE06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GSB</a:t>
            </a:r>
          </a:p>
        </p:txBody>
      </p:sp>
      <p:sp>
        <p:nvSpPr>
          <p:cNvPr id="124" name="Rechteck: abgerundete Ecken 123">
            <a:extLst>
              <a:ext uri="{FF2B5EF4-FFF2-40B4-BE49-F238E27FC236}">
                <a16:creationId xmlns:a16="http://schemas.microsoft.com/office/drawing/2014/main" id="{8A91D976-172A-078B-E057-F39CA87D96A5}"/>
              </a:ext>
            </a:extLst>
          </p:cNvPr>
          <p:cNvSpPr/>
          <p:nvPr/>
        </p:nvSpPr>
        <p:spPr>
          <a:xfrm>
            <a:off x="10466798" y="4551132"/>
            <a:ext cx="1289948" cy="1232996"/>
          </a:xfrm>
          <a:prstGeom prst="roundRect">
            <a:avLst>
              <a:gd name="adj" fmla="val 5528"/>
            </a:avLst>
          </a:prstGeom>
          <a:solidFill>
            <a:srgbClr val="667D85"/>
          </a:solidFill>
          <a:ln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>
              <a:defRPr/>
            </a:pPr>
            <a:r>
              <a:rPr kumimoji="0" lang="e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  <a:t>ORU</a:t>
            </a:r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he Group TEXT"/>
              <a:ea typeface="+mn-ea"/>
              <a:cs typeface="+mn-cs"/>
            </a:endParaRPr>
          </a:p>
        </p:txBody>
      </p:sp>
      <p:sp>
        <p:nvSpPr>
          <p:cNvPr id="125" name="Rechteck: abgerundete Ecken 124">
            <a:extLst>
              <a:ext uri="{FF2B5EF4-FFF2-40B4-BE49-F238E27FC236}">
                <a16:creationId xmlns:a16="http://schemas.microsoft.com/office/drawing/2014/main" id="{8C12A93E-0E49-3C46-4BB5-0CA88C15082B}"/>
              </a:ext>
            </a:extLst>
          </p:cNvPr>
          <p:cNvSpPr/>
          <p:nvPr/>
        </p:nvSpPr>
        <p:spPr>
          <a:xfrm>
            <a:off x="10724963" y="4828952"/>
            <a:ext cx="895077" cy="469619"/>
          </a:xfrm>
          <a:prstGeom prst="roundRect">
            <a:avLst/>
          </a:prstGeom>
          <a:solidFill>
            <a:srgbClr val="99A9AD"/>
          </a:solidFill>
          <a:ln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>
              <a:defRPr/>
            </a:pPr>
            <a:r>
              <a:rPr lang="de-DE" sz="1400">
                <a:solidFill>
                  <a:schemeClr val="tx1"/>
                </a:solidFill>
                <a:latin typeface="VWAG TheSans"/>
              </a:rPr>
              <a:t>MBB</a:t>
            </a:r>
          </a:p>
          <a:p>
            <a:pPr>
              <a:defRPr/>
            </a:pPr>
            <a:r>
              <a:rPr lang="de-DE" sz="1400">
                <a:solidFill>
                  <a:schemeClr val="tx1"/>
                </a:solidFill>
                <a:latin typeface="VWAG TheSans"/>
              </a:rPr>
              <a:t>OEMIL</a:t>
            </a:r>
          </a:p>
        </p:txBody>
      </p:sp>
      <p:cxnSp>
        <p:nvCxnSpPr>
          <p:cNvPr id="126" name="Verbinder: gewinkelt 125">
            <a:extLst>
              <a:ext uri="{FF2B5EF4-FFF2-40B4-BE49-F238E27FC236}">
                <a16:creationId xmlns:a16="http://schemas.microsoft.com/office/drawing/2014/main" id="{73F28612-6178-4DE7-0733-74EA7B2F775E}"/>
              </a:ext>
            </a:extLst>
          </p:cNvPr>
          <p:cNvCxnSpPr>
            <a:cxnSpLocks/>
            <a:stCxn id="104" idx="3"/>
            <a:endCxn id="123" idx="1"/>
          </p:cNvCxnSpPr>
          <p:nvPr/>
        </p:nvCxnSpPr>
        <p:spPr>
          <a:xfrm>
            <a:off x="8740785" y="2938089"/>
            <a:ext cx="1103191" cy="2218761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accent5"/>
            </a:solidFill>
            <a:headEnd type="none" w="med" len="sm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8" name="Gerade Verbindung mit Pfeil 127">
            <a:extLst>
              <a:ext uri="{FF2B5EF4-FFF2-40B4-BE49-F238E27FC236}">
                <a16:creationId xmlns:a16="http://schemas.microsoft.com/office/drawing/2014/main" id="{ACE8D4EC-E93A-C0A2-59F1-714BB2173607}"/>
              </a:ext>
            </a:extLst>
          </p:cNvPr>
          <p:cNvCxnSpPr>
            <a:cxnSpLocks/>
          </p:cNvCxnSpPr>
          <p:nvPr/>
        </p:nvCxnSpPr>
        <p:spPr>
          <a:xfrm>
            <a:off x="10314438" y="3925925"/>
            <a:ext cx="396000" cy="0"/>
          </a:xfrm>
          <a:prstGeom prst="straightConnector1">
            <a:avLst/>
          </a:prstGeom>
          <a:ln w="9525">
            <a:headEnd type="none" w="med" len="sm"/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29" name="Gerade Verbindung mit Pfeil 128">
            <a:extLst>
              <a:ext uri="{FF2B5EF4-FFF2-40B4-BE49-F238E27FC236}">
                <a16:creationId xmlns:a16="http://schemas.microsoft.com/office/drawing/2014/main" id="{29658C53-DD24-72CD-FD53-6747683E9A8D}"/>
              </a:ext>
            </a:extLst>
          </p:cNvPr>
          <p:cNvCxnSpPr>
            <a:cxnSpLocks/>
          </p:cNvCxnSpPr>
          <p:nvPr/>
        </p:nvCxnSpPr>
        <p:spPr>
          <a:xfrm>
            <a:off x="10314438" y="3693011"/>
            <a:ext cx="396000" cy="0"/>
          </a:xfrm>
          <a:prstGeom prst="straightConnector1">
            <a:avLst/>
          </a:prstGeom>
          <a:ln w="9525">
            <a:headEnd type="none" w="med" len="sm"/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30" name="Gerade Verbindung mit Pfeil 129">
            <a:extLst>
              <a:ext uri="{FF2B5EF4-FFF2-40B4-BE49-F238E27FC236}">
                <a16:creationId xmlns:a16="http://schemas.microsoft.com/office/drawing/2014/main" id="{626E9764-EEB6-3BF2-707C-9BE3512A8612}"/>
              </a:ext>
            </a:extLst>
          </p:cNvPr>
          <p:cNvCxnSpPr>
            <a:cxnSpLocks/>
          </p:cNvCxnSpPr>
          <p:nvPr/>
        </p:nvCxnSpPr>
        <p:spPr>
          <a:xfrm>
            <a:off x="10294615" y="2859134"/>
            <a:ext cx="396000" cy="0"/>
          </a:xfrm>
          <a:prstGeom prst="straightConnector1">
            <a:avLst/>
          </a:prstGeom>
          <a:ln w="9525">
            <a:headEnd type="none" w="med" len="sm"/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31" name="Gerade Verbindung mit Pfeil 130">
            <a:extLst>
              <a:ext uri="{FF2B5EF4-FFF2-40B4-BE49-F238E27FC236}">
                <a16:creationId xmlns:a16="http://schemas.microsoft.com/office/drawing/2014/main" id="{28D24985-691E-3E8D-46B3-33E9D169A7CA}"/>
              </a:ext>
            </a:extLst>
          </p:cNvPr>
          <p:cNvCxnSpPr>
            <a:cxnSpLocks/>
          </p:cNvCxnSpPr>
          <p:nvPr/>
        </p:nvCxnSpPr>
        <p:spPr>
          <a:xfrm>
            <a:off x="10317291" y="5172640"/>
            <a:ext cx="396000" cy="0"/>
          </a:xfrm>
          <a:prstGeom prst="straightConnector1">
            <a:avLst/>
          </a:prstGeom>
          <a:ln w="9525">
            <a:headEnd type="none" w="med" len="sm"/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32" name="Gerade Verbindung mit Pfeil 131">
            <a:extLst>
              <a:ext uri="{FF2B5EF4-FFF2-40B4-BE49-F238E27FC236}">
                <a16:creationId xmlns:a16="http://schemas.microsoft.com/office/drawing/2014/main" id="{79972F79-7D25-FD86-BC7A-2F5DD425ADA8}"/>
              </a:ext>
            </a:extLst>
          </p:cNvPr>
          <p:cNvCxnSpPr>
            <a:cxnSpLocks/>
          </p:cNvCxnSpPr>
          <p:nvPr/>
        </p:nvCxnSpPr>
        <p:spPr>
          <a:xfrm>
            <a:off x="10317291" y="4939726"/>
            <a:ext cx="396000" cy="0"/>
          </a:xfrm>
          <a:prstGeom prst="straightConnector1">
            <a:avLst/>
          </a:prstGeom>
          <a:ln w="9525">
            <a:headEnd type="none" w="med" len="sm"/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35" name="Rechteck: abgerundete Ecken 134">
            <a:extLst>
              <a:ext uri="{FF2B5EF4-FFF2-40B4-BE49-F238E27FC236}">
                <a16:creationId xmlns:a16="http://schemas.microsoft.com/office/drawing/2014/main" id="{7F1F76EC-3C61-7760-7209-9EFE14EF4D65}"/>
              </a:ext>
            </a:extLst>
          </p:cNvPr>
          <p:cNvSpPr/>
          <p:nvPr/>
        </p:nvSpPr>
        <p:spPr>
          <a:xfrm>
            <a:off x="9853172" y="5866233"/>
            <a:ext cx="547589" cy="70181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rgbClr val="C2FE06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0" rIns="36000" bIns="180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1" u="none" strike="noStrike" kern="1200" cap="none" spc="0" normalizeH="0" baseline="0" noProof="0">
                <a:ln>
                  <a:noFill/>
                </a:ln>
                <a:solidFill>
                  <a:srgbClr val="C2FE06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CSV</a:t>
            </a:r>
          </a:p>
        </p:txBody>
      </p:sp>
      <p:cxnSp>
        <p:nvCxnSpPr>
          <p:cNvPr id="136" name="Verbinder: gewinkelt 135">
            <a:extLst>
              <a:ext uri="{FF2B5EF4-FFF2-40B4-BE49-F238E27FC236}">
                <a16:creationId xmlns:a16="http://schemas.microsoft.com/office/drawing/2014/main" id="{9727A0F0-562F-C379-04A5-1516DAB82C48}"/>
              </a:ext>
            </a:extLst>
          </p:cNvPr>
          <p:cNvCxnSpPr>
            <a:cxnSpLocks/>
            <a:stCxn id="104" idx="3"/>
            <a:endCxn id="135" idx="1"/>
          </p:cNvCxnSpPr>
          <p:nvPr/>
        </p:nvCxnSpPr>
        <p:spPr>
          <a:xfrm>
            <a:off x="8740785" y="2938089"/>
            <a:ext cx="1112387" cy="3279053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accent5"/>
            </a:solidFill>
            <a:headEnd type="none" w="med" len="sm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7" name="Rechteck: abgerundete Ecken 136">
            <a:extLst>
              <a:ext uri="{FF2B5EF4-FFF2-40B4-BE49-F238E27FC236}">
                <a16:creationId xmlns:a16="http://schemas.microsoft.com/office/drawing/2014/main" id="{9E31E346-E812-C825-FAAC-F96829600119}"/>
              </a:ext>
            </a:extLst>
          </p:cNvPr>
          <p:cNvSpPr/>
          <p:nvPr/>
        </p:nvSpPr>
        <p:spPr>
          <a:xfrm>
            <a:off x="10475994" y="5839464"/>
            <a:ext cx="1289948" cy="732856"/>
          </a:xfrm>
          <a:prstGeom prst="roundRect">
            <a:avLst>
              <a:gd name="adj" fmla="val 9648"/>
            </a:avLst>
          </a:prstGeom>
          <a:solidFill>
            <a:srgbClr val="667D85"/>
          </a:solidFill>
          <a:ln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36000" rtlCol="0" anchor="t"/>
          <a:lstStyle/>
          <a:p>
            <a:pPr>
              <a:defRPr/>
            </a:pPr>
            <a:r>
              <a:rPr lang="de-DE" sz="1400" b="1">
                <a:solidFill>
                  <a:schemeClr val="tx1"/>
                </a:solidFill>
                <a:latin typeface="VWAG TheSans"/>
              </a:rPr>
              <a:t>T</a:t>
            </a:r>
            <a:r>
              <a:rPr lang="en" sz="1400" b="1">
                <a:solidFill>
                  <a:schemeClr val="tx1"/>
                </a:solidFill>
                <a:latin typeface="VWAG TheSans"/>
              </a:rPr>
              <a:t>ransportation authorities</a:t>
            </a:r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he Group TEXT"/>
              <a:ea typeface="+mn-ea"/>
              <a:cs typeface="+mn-cs"/>
            </a:endParaRPr>
          </a:p>
        </p:txBody>
      </p:sp>
      <p:cxnSp>
        <p:nvCxnSpPr>
          <p:cNvPr id="138" name="Gerade Verbindung mit Pfeil 137">
            <a:extLst>
              <a:ext uri="{FF2B5EF4-FFF2-40B4-BE49-F238E27FC236}">
                <a16:creationId xmlns:a16="http://schemas.microsoft.com/office/drawing/2014/main" id="{A49BA8E1-B32B-D760-A5FE-25CE863E72B6}"/>
              </a:ext>
            </a:extLst>
          </p:cNvPr>
          <p:cNvCxnSpPr>
            <a:cxnSpLocks/>
            <a:endCxn id="139" idx="1"/>
          </p:cNvCxnSpPr>
          <p:nvPr/>
        </p:nvCxnSpPr>
        <p:spPr>
          <a:xfrm>
            <a:off x="10324555" y="6390283"/>
            <a:ext cx="497103" cy="13666"/>
          </a:xfrm>
          <a:prstGeom prst="straightConnector1">
            <a:avLst/>
          </a:prstGeom>
          <a:ln w="9525">
            <a:headEnd type="none" w="med" len="sm"/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39" name="Rechteck: abgerundete Ecken 138">
            <a:extLst>
              <a:ext uri="{FF2B5EF4-FFF2-40B4-BE49-F238E27FC236}">
                <a16:creationId xmlns:a16="http://schemas.microsoft.com/office/drawing/2014/main" id="{AB6C1CE5-F32E-361D-1AD8-E78471214BE7}"/>
              </a:ext>
            </a:extLst>
          </p:cNvPr>
          <p:cNvSpPr/>
          <p:nvPr/>
        </p:nvSpPr>
        <p:spPr>
          <a:xfrm>
            <a:off x="10821658" y="6267102"/>
            <a:ext cx="821601" cy="273694"/>
          </a:xfrm>
          <a:prstGeom prst="roundRect">
            <a:avLst/>
          </a:prstGeom>
          <a:solidFill>
            <a:srgbClr val="99A9AD"/>
          </a:solidFill>
          <a:ln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>
              <a:defRPr/>
            </a:pPr>
            <a:r>
              <a:rPr lang="de-DE" sz="1400" err="1">
                <a:solidFill>
                  <a:schemeClr val="tx1"/>
                </a:solidFill>
                <a:latin typeface="VWAG TheSans"/>
              </a:rPr>
              <a:t>reports</a:t>
            </a:r>
            <a:endParaRPr lang="de-DE" sz="1400">
              <a:solidFill>
                <a:schemeClr val="tx1"/>
              </a:solidFill>
              <a:latin typeface="VWAG TheSans"/>
            </a:endParaRPr>
          </a:p>
        </p:txBody>
      </p:sp>
      <p:cxnSp>
        <p:nvCxnSpPr>
          <p:cNvPr id="143" name="Verbinder: gewinkelt 142">
            <a:extLst>
              <a:ext uri="{FF2B5EF4-FFF2-40B4-BE49-F238E27FC236}">
                <a16:creationId xmlns:a16="http://schemas.microsoft.com/office/drawing/2014/main" id="{B7CB8B8D-A285-CF0F-6A74-761DD8F447F4}"/>
              </a:ext>
            </a:extLst>
          </p:cNvPr>
          <p:cNvCxnSpPr>
            <a:cxnSpLocks/>
            <a:stCxn id="104" idx="3"/>
            <a:endCxn id="119" idx="1"/>
          </p:cNvCxnSpPr>
          <p:nvPr/>
        </p:nvCxnSpPr>
        <p:spPr>
          <a:xfrm>
            <a:off x="8740785" y="2938089"/>
            <a:ext cx="1098857" cy="21844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accent5"/>
            </a:solidFill>
            <a:headEnd type="none" w="med" len="sm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2" name="Rechteck: abgerundete Ecken 151">
            <a:extLst>
              <a:ext uri="{FF2B5EF4-FFF2-40B4-BE49-F238E27FC236}">
                <a16:creationId xmlns:a16="http://schemas.microsoft.com/office/drawing/2014/main" id="{2EE6B94A-0908-CE0A-DC37-3FC2A8290BFF}"/>
              </a:ext>
            </a:extLst>
          </p:cNvPr>
          <p:cNvSpPr/>
          <p:nvPr/>
        </p:nvSpPr>
        <p:spPr>
          <a:xfrm>
            <a:off x="10732933" y="5354969"/>
            <a:ext cx="887107" cy="387475"/>
          </a:xfrm>
          <a:prstGeom prst="roundRect">
            <a:avLst/>
          </a:prstGeom>
          <a:solidFill>
            <a:srgbClr val="99A9AD"/>
          </a:solidFill>
          <a:ln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08000" rIns="36000" bIns="36000" rtlCol="0" anchor="ctr"/>
          <a:lstStyle/>
          <a:p>
            <a:pPr>
              <a:lnSpc>
                <a:spcPts val="1200"/>
              </a:lnSpc>
              <a:defRPr/>
            </a:pPr>
            <a:r>
              <a:rPr lang="de-DE" sz="1400">
                <a:solidFill>
                  <a:schemeClr val="tx1"/>
                </a:solidFill>
                <a:latin typeface="VWAG TheSans"/>
              </a:rPr>
              <a:t>&gt; 150 </a:t>
            </a:r>
            <a:r>
              <a:rPr lang="de-DE" sz="1400" err="1">
                <a:solidFill>
                  <a:schemeClr val="tx1"/>
                </a:solidFill>
                <a:latin typeface="VWAG TheSans"/>
              </a:rPr>
              <a:t>consumer</a:t>
            </a:r>
            <a:endParaRPr lang="de-DE" sz="1400">
              <a:solidFill>
                <a:schemeClr val="tx1"/>
              </a:solidFill>
              <a:latin typeface="VWAG TheSans"/>
            </a:endParaRPr>
          </a:p>
        </p:txBody>
      </p:sp>
      <p:cxnSp>
        <p:nvCxnSpPr>
          <p:cNvPr id="156" name="Gerade Verbindung mit Pfeil 155">
            <a:extLst>
              <a:ext uri="{FF2B5EF4-FFF2-40B4-BE49-F238E27FC236}">
                <a16:creationId xmlns:a16="http://schemas.microsoft.com/office/drawing/2014/main" id="{508970F4-83F9-64E9-53EB-3341302EF3B8}"/>
              </a:ext>
            </a:extLst>
          </p:cNvPr>
          <p:cNvCxnSpPr>
            <a:cxnSpLocks/>
          </p:cNvCxnSpPr>
          <p:nvPr/>
        </p:nvCxnSpPr>
        <p:spPr>
          <a:xfrm>
            <a:off x="10315359" y="5502287"/>
            <a:ext cx="396000" cy="0"/>
          </a:xfrm>
          <a:prstGeom prst="straightConnector1">
            <a:avLst/>
          </a:prstGeom>
          <a:ln w="9525">
            <a:headEnd type="none" w="med" len="sm"/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" name="Textfeld 2">
            <a:extLst>
              <a:ext uri="{FF2B5EF4-FFF2-40B4-BE49-F238E27FC236}">
                <a16:creationId xmlns:a16="http://schemas.microsoft.com/office/drawing/2014/main" id="{71752963-B4EC-2644-DB6B-76917D35D9F8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72580"/>
            <a:ext cx="774700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de-DE" sz="800" kern="1200">
                <a:solidFill>
                  <a:schemeClr val="accent4"/>
                </a:solidFill>
                <a:latin typeface="+mn-lt"/>
                <a:ea typeface="+mn-ea"/>
                <a:cs typeface="+mn-cs"/>
              </a:rPr>
              <a:t>CONFIDENTIAL</a:t>
            </a:r>
          </a:p>
        </p:txBody>
      </p:sp>
      <p:sp>
        <p:nvSpPr>
          <p:cNvPr id="2" name="Oval 6">
            <a:extLst>
              <a:ext uri="{FF2B5EF4-FFF2-40B4-BE49-F238E27FC236}">
                <a16:creationId xmlns:a16="http://schemas.microsoft.com/office/drawing/2014/main" id="{9DC515DA-610C-4679-E18D-0D47FB3983C5}"/>
              </a:ext>
            </a:extLst>
          </p:cNvPr>
          <p:cNvSpPr/>
          <p:nvPr/>
        </p:nvSpPr>
        <p:spPr>
          <a:xfrm>
            <a:off x="7342710" y="4456466"/>
            <a:ext cx="613970" cy="320936"/>
          </a:xfrm>
          <a:prstGeom prst="ellipse">
            <a:avLst/>
          </a:prstGeom>
          <a:solidFill>
            <a:srgbClr val="DA0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  <a:t>Risk</a:t>
            </a:r>
          </a:p>
        </p:txBody>
      </p:sp>
      <p:sp>
        <p:nvSpPr>
          <p:cNvPr id="58" name="Rechteck: abgerundete Ecken 57">
            <a:extLst>
              <a:ext uri="{FF2B5EF4-FFF2-40B4-BE49-F238E27FC236}">
                <a16:creationId xmlns:a16="http://schemas.microsoft.com/office/drawing/2014/main" id="{30DE4776-9778-C2F8-03F9-252AB8E3DE11}"/>
              </a:ext>
            </a:extLst>
          </p:cNvPr>
          <p:cNvSpPr/>
          <p:nvPr/>
        </p:nvSpPr>
        <p:spPr>
          <a:xfrm>
            <a:off x="1998490" y="3013419"/>
            <a:ext cx="547589" cy="2500880"/>
          </a:xfrm>
          <a:prstGeom prst="roundRect">
            <a:avLst>
              <a:gd name="adj" fmla="val 5640"/>
            </a:avLst>
          </a:prstGeom>
          <a:solidFill>
            <a:schemeClr val="accent5">
              <a:lumMod val="50000"/>
            </a:schemeClr>
          </a:solidFill>
          <a:ln>
            <a:solidFill>
              <a:srgbClr val="C2FE06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0" rIns="36000" bIns="180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i="0" u="none" strike="noStrike" kern="1200" cap="none" spc="0" normalizeH="0" baseline="0" noProof="0">
                <a:ln>
                  <a:noFill/>
                </a:ln>
                <a:solidFill>
                  <a:srgbClr val="C2FE06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RVS</a:t>
            </a:r>
          </a:p>
        </p:txBody>
      </p:sp>
      <p:cxnSp>
        <p:nvCxnSpPr>
          <p:cNvPr id="65" name="Gerade Verbindung mit Pfeil 64">
            <a:extLst>
              <a:ext uri="{FF2B5EF4-FFF2-40B4-BE49-F238E27FC236}">
                <a16:creationId xmlns:a16="http://schemas.microsoft.com/office/drawing/2014/main" id="{F66C54F4-0A94-9A83-D0EA-5A1CD2E7F9AF}"/>
              </a:ext>
            </a:extLst>
          </p:cNvPr>
          <p:cNvCxnSpPr>
            <a:cxnSpLocks/>
          </p:cNvCxnSpPr>
          <p:nvPr/>
        </p:nvCxnSpPr>
        <p:spPr>
          <a:xfrm>
            <a:off x="1590589" y="3906288"/>
            <a:ext cx="360000" cy="0"/>
          </a:xfrm>
          <a:prstGeom prst="straightConnector1">
            <a:avLst/>
          </a:prstGeom>
          <a:ln w="9525">
            <a:headEnd type="none" w="med" len="sm"/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66" name="Gerade Verbindung mit Pfeil 65">
            <a:extLst>
              <a:ext uri="{FF2B5EF4-FFF2-40B4-BE49-F238E27FC236}">
                <a16:creationId xmlns:a16="http://schemas.microsoft.com/office/drawing/2014/main" id="{04B03E4D-4160-BEE6-3EB1-D38776AAA88F}"/>
              </a:ext>
            </a:extLst>
          </p:cNvPr>
          <p:cNvCxnSpPr>
            <a:cxnSpLocks/>
          </p:cNvCxnSpPr>
          <p:nvPr/>
        </p:nvCxnSpPr>
        <p:spPr>
          <a:xfrm>
            <a:off x="1590589" y="4114255"/>
            <a:ext cx="360000" cy="0"/>
          </a:xfrm>
          <a:prstGeom prst="straightConnector1">
            <a:avLst/>
          </a:prstGeom>
          <a:ln w="9525">
            <a:headEnd type="none" w="med" len="sm"/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72" name="Gerade Verbindung mit Pfeil 71">
            <a:extLst>
              <a:ext uri="{FF2B5EF4-FFF2-40B4-BE49-F238E27FC236}">
                <a16:creationId xmlns:a16="http://schemas.microsoft.com/office/drawing/2014/main" id="{B85549F2-29FD-FAD5-2699-2D9513C611DA}"/>
              </a:ext>
            </a:extLst>
          </p:cNvPr>
          <p:cNvCxnSpPr>
            <a:cxnSpLocks/>
          </p:cNvCxnSpPr>
          <p:nvPr/>
        </p:nvCxnSpPr>
        <p:spPr>
          <a:xfrm>
            <a:off x="1611006" y="3410771"/>
            <a:ext cx="360000" cy="0"/>
          </a:xfrm>
          <a:prstGeom prst="straightConnector1">
            <a:avLst/>
          </a:prstGeom>
          <a:ln w="9525">
            <a:headEnd type="none" w="med" len="sm"/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75" name="Rechteck: abgerundete Ecken 74">
            <a:extLst>
              <a:ext uri="{FF2B5EF4-FFF2-40B4-BE49-F238E27FC236}">
                <a16:creationId xmlns:a16="http://schemas.microsoft.com/office/drawing/2014/main" id="{515F95F2-D9DE-2654-0AB1-94B7D4771844}"/>
              </a:ext>
            </a:extLst>
          </p:cNvPr>
          <p:cNvSpPr/>
          <p:nvPr/>
        </p:nvSpPr>
        <p:spPr>
          <a:xfrm>
            <a:off x="528637" y="4025246"/>
            <a:ext cx="1151167" cy="186297"/>
          </a:xfrm>
          <a:prstGeom prst="roundRect">
            <a:avLst/>
          </a:prstGeom>
          <a:solidFill>
            <a:srgbClr val="667D85"/>
          </a:solidFill>
          <a:ln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>
              <a:defRPr/>
            </a:pPr>
            <a:r>
              <a:rPr lang="de-DE" sz="1400">
                <a:solidFill>
                  <a:schemeClr val="tx1"/>
                </a:solidFill>
                <a:latin typeface="VWAG TheSans"/>
              </a:rPr>
              <a:t>HST2</a:t>
            </a:r>
          </a:p>
        </p:txBody>
      </p:sp>
      <p:sp>
        <p:nvSpPr>
          <p:cNvPr id="78" name="Rechteck: abgerundete Ecken 77">
            <a:extLst>
              <a:ext uri="{FF2B5EF4-FFF2-40B4-BE49-F238E27FC236}">
                <a16:creationId xmlns:a16="http://schemas.microsoft.com/office/drawing/2014/main" id="{F8DA06C2-620F-25CA-F3B7-2FCB65340CF7}"/>
              </a:ext>
            </a:extLst>
          </p:cNvPr>
          <p:cNvSpPr/>
          <p:nvPr/>
        </p:nvSpPr>
        <p:spPr>
          <a:xfrm>
            <a:off x="528637" y="3809198"/>
            <a:ext cx="1151167" cy="186297"/>
          </a:xfrm>
          <a:prstGeom prst="roundRect">
            <a:avLst/>
          </a:prstGeom>
          <a:solidFill>
            <a:srgbClr val="667D85"/>
          </a:solidFill>
          <a:ln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>
              <a:defRPr/>
            </a:pPr>
            <a:r>
              <a:rPr lang="de-DE" sz="1400">
                <a:solidFill>
                  <a:schemeClr val="tx1"/>
                </a:solidFill>
                <a:latin typeface="VWAG TheSans"/>
              </a:rPr>
              <a:t>KVPS&amp;BCMP</a:t>
            </a:r>
          </a:p>
        </p:txBody>
      </p:sp>
      <p:sp>
        <p:nvSpPr>
          <p:cNvPr id="79" name="Rechteck: abgerundete Ecken 78">
            <a:extLst>
              <a:ext uri="{FF2B5EF4-FFF2-40B4-BE49-F238E27FC236}">
                <a16:creationId xmlns:a16="http://schemas.microsoft.com/office/drawing/2014/main" id="{AB989724-E8BB-DFFF-08B0-016C0623A2CB}"/>
              </a:ext>
            </a:extLst>
          </p:cNvPr>
          <p:cNvSpPr/>
          <p:nvPr/>
        </p:nvSpPr>
        <p:spPr>
          <a:xfrm>
            <a:off x="528637" y="3014845"/>
            <a:ext cx="1164100" cy="754789"/>
          </a:xfrm>
          <a:prstGeom prst="roundRect">
            <a:avLst>
              <a:gd name="adj" fmla="val 9648"/>
            </a:avLst>
          </a:prstGeom>
          <a:solidFill>
            <a:srgbClr val="667D85"/>
          </a:solidFill>
          <a:ln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36000" rtlCol="0" anchor="t"/>
          <a:lstStyle/>
          <a:p>
            <a:pPr>
              <a:defRPr/>
            </a:pPr>
            <a:r>
              <a:rPr lang="en" sz="1400" b="1">
                <a:solidFill>
                  <a:schemeClr val="tx1"/>
                </a:solidFill>
                <a:latin typeface="VWAG TheSans"/>
              </a:rPr>
              <a:t>Repare-Data</a:t>
            </a:r>
            <a:r>
              <a:rPr kumimoji="0" lang="e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  <a:t> </a:t>
            </a:r>
            <a:br>
              <a:rPr kumimoji="0" lang="e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</a:br>
            <a:r>
              <a:rPr kumimoji="0" lang="e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  <a:t> </a:t>
            </a:r>
            <a:r>
              <a:rPr lang="de-DE" sz="1000">
                <a:solidFill>
                  <a:schemeClr val="tx1"/>
                </a:solidFill>
                <a:latin typeface="VWAG TheSans"/>
              </a:rPr>
              <a:t>SAGA/2</a:t>
            </a:r>
          </a:p>
          <a:p>
            <a:pPr>
              <a:defRPr/>
            </a:pPr>
            <a:r>
              <a:rPr lang="de-DE" sz="1000">
                <a:solidFill>
                  <a:schemeClr val="tx1"/>
                </a:solidFill>
                <a:latin typeface="VWAG TheSans"/>
              </a:rPr>
              <a:t> FISKUS</a:t>
            </a:r>
          </a:p>
          <a:p>
            <a:pPr>
              <a:defRPr/>
            </a:pPr>
            <a:r>
              <a:rPr lang="de-DE" sz="1000">
                <a:solidFill>
                  <a:schemeClr val="tx1"/>
                </a:solidFill>
                <a:latin typeface="VWAG TheSans"/>
              </a:rPr>
              <a:t> Reserve</a:t>
            </a:r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he Group TEXT"/>
              <a:ea typeface="+mn-ea"/>
              <a:cs typeface="+mn-cs"/>
            </a:endParaRPr>
          </a:p>
        </p:txBody>
      </p:sp>
      <p:cxnSp>
        <p:nvCxnSpPr>
          <p:cNvPr id="80" name="Gerade Verbindung mit Pfeil 79">
            <a:extLst>
              <a:ext uri="{FF2B5EF4-FFF2-40B4-BE49-F238E27FC236}">
                <a16:creationId xmlns:a16="http://schemas.microsoft.com/office/drawing/2014/main" id="{15D76050-A413-D617-C4B1-1A4B06BCB362}"/>
              </a:ext>
            </a:extLst>
          </p:cNvPr>
          <p:cNvCxnSpPr>
            <a:cxnSpLocks/>
          </p:cNvCxnSpPr>
          <p:nvPr/>
        </p:nvCxnSpPr>
        <p:spPr>
          <a:xfrm>
            <a:off x="1590589" y="4441306"/>
            <a:ext cx="360000" cy="0"/>
          </a:xfrm>
          <a:prstGeom prst="straightConnector1">
            <a:avLst/>
          </a:prstGeom>
          <a:ln w="9525">
            <a:headEnd type="none" w="med" len="sm"/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1" name="Rechteck: abgerundete Ecken 80">
            <a:extLst>
              <a:ext uri="{FF2B5EF4-FFF2-40B4-BE49-F238E27FC236}">
                <a16:creationId xmlns:a16="http://schemas.microsoft.com/office/drawing/2014/main" id="{4F042B1C-47E6-469F-CDC6-726A5AED319A}"/>
              </a:ext>
            </a:extLst>
          </p:cNvPr>
          <p:cNvSpPr/>
          <p:nvPr/>
        </p:nvSpPr>
        <p:spPr>
          <a:xfrm>
            <a:off x="528637" y="4261667"/>
            <a:ext cx="1164100" cy="405053"/>
          </a:xfrm>
          <a:prstGeom prst="roundRect">
            <a:avLst>
              <a:gd name="adj" fmla="val 9648"/>
            </a:avLst>
          </a:prstGeom>
          <a:solidFill>
            <a:srgbClr val="667D85"/>
          </a:solidFill>
          <a:ln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>
              <a:defRPr/>
            </a:pPr>
            <a:r>
              <a:rPr lang="de-DE" sz="1100">
                <a:solidFill>
                  <a:schemeClr val="tx1"/>
                </a:solidFill>
                <a:latin typeface="VWAG TheSans"/>
              </a:rPr>
              <a:t>Manuell triggert  </a:t>
            </a:r>
            <a:r>
              <a:rPr lang="de-DE" sz="1400" err="1">
                <a:solidFill>
                  <a:schemeClr val="tx1"/>
                </a:solidFill>
                <a:latin typeface="VWAG TheSans"/>
              </a:rPr>
              <a:t>uploads</a:t>
            </a:r>
            <a:endParaRPr lang="de-DE" sz="1400">
              <a:solidFill>
                <a:schemeClr val="tx1"/>
              </a:solidFill>
              <a:latin typeface="VWAG TheSans"/>
            </a:endParaRPr>
          </a:p>
        </p:txBody>
      </p:sp>
      <p:cxnSp>
        <p:nvCxnSpPr>
          <p:cNvPr id="114" name="Gerade Verbindung mit Pfeil 113">
            <a:extLst>
              <a:ext uri="{FF2B5EF4-FFF2-40B4-BE49-F238E27FC236}">
                <a16:creationId xmlns:a16="http://schemas.microsoft.com/office/drawing/2014/main" id="{1DBECDF5-DD24-F811-4B8D-A9E6006A445D}"/>
              </a:ext>
            </a:extLst>
          </p:cNvPr>
          <p:cNvCxnSpPr>
            <a:cxnSpLocks/>
          </p:cNvCxnSpPr>
          <p:nvPr/>
        </p:nvCxnSpPr>
        <p:spPr>
          <a:xfrm>
            <a:off x="1630480" y="6123374"/>
            <a:ext cx="360000" cy="0"/>
          </a:xfrm>
          <a:prstGeom prst="straightConnector1">
            <a:avLst/>
          </a:prstGeom>
          <a:ln w="9525">
            <a:headEnd type="none" w="med" len="sm"/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15" name="Rechteck: abgerundete Ecken 114">
            <a:extLst>
              <a:ext uri="{FF2B5EF4-FFF2-40B4-BE49-F238E27FC236}">
                <a16:creationId xmlns:a16="http://schemas.microsoft.com/office/drawing/2014/main" id="{6ED52C46-0BBC-8BAA-47AD-2E9AB09AED15}"/>
              </a:ext>
            </a:extLst>
          </p:cNvPr>
          <p:cNvSpPr/>
          <p:nvPr/>
        </p:nvSpPr>
        <p:spPr>
          <a:xfrm>
            <a:off x="522998" y="5839464"/>
            <a:ext cx="1288007" cy="530648"/>
          </a:xfrm>
          <a:prstGeom prst="roundRect">
            <a:avLst>
              <a:gd name="adj" fmla="val 9648"/>
            </a:avLst>
          </a:prstGeom>
          <a:solidFill>
            <a:srgbClr val="667D85"/>
          </a:solidFill>
          <a:ln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36000" rtlCol="0" anchor="t"/>
          <a:lstStyle/>
          <a:p>
            <a:pPr>
              <a:defRPr/>
            </a:pPr>
            <a:r>
              <a:rPr lang="en" sz="1400" b="1">
                <a:solidFill>
                  <a:schemeClr val="tx1"/>
                </a:solidFill>
                <a:latin typeface="VWAG TheSans"/>
              </a:rPr>
              <a:t>Authentication</a:t>
            </a:r>
            <a:endParaRPr lang="de-DE" sz="1400">
              <a:solidFill>
                <a:srgbClr val="FFFFFF"/>
              </a:solidFill>
            </a:endParaRPr>
          </a:p>
          <a:p>
            <a:pPr>
              <a:defRPr/>
            </a:pPr>
            <a:r>
              <a:rPr lang="de-DE" sz="1000" err="1">
                <a:solidFill>
                  <a:schemeClr val="tx1"/>
                </a:solidFill>
                <a:latin typeface="VWAG TheSans"/>
              </a:rPr>
              <a:t>Cloud.IDP</a:t>
            </a:r>
            <a:endParaRPr lang="de-DE" sz="1000">
              <a:solidFill>
                <a:schemeClr val="tx1"/>
              </a:solidFill>
              <a:latin typeface="VWAG TheSans"/>
            </a:endParaRPr>
          </a:p>
          <a:p>
            <a:pPr>
              <a:defRPr/>
            </a:pPr>
            <a:r>
              <a:rPr lang="de-DE" sz="1000">
                <a:solidFill>
                  <a:schemeClr val="tx1"/>
                </a:solidFill>
                <a:latin typeface="VWAG TheSans"/>
              </a:rPr>
              <a:t>GRP</a:t>
            </a:r>
            <a:br>
              <a:rPr kumimoji="0" lang="e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</a:br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he Group TEXT"/>
              <a:ea typeface="+mn-ea"/>
              <a:cs typeface="+mn-cs"/>
            </a:endParaRPr>
          </a:p>
        </p:txBody>
      </p:sp>
      <p:sp>
        <p:nvSpPr>
          <p:cNvPr id="140" name="Rechteck: abgerundete Ecken 139">
            <a:extLst>
              <a:ext uri="{FF2B5EF4-FFF2-40B4-BE49-F238E27FC236}">
                <a16:creationId xmlns:a16="http://schemas.microsoft.com/office/drawing/2014/main" id="{0EAD065C-4AD5-973F-2F44-A666704DEFC7}"/>
              </a:ext>
            </a:extLst>
          </p:cNvPr>
          <p:cNvSpPr/>
          <p:nvPr/>
        </p:nvSpPr>
        <p:spPr>
          <a:xfrm>
            <a:off x="515807" y="2122524"/>
            <a:ext cx="1329461" cy="789607"/>
          </a:xfrm>
          <a:prstGeom prst="roundRect">
            <a:avLst>
              <a:gd name="adj" fmla="val 9648"/>
            </a:avLst>
          </a:prstGeom>
          <a:solidFill>
            <a:srgbClr val="667D85"/>
          </a:solidFill>
          <a:ln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>
              <a:defRPr/>
            </a:pPr>
            <a:r>
              <a:rPr kumimoji="0" lang="e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  <a:t>ORU</a:t>
            </a:r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he Group TEXT"/>
              <a:ea typeface="+mn-ea"/>
              <a:cs typeface="+mn-cs"/>
            </a:endParaRPr>
          </a:p>
        </p:txBody>
      </p:sp>
      <p:sp>
        <p:nvSpPr>
          <p:cNvPr id="141" name="Rechteck: abgerundete Ecken 140">
            <a:extLst>
              <a:ext uri="{FF2B5EF4-FFF2-40B4-BE49-F238E27FC236}">
                <a16:creationId xmlns:a16="http://schemas.microsoft.com/office/drawing/2014/main" id="{47F1384A-9A48-AEB0-1289-85A8105ACEED}"/>
              </a:ext>
            </a:extLst>
          </p:cNvPr>
          <p:cNvSpPr/>
          <p:nvPr/>
        </p:nvSpPr>
        <p:spPr>
          <a:xfrm>
            <a:off x="686814" y="2444082"/>
            <a:ext cx="1063695" cy="412797"/>
          </a:xfrm>
          <a:prstGeom prst="roundRect">
            <a:avLst/>
          </a:prstGeom>
          <a:solidFill>
            <a:srgbClr val="99A9AD"/>
          </a:solidFill>
          <a:ln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>
              <a:defRPr/>
            </a:pPr>
            <a:r>
              <a:rPr lang="de-DE" sz="1400">
                <a:solidFill>
                  <a:schemeClr val="tx1"/>
                </a:solidFill>
                <a:latin typeface="VWAG TheSans"/>
              </a:rPr>
              <a:t>MBB</a:t>
            </a:r>
          </a:p>
          <a:p>
            <a:pPr>
              <a:defRPr/>
            </a:pPr>
            <a:r>
              <a:rPr lang="de-DE" sz="1400">
                <a:solidFill>
                  <a:schemeClr val="tx1"/>
                </a:solidFill>
                <a:latin typeface="VWAG TheSans"/>
              </a:rPr>
              <a:t>OEMIL</a:t>
            </a:r>
          </a:p>
        </p:txBody>
      </p:sp>
      <p:sp>
        <p:nvSpPr>
          <p:cNvPr id="144" name="Rechteck: abgerundete Ecken 143">
            <a:extLst>
              <a:ext uri="{FF2B5EF4-FFF2-40B4-BE49-F238E27FC236}">
                <a16:creationId xmlns:a16="http://schemas.microsoft.com/office/drawing/2014/main" id="{2AA1E7FA-0239-C24F-E3B6-55675F661932}"/>
              </a:ext>
            </a:extLst>
          </p:cNvPr>
          <p:cNvSpPr/>
          <p:nvPr/>
        </p:nvSpPr>
        <p:spPr>
          <a:xfrm>
            <a:off x="1990150" y="2122525"/>
            <a:ext cx="547589" cy="771672"/>
          </a:xfrm>
          <a:prstGeom prst="roundRect">
            <a:avLst>
              <a:gd name="adj" fmla="val 7390"/>
            </a:avLst>
          </a:prstGeom>
          <a:solidFill>
            <a:schemeClr val="accent5">
              <a:lumMod val="50000"/>
            </a:schemeClr>
          </a:solidFill>
          <a:ln>
            <a:solidFill>
              <a:srgbClr val="C2FE06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0" rIns="36000" bIns="180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1" u="none" strike="noStrike" kern="1200" cap="none" spc="0" normalizeH="0" baseline="0" noProof="0">
                <a:ln>
                  <a:noFill/>
                </a:ln>
                <a:solidFill>
                  <a:srgbClr val="C2FE06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GSB</a:t>
            </a:r>
          </a:p>
        </p:txBody>
      </p:sp>
      <p:cxnSp>
        <p:nvCxnSpPr>
          <p:cNvPr id="145" name="Gerade Verbindung mit Pfeil 144">
            <a:extLst>
              <a:ext uri="{FF2B5EF4-FFF2-40B4-BE49-F238E27FC236}">
                <a16:creationId xmlns:a16="http://schemas.microsoft.com/office/drawing/2014/main" id="{46B9501D-F2DF-5069-C404-6BDE0BA684DC}"/>
              </a:ext>
            </a:extLst>
          </p:cNvPr>
          <p:cNvCxnSpPr>
            <a:cxnSpLocks/>
          </p:cNvCxnSpPr>
          <p:nvPr/>
        </p:nvCxnSpPr>
        <p:spPr>
          <a:xfrm>
            <a:off x="1602666" y="2579005"/>
            <a:ext cx="360000" cy="0"/>
          </a:xfrm>
          <a:prstGeom prst="straightConnector1">
            <a:avLst/>
          </a:prstGeom>
          <a:ln w="9525">
            <a:headEnd type="none" w="med" len="sm"/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46" name="Gerade Verbindung mit Pfeil 145">
            <a:extLst>
              <a:ext uri="{FF2B5EF4-FFF2-40B4-BE49-F238E27FC236}">
                <a16:creationId xmlns:a16="http://schemas.microsoft.com/office/drawing/2014/main" id="{5049B64A-A998-8D9A-8C5D-2E1A61735B9A}"/>
              </a:ext>
            </a:extLst>
          </p:cNvPr>
          <p:cNvCxnSpPr>
            <a:cxnSpLocks/>
          </p:cNvCxnSpPr>
          <p:nvPr/>
        </p:nvCxnSpPr>
        <p:spPr>
          <a:xfrm>
            <a:off x="1602666" y="2759980"/>
            <a:ext cx="360000" cy="0"/>
          </a:xfrm>
          <a:prstGeom prst="straightConnector1">
            <a:avLst/>
          </a:prstGeom>
          <a:ln w="9525">
            <a:headEnd type="none" w="med" len="sm"/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54" name="Rechteck: abgerundete Ecken 153">
            <a:extLst>
              <a:ext uri="{FF2B5EF4-FFF2-40B4-BE49-F238E27FC236}">
                <a16:creationId xmlns:a16="http://schemas.microsoft.com/office/drawing/2014/main" id="{7CFC6C42-0956-8222-76C3-AA89800737DE}"/>
              </a:ext>
            </a:extLst>
          </p:cNvPr>
          <p:cNvSpPr/>
          <p:nvPr/>
        </p:nvSpPr>
        <p:spPr>
          <a:xfrm>
            <a:off x="520579" y="4746513"/>
            <a:ext cx="1164100" cy="719155"/>
          </a:xfrm>
          <a:prstGeom prst="roundRect">
            <a:avLst>
              <a:gd name="adj" fmla="val 9648"/>
            </a:avLst>
          </a:prstGeom>
          <a:solidFill>
            <a:srgbClr val="667D85"/>
          </a:solidFill>
          <a:ln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36000" rtlCol="0" anchor="t"/>
          <a:lstStyle/>
          <a:p>
            <a:pPr>
              <a:defRPr/>
            </a:pPr>
            <a:r>
              <a:rPr kumimoji="0" lang="e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  <a:t>CARPORT</a:t>
            </a:r>
            <a:br>
              <a:rPr kumimoji="0" lang="e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</a:br>
            <a:r>
              <a:rPr lang="en" sz="1000">
                <a:solidFill>
                  <a:schemeClr val="tx1"/>
                </a:solidFill>
                <a:latin typeface="VWAG TheSans"/>
              </a:rPr>
              <a:t>Scraped </a:t>
            </a:r>
            <a:br>
              <a:rPr lang="en" sz="1000">
                <a:solidFill>
                  <a:schemeClr val="tx1"/>
                </a:solidFill>
                <a:latin typeface="VWAG TheSans"/>
              </a:rPr>
            </a:br>
            <a:r>
              <a:rPr lang="en" sz="1000">
                <a:solidFill>
                  <a:schemeClr val="tx1"/>
                </a:solidFill>
                <a:latin typeface="VWAG TheSans"/>
              </a:rPr>
              <a:t>Development</a:t>
            </a:r>
          </a:p>
          <a:p>
            <a:pPr>
              <a:defRPr/>
            </a:pPr>
            <a:r>
              <a:rPr kumimoji="0" lang="en" sz="10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  <a:t>Tunning Vehicle</a:t>
            </a:r>
            <a:br>
              <a:rPr kumimoji="0" lang="en" sz="10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</a:br>
            <a:br>
              <a:rPr kumimoji="0" lang="e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</a:br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he Group TEXT"/>
              <a:ea typeface="+mn-ea"/>
              <a:cs typeface="+mn-cs"/>
            </a:endParaRPr>
          </a:p>
        </p:txBody>
      </p:sp>
      <p:cxnSp>
        <p:nvCxnSpPr>
          <p:cNvPr id="155" name="Gerade Verbindung mit Pfeil 154">
            <a:extLst>
              <a:ext uri="{FF2B5EF4-FFF2-40B4-BE49-F238E27FC236}">
                <a16:creationId xmlns:a16="http://schemas.microsoft.com/office/drawing/2014/main" id="{6A3BE8F4-2F29-999B-D75F-7D1687E6BC59}"/>
              </a:ext>
            </a:extLst>
          </p:cNvPr>
          <p:cNvCxnSpPr>
            <a:cxnSpLocks/>
          </p:cNvCxnSpPr>
          <p:nvPr/>
        </p:nvCxnSpPr>
        <p:spPr>
          <a:xfrm>
            <a:off x="1638490" y="5114082"/>
            <a:ext cx="360000" cy="0"/>
          </a:xfrm>
          <a:prstGeom prst="straightConnector1">
            <a:avLst/>
          </a:prstGeom>
          <a:ln w="9525">
            <a:headEnd type="none" w="med" len="sm"/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60" name="Rechteck: abgerundete Ecken 159">
            <a:extLst>
              <a:ext uri="{FF2B5EF4-FFF2-40B4-BE49-F238E27FC236}">
                <a16:creationId xmlns:a16="http://schemas.microsoft.com/office/drawing/2014/main" id="{D6A041B8-8E3A-C7F8-D096-121EC38CFD69}"/>
              </a:ext>
            </a:extLst>
          </p:cNvPr>
          <p:cNvSpPr/>
          <p:nvPr/>
        </p:nvSpPr>
        <p:spPr>
          <a:xfrm>
            <a:off x="10569970" y="1856808"/>
            <a:ext cx="1164100" cy="501140"/>
          </a:xfrm>
          <a:prstGeom prst="roundRect">
            <a:avLst>
              <a:gd name="adj" fmla="val 9648"/>
            </a:avLst>
          </a:prstGeom>
          <a:solidFill>
            <a:srgbClr val="667D85"/>
          </a:solidFill>
          <a:ln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>
              <a:defRPr/>
            </a:pPr>
            <a:r>
              <a:rPr kumimoji="0" lang="e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  <a:t>CARPORT</a:t>
            </a:r>
            <a:br>
              <a:rPr kumimoji="0" lang="e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</a:br>
            <a:r>
              <a:rPr kumimoji="0" lang="en" sz="10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  <a:t>assigned Dealer</a:t>
            </a:r>
            <a:br>
              <a:rPr kumimoji="0" lang="e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</a:br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he Group TEXT"/>
              <a:ea typeface="+mn-ea"/>
              <a:cs typeface="+mn-cs"/>
            </a:endParaRPr>
          </a:p>
        </p:txBody>
      </p:sp>
      <p:cxnSp>
        <p:nvCxnSpPr>
          <p:cNvPr id="162" name="Gerade Verbindung mit Pfeil 161">
            <a:extLst>
              <a:ext uri="{FF2B5EF4-FFF2-40B4-BE49-F238E27FC236}">
                <a16:creationId xmlns:a16="http://schemas.microsoft.com/office/drawing/2014/main" id="{0A24E140-D63D-08BC-EFA0-98AA15EB9066}"/>
              </a:ext>
            </a:extLst>
          </p:cNvPr>
          <p:cNvCxnSpPr>
            <a:cxnSpLocks/>
          </p:cNvCxnSpPr>
          <p:nvPr/>
        </p:nvCxnSpPr>
        <p:spPr>
          <a:xfrm>
            <a:off x="10180085" y="2142854"/>
            <a:ext cx="396000" cy="0"/>
          </a:xfrm>
          <a:prstGeom prst="straightConnector1">
            <a:avLst/>
          </a:prstGeom>
          <a:ln w="9525">
            <a:headEnd type="none" w="med" len="sm"/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19" name="Rechteck: abgerundete Ecken 118">
            <a:extLst>
              <a:ext uri="{FF2B5EF4-FFF2-40B4-BE49-F238E27FC236}">
                <a16:creationId xmlns:a16="http://schemas.microsoft.com/office/drawing/2014/main" id="{3A07617B-F6CE-87B7-030F-9FF0C6DE7D7A}"/>
              </a:ext>
            </a:extLst>
          </p:cNvPr>
          <p:cNvSpPr/>
          <p:nvPr/>
        </p:nvSpPr>
        <p:spPr>
          <a:xfrm>
            <a:off x="9839642" y="1871752"/>
            <a:ext cx="547589" cy="2569554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rgbClr val="C2FE06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0" rIns="36000" bIns="180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1" u="none" strike="noStrike" kern="1200" cap="none" spc="0" normalizeH="0" baseline="0" noProof="0">
                <a:ln>
                  <a:noFill/>
                </a:ln>
                <a:solidFill>
                  <a:srgbClr val="C2FE06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RVS</a:t>
            </a:r>
          </a:p>
        </p:txBody>
      </p:sp>
      <p:sp>
        <p:nvSpPr>
          <p:cNvPr id="163" name="Rechteck: abgerundete Ecken 162">
            <a:extLst>
              <a:ext uri="{FF2B5EF4-FFF2-40B4-BE49-F238E27FC236}">
                <a16:creationId xmlns:a16="http://schemas.microsoft.com/office/drawing/2014/main" id="{DF8DEC8F-3CDA-D632-B70D-FD01CF8D365E}"/>
              </a:ext>
            </a:extLst>
          </p:cNvPr>
          <p:cNvSpPr/>
          <p:nvPr/>
        </p:nvSpPr>
        <p:spPr>
          <a:xfrm>
            <a:off x="10558618" y="4192421"/>
            <a:ext cx="1164100" cy="248382"/>
          </a:xfrm>
          <a:prstGeom prst="roundRect">
            <a:avLst>
              <a:gd name="adj" fmla="val 9648"/>
            </a:avLst>
          </a:prstGeom>
          <a:solidFill>
            <a:srgbClr val="667D85"/>
          </a:solidFill>
          <a:ln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>
              <a:defRPr/>
            </a:pPr>
            <a:r>
              <a:rPr lang="de-DE" sz="1400">
                <a:solidFill>
                  <a:schemeClr val="tx1"/>
                </a:solidFill>
                <a:latin typeface="VWAG TheSans"/>
              </a:rPr>
              <a:t>DPMP</a:t>
            </a:r>
          </a:p>
        </p:txBody>
      </p:sp>
      <p:cxnSp>
        <p:nvCxnSpPr>
          <p:cNvPr id="164" name="Gerade Verbindung mit Pfeil 163">
            <a:extLst>
              <a:ext uri="{FF2B5EF4-FFF2-40B4-BE49-F238E27FC236}">
                <a16:creationId xmlns:a16="http://schemas.microsoft.com/office/drawing/2014/main" id="{3F49E752-EC09-0D87-4C80-8D5724DAC723}"/>
              </a:ext>
            </a:extLst>
          </p:cNvPr>
          <p:cNvCxnSpPr>
            <a:cxnSpLocks/>
          </p:cNvCxnSpPr>
          <p:nvPr/>
        </p:nvCxnSpPr>
        <p:spPr>
          <a:xfrm flipV="1">
            <a:off x="10346013" y="4300531"/>
            <a:ext cx="193450" cy="3321"/>
          </a:xfrm>
          <a:prstGeom prst="straightConnector1">
            <a:avLst/>
          </a:prstGeom>
          <a:ln w="9525">
            <a:headEnd type="none" w="med" len="sm"/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251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5935D4D-2B60-FB98-0322-C411F7D5A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0D193CBE-ECB3-5886-5BD3-44858C50522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631044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D193CBE-ECB3-5886-5BD3-44858C5052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9" name="Rechteck: abgerundete Ecken 168">
            <a:extLst>
              <a:ext uri="{FF2B5EF4-FFF2-40B4-BE49-F238E27FC236}">
                <a16:creationId xmlns:a16="http://schemas.microsoft.com/office/drawing/2014/main" id="{76209DBD-484A-52E0-DEF3-18E990FCD62E}"/>
              </a:ext>
            </a:extLst>
          </p:cNvPr>
          <p:cNvSpPr/>
          <p:nvPr/>
        </p:nvSpPr>
        <p:spPr>
          <a:xfrm>
            <a:off x="9919468" y="1032319"/>
            <a:ext cx="2074856" cy="5583818"/>
          </a:xfrm>
          <a:prstGeom prst="roundRect">
            <a:avLst>
              <a:gd name="adj" fmla="val 5494"/>
            </a:avLst>
          </a:prstGeom>
          <a:solidFill>
            <a:srgbClr val="22454E"/>
          </a:solidFill>
          <a:ln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>
              <a:defRPr/>
            </a:pPr>
            <a:r>
              <a:rPr lang="en" sz="1400" b="1">
                <a:solidFill>
                  <a:schemeClr val="tx1"/>
                </a:solidFill>
                <a:latin typeface="VWAG TheSans"/>
              </a:rPr>
              <a:t>R</a:t>
            </a:r>
            <a:r>
              <a:rPr kumimoji="0" lang="e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  <a:t>ecipients</a:t>
            </a:r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he Group TEXT"/>
              <a:ea typeface="+mn-ea"/>
              <a:cs typeface="+mn-cs"/>
            </a:endParaRPr>
          </a:p>
        </p:txBody>
      </p:sp>
      <p:sp>
        <p:nvSpPr>
          <p:cNvPr id="47" name="Rechteck: abgerundete Ecken 46">
            <a:extLst>
              <a:ext uri="{FF2B5EF4-FFF2-40B4-BE49-F238E27FC236}">
                <a16:creationId xmlns:a16="http://schemas.microsoft.com/office/drawing/2014/main" id="{C058F41C-1BDE-1833-58E1-D2A98317E532}"/>
              </a:ext>
            </a:extLst>
          </p:cNvPr>
          <p:cNvSpPr/>
          <p:nvPr/>
        </p:nvSpPr>
        <p:spPr>
          <a:xfrm>
            <a:off x="10747130" y="2956260"/>
            <a:ext cx="1176690" cy="1119939"/>
          </a:xfrm>
          <a:prstGeom prst="roundRect">
            <a:avLst>
              <a:gd name="adj" fmla="val 5560"/>
            </a:avLst>
          </a:prstGeom>
          <a:solidFill>
            <a:srgbClr val="667D85"/>
          </a:solidFill>
          <a:ln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>
              <a:defRPr/>
            </a:pPr>
            <a:r>
              <a:rPr kumimoji="0" lang="e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  <a:t>ORU</a:t>
            </a:r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he Group TEXT"/>
              <a:ea typeface="+mn-ea"/>
              <a:cs typeface="+mn-cs"/>
            </a:endParaRPr>
          </a:p>
        </p:txBody>
      </p:sp>
      <p:sp>
        <p:nvSpPr>
          <p:cNvPr id="18" name="Textplatzhalter 125">
            <a:extLst>
              <a:ext uri="{FF2B5EF4-FFF2-40B4-BE49-F238E27FC236}">
                <a16:creationId xmlns:a16="http://schemas.microsoft.com/office/drawing/2014/main" id="{F255D846-D413-D8F5-E45B-945C50A1B71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6400" y="1056085"/>
            <a:ext cx="11380751" cy="246221"/>
          </a:xfrm>
        </p:spPr>
        <p:txBody>
          <a:bodyPr/>
          <a:lstStyle/>
          <a:p>
            <a:r>
              <a:rPr lang="en-US" sz="1600">
                <a:solidFill>
                  <a:srgbClr val="C2FE06"/>
                </a:solidFill>
              </a:rPr>
              <a:t>parallel operation of both ORU – Interfaces, Replacement CARPORT by GVF, latest Ende 2027</a:t>
            </a:r>
            <a:endParaRPr lang="de-DE" sz="1600">
              <a:solidFill>
                <a:srgbClr val="C2FE06"/>
              </a:solidFill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8CE2580C-C5EF-971E-6794-CC476430D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>
            <a:spAutoFit/>
          </a:bodyPr>
          <a:lstStyle/>
          <a:p>
            <a:r>
              <a:rPr lang="de-DE"/>
              <a:t>High </a:t>
            </a:r>
            <a:r>
              <a:rPr lang="de-DE" err="1"/>
              <a:t>level</a:t>
            </a:r>
            <a:r>
              <a:rPr lang="de-DE"/>
              <a:t> </a:t>
            </a:r>
            <a:r>
              <a:rPr lang="de-DE" err="1"/>
              <a:t>Architectural</a:t>
            </a:r>
            <a:r>
              <a:rPr lang="de-DE"/>
              <a:t> Concept  - Concept to Support RVT</a:t>
            </a:r>
          </a:p>
        </p:txBody>
      </p:sp>
      <p:sp>
        <p:nvSpPr>
          <p:cNvPr id="35" name="Rechteck: abgerundete Ecken 34">
            <a:extLst>
              <a:ext uri="{FF2B5EF4-FFF2-40B4-BE49-F238E27FC236}">
                <a16:creationId xmlns:a16="http://schemas.microsoft.com/office/drawing/2014/main" id="{3A444F42-F9BA-74D0-3154-B585E9DFCD19}"/>
              </a:ext>
            </a:extLst>
          </p:cNvPr>
          <p:cNvSpPr/>
          <p:nvPr/>
        </p:nvSpPr>
        <p:spPr>
          <a:xfrm>
            <a:off x="168436" y="1512215"/>
            <a:ext cx="2244161" cy="5103920"/>
          </a:xfrm>
          <a:prstGeom prst="roundRect">
            <a:avLst>
              <a:gd name="adj" fmla="val 5494"/>
            </a:avLst>
          </a:prstGeom>
          <a:solidFill>
            <a:srgbClr val="22454E"/>
          </a:solidFill>
          <a:ln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>
              <a:defRPr/>
            </a:pPr>
            <a:r>
              <a:rPr lang="en" sz="1400" b="1">
                <a:solidFill>
                  <a:schemeClr val="tx1"/>
                </a:solidFill>
                <a:latin typeface="VWAG TheSans"/>
              </a:rPr>
              <a:t>Sources</a:t>
            </a:r>
            <a:r>
              <a:rPr kumimoji="0" lang="e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  <a:t> </a:t>
            </a:r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he Group TEXT"/>
              <a:ea typeface="+mn-ea"/>
              <a:cs typeface="+mn-cs"/>
            </a:endParaRPr>
          </a:p>
        </p:txBody>
      </p:sp>
      <p:sp>
        <p:nvSpPr>
          <p:cNvPr id="52" name="Rechteck: abgerundete Ecken 51">
            <a:extLst>
              <a:ext uri="{FF2B5EF4-FFF2-40B4-BE49-F238E27FC236}">
                <a16:creationId xmlns:a16="http://schemas.microsoft.com/office/drawing/2014/main" id="{083D6E50-C9F4-2BDB-3322-57BEDA63C9B9}"/>
              </a:ext>
            </a:extLst>
          </p:cNvPr>
          <p:cNvSpPr/>
          <p:nvPr/>
        </p:nvSpPr>
        <p:spPr>
          <a:xfrm>
            <a:off x="210154" y="1866659"/>
            <a:ext cx="1329461" cy="789607"/>
          </a:xfrm>
          <a:prstGeom prst="roundRect">
            <a:avLst>
              <a:gd name="adj" fmla="val 9648"/>
            </a:avLst>
          </a:prstGeom>
          <a:solidFill>
            <a:srgbClr val="667D85"/>
          </a:solidFill>
          <a:ln w="190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>
              <a:defRPr/>
            </a:pPr>
            <a:r>
              <a:rPr kumimoji="0" lang="e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  <a:t>ORU</a:t>
            </a:r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he Group TEXT"/>
              <a:ea typeface="+mn-ea"/>
              <a:cs typeface="+mn-cs"/>
            </a:endParaRPr>
          </a:p>
        </p:txBody>
      </p:sp>
      <p:sp>
        <p:nvSpPr>
          <p:cNvPr id="67" name="Rechteck: abgerundete Ecken 66">
            <a:extLst>
              <a:ext uri="{FF2B5EF4-FFF2-40B4-BE49-F238E27FC236}">
                <a16:creationId xmlns:a16="http://schemas.microsoft.com/office/drawing/2014/main" id="{4AA5EFE1-C9E8-61E8-428D-22D7E26497AB}"/>
              </a:ext>
            </a:extLst>
          </p:cNvPr>
          <p:cNvSpPr/>
          <p:nvPr/>
        </p:nvSpPr>
        <p:spPr>
          <a:xfrm>
            <a:off x="1684497" y="1866660"/>
            <a:ext cx="547589" cy="771672"/>
          </a:xfrm>
          <a:prstGeom prst="roundRect">
            <a:avLst>
              <a:gd name="adj" fmla="val 7390"/>
            </a:avLst>
          </a:prstGeom>
          <a:solidFill>
            <a:schemeClr val="accent5">
              <a:lumMod val="50000"/>
            </a:schemeClr>
          </a:solidFill>
          <a:ln>
            <a:solidFill>
              <a:srgbClr val="C2FE06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0" rIns="36000" bIns="180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1" u="none" strike="noStrike" kern="1200" cap="none" spc="0" normalizeH="0" baseline="0" noProof="0">
                <a:ln>
                  <a:noFill/>
                </a:ln>
                <a:solidFill>
                  <a:srgbClr val="C2FE06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GSB</a:t>
            </a:r>
          </a:p>
        </p:txBody>
      </p:sp>
      <p:cxnSp>
        <p:nvCxnSpPr>
          <p:cNvPr id="68" name="Verbinder: gewinkelt 67">
            <a:extLst>
              <a:ext uri="{FF2B5EF4-FFF2-40B4-BE49-F238E27FC236}">
                <a16:creationId xmlns:a16="http://schemas.microsoft.com/office/drawing/2014/main" id="{26B46281-22C4-48DE-2236-51FFDC4DD098}"/>
              </a:ext>
            </a:extLst>
          </p:cNvPr>
          <p:cNvCxnSpPr>
            <a:cxnSpLocks/>
            <a:stCxn id="75" idx="3"/>
            <a:endCxn id="104" idx="1"/>
          </p:cNvCxnSpPr>
          <p:nvPr/>
        </p:nvCxnSpPr>
        <p:spPr>
          <a:xfrm flipV="1">
            <a:off x="2252994" y="2656747"/>
            <a:ext cx="371000" cy="2877996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accent5"/>
            </a:solidFill>
            <a:headEnd type="none" w="med" len="sm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3" name="Verbinder: gewinkelt 72">
            <a:extLst>
              <a:ext uri="{FF2B5EF4-FFF2-40B4-BE49-F238E27FC236}">
                <a16:creationId xmlns:a16="http://schemas.microsoft.com/office/drawing/2014/main" id="{839BBC8D-3F5C-949A-3B1F-914F96FFBA96}"/>
              </a:ext>
            </a:extLst>
          </p:cNvPr>
          <p:cNvCxnSpPr>
            <a:cxnSpLocks/>
            <a:stCxn id="82" idx="3"/>
            <a:endCxn id="104" idx="1"/>
          </p:cNvCxnSpPr>
          <p:nvPr/>
        </p:nvCxnSpPr>
        <p:spPr>
          <a:xfrm flipV="1">
            <a:off x="2238760" y="2656747"/>
            <a:ext cx="385234" cy="91403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accent5"/>
            </a:solidFill>
            <a:headEnd type="none" w="med" len="sm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8" name="Gerade Verbindung mit Pfeil 97">
            <a:extLst>
              <a:ext uri="{FF2B5EF4-FFF2-40B4-BE49-F238E27FC236}">
                <a16:creationId xmlns:a16="http://schemas.microsoft.com/office/drawing/2014/main" id="{5FA3ACCD-139A-114A-E024-BA810A2066BF}"/>
              </a:ext>
            </a:extLst>
          </p:cNvPr>
          <p:cNvCxnSpPr>
            <a:cxnSpLocks/>
          </p:cNvCxnSpPr>
          <p:nvPr/>
        </p:nvCxnSpPr>
        <p:spPr>
          <a:xfrm>
            <a:off x="1297013" y="2323140"/>
            <a:ext cx="360000" cy="0"/>
          </a:xfrm>
          <a:prstGeom prst="straightConnector1">
            <a:avLst/>
          </a:prstGeom>
          <a:ln w="9525">
            <a:headEnd type="none" w="med" len="sm"/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11" name="Gerade Verbindung mit Pfeil 110">
            <a:extLst>
              <a:ext uri="{FF2B5EF4-FFF2-40B4-BE49-F238E27FC236}">
                <a16:creationId xmlns:a16="http://schemas.microsoft.com/office/drawing/2014/main" id="{944DD729-68FD-2E3F-8C22-ED4F56C6673C}"/>
              </a:ext>
            </a:extLst>
          </p:cNvPr>
          <p:cNvCxnSpPr>
            <a:cxnSpLocks/>
          </p:cNvCxnSpPr>
          <p:nvPr/>
        </p:nvCxnSpPr>
        <p:spPr>
          <a:xfrm>
            <a:off x="1297013" y="2504115"/>
            <a:ext cx="360000" cy="0"/>
          </a:xfrm>
          <a:prstGeom prst="straightConnector1">
            <a:avLst/>
          </a:prstGeom>
          <a:ln w="9525">
            <a:headEnd type="none" w="med" len="sm"/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6" name="Rechteck 5">
            <a:extLst>
              <a:ext uri="{FF2B5EF4-FFF2-40B4-BE49-F238E27FC236}">
                <a16:creationId xmlns:a16="http://schemas.microsoft.com/office/drawing/2014/main" id="{4DCEB0F0-FA29-2435-654E-A74ADAF3707F}"/>
              </a:ext>
            </a:extLst>
          </p:cNvPr>
          <p:cNvSpPr/>
          <p:nvPr/>
        </p:nvSpPr>
        <p:spPr>
          <a:xfrm>
            <a:off x="2609820" y="3873987"/>
            <a:ext cx="7019408" cy="1165292"/>
          </a:xfrm>
          <a:prstGeom prst="rect">
            <a:avLst/>
          </a:prstGeom>
          <a:solidFill>
            <a:srgbClr val="20607E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216000" rIns="216000" bIns="216000" rtlCol="0" anchor="t"/>
          <a:lstStyle/>
          <a:p>
            <a:pPr algn="l" defTabSz="432000">
              <a:spcAft>
                <a:spcPts val="600"/>
              </a:spcAft>
            </a:pPr>
            <a:endParaRPr lang="de-DE" sz="1400"/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2D8C40BC-B3EA-F3B9-6B28-5A8965971F6C}"/>
              </a:ext>
            </a:extLst>
          </p:cNvPr>
          <p:cNvSpPr txBox="1"/>
          <p:nvPr/>
        </p:nvSpPr>
        <p:spPr>
          <a:xfrm>
            <a:off x="5281506" y="2650843"/>
            <a:ext cx="950341" cy="29167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r>
              <a:rPr kumimoji="0" lang="en" sz="1400" b="0" i="0" u="none" strike="noStrike" kern="1200" cap="none" spc="0" normalizeH="0" baseline="0" noProof="0" err="1">
                <a:ln>
                  <a:noFill/>
                </a:ln>
                <a:solidFill>
                  <a:srgbClr val="004666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  <a:t>using COGNOS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br>
              <a:rPr kumimoji="0" lang="de-DE" sz="1000" b="0" i="0" u="none" strike="noStrike" kern="1200" cap="none" spc="0" normalizeH="0" baseline="0" noProof="0">
                <a:ln>
                  <a:noFill/>
                </a:ln>
                <a:solidFill>
                  <a:srgbClr val="004666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</a:br>
            <a:r>
              <a:rPr kumimoji="0" lang="de-DE" sz="1000" b="0" i="0" u="none" strike="noStrike" kern="1200" cap="none" spc="0" normalizeH="0" baseline="0" noProof="0">
                <a:ln>
                  <a:noFill/>
                </a:ln>
                <a:solidFill>
                  <a:srgbClr val="004666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  <a:t>-   </a:t>
            </a: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srgbClr val="004666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  <a:t>Identification of </a:t>
            </a:r>
            <a:b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srgbClr val="004666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</a:b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srgbClr val="004666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  <a:t>     customer vehicles </a:t>
            </a:r>
            <a:b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srgbClr val="004666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</a:br>
            <a:r>
              <a:rPr kumimoji="0" lang="en" sz="1000" b="0" i="0" u="none" strike="noStrike" kern="1200" cap="none" spc="0" normalizeH="0" baseline="0" noProof="0">
                <a:ln>
                  <a:noFill/>
                </a:ln>
                <a:solidFill>
                  <a:srgbClr val="004666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  <a:t>     affected by a compaign </a:t>
            </a:r>
            <a:br>
              <a:rPr kumimoji="0" lang="de-DE" sz="1000" b="0" i="0" u="none" strike="noStrike" kern="1200" cap="none" spc="0" normalizeH="0" baseline="0" noProof="0">
                <a:ln>
                  <a:noFill/>
                </a:ln>
                <a:solidFill>
                  <a:srgbClr val="004666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</a:br>
            <a:br>
              <a:rPr kumimoji="0" lang="de-DE" sz="1000" b="0" i="0" u="none" strike="noStrike" kern="1200" cap="none" spc="0" normalizeH="0" baseline="0" noProof="0">
                <a:ln>
                  <a:noFill/>
                </a:ln>
                <a:solidFill>
                  <a:srgbClr val="80B0C8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</a:br>
            <a:endParaRPr kumimoji="0" lang="de-DE" sz="1000" b="0" i="0" u="none" strike="noStrike" kern="1200" cap="none" spc="0" normalizeH="0" baseline="0" noProof="0">
              <a:ln>
                <a:noFill/>
              </a:ln>
              <a:solidFill>
                <a:srgbClr val="80B0C8"/>
              </a:solidFill>
              <a:effectLst/>
              <a:uLnTx/>
              <a:uFillTx/>
              <a:latin typeface="VWAG TheSans"/>
              <a:ea typeface="+mn-ea"/>
              <a:cs typeface="+mn-cs"/>
            </a:endParaRPr>
          </a:p>
        </p:txBody>
      </p:sp>
      <p:pic>
        <p:nvPicPr>
          <p:cNvPr id="41" name="Grafik 40">
            <a:extLst>
              <a:ext uri="{FF2B5EF4-FFF2-40B4-BE49-F238E27FC236}">
                <a16:creationId xmlns:a16="http://schemas.microsoft.com/office/drawing/2014/main" id="{A5DBACE8-23F0-B1B7-632E-31769F4441F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6316" y="2587472"/>
            <a:ext cx="497367" cy="502341"/>
          </a:xfrm>
          <a:prstGeom prst="rect">
            <a:avLst/>
          </a:prstGeom>
        </p:spPr>
      </p:pic>
      <p:cxnSp>
        <p:nvCxnSpPr>
          <p:cNvPr id="83" name="Gerade Verbindung mit Pfeil 82">
            <a:extLst>
              <a:ext uri="{FF2B5EF4-FFF2-40B4-BE49-F238E27FC236}">
                <a16:creationId xmlns:a16="http://schemas.microsoft.com/office/drawing/2014/main" id="{CC5AC2B2-5E58-7994-F53A-3BE1B13249CD}"/>
              </a:ext>
            </a:extLst>
          </p:cNvPr>
          <p:cNvCxnSpPr>
            <a:cxnSpLocks/>
          </p:cNvCxnSpPr>
          <p:nvPr/>
        </p:nvCxnSpPr>
        <p:spPr>
          <a:xfrm flipV="1">
            <a:off x="6609528" y="2474706"/>
            <a:ext cx="0" cy="321313"/>
          </a:xfrm>
          <a:prstGeom prst="straightConnector1">
            <a:avLst/>
          </a:prstGeom>
          <a:ln>
            <a:headEnd type="none" w="med" len="sm"/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04" name="Rechteck: abgerundete Ecken 103">
            <a:extLst>
              <a:ext uri="{FF2B5EF4-FFF2-40B4-BE49-F238E27FC236}">
                <a16:creationId xmlns:a16="http://schemas.microsoft.com/office/drawing/2014/main" id="{ED243A48-556B-B82C-45F1-86921A12B847}"/>
              </a:ext>
            </a:extLst>
          </p:cNvPr>
          <p:cNvSpPr/>
          <p:nvPr/>
        </p:nvSpPr>
        <p:spPr>
          <a:xfrm>
            <a:off x="2623994" y="1512215"/>
            <a:ext cx="6991060" cy="2289063"/>
          </a:xfrm>
          <a:prstGeom prst="roundRect">
            <a:avLst>
              <a:gd name="adj" fmla="val 5494"/>
            </a:avLst>
          </a:prstGeom>
          <a:solidFill>
            <a:srgbClr val="667D85"/>
          </a:solidFill>
          <a:ln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t"/>
          <a:lstStyle/>
          <a:p>
            <a:pPr>
              <a:defRPr/>
            </a:pPr>
            <a:r>
              <a:rPr kumimoji="0" lang="e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  <a:t>ReCall 2 </a:t>
            </a:r>
            <a:r>
              <a:rPr kumimoji="0" lang="e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  <a:t>– </a:t>
            </a:r>
            <a:r>
              <a:rPr lang="en" sz="1400">
                <a:solidFill>
                  <a:schemeClr val="tx1"/>
                </a:solidFill>
                <a:latin typeface="VWAG TheSans"/>
              </a:rPr>
              <a:t>Worldwide</a:t>
            </a:r>
            <a:r>
              <a:rPr kumimoji="0" lang="e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  <a:t> – in all Group </a:t>
            </a:r>
            <a:r>
              <a:rPr lang="en" sz="1400">
                <a:solidFill>
                  <a:schemeClr val="tx1"/>
                </a:solidFill>
                <a:latin typeface="VWAG TheSans"/>
              </a:rPr>
              <a:t>Brands</a:t>
            </a:r>
            <a:r>
              <a:rPr kumimoji="0" lang="e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  <a:t> and </a:t>
            </a:r>
            <a:r>
              <a:rPr lang="en" sz="1400">
                <a:solidFill>
                  <a:schemeClr val="tx1"/>
                </a:solidFill>
                <a:latin typeface="VWAG TheSans"/>
              </a:rPr>
              <a:t>Regions </a:t>
            </a:r>
            <a:endParaRPr kumimoji="0" lang="e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WAG TheSans"/>
              <a:ea typeface="+mn-ea"/>
              <a:cs typeface="+mn-cs"/>
            </a:endParaRPr>
          </a:p>
          <a:p>
            <a:pPr>
              <a:defRPr/>
            </a:pPr>
            <a:r>
              <a:rPr kumimoji="0" lang="en" sz="1400" b="0" i="1" u="none" strike="noStrike" kern="1200" cap="none" spc="0" normalizeH="0" baseline="0" noProof="0">
                <a:ln>
                  <a:noFill/>
                </a:ln>
                <a:solidFill>
                  <a:srgbClr val="C2FE06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  <a:t>AWS hosted FR, </a:t>
            </a:r>
            <a:r>
              <a:rPr lang="en" sz="1400" i="1">
                <a:solidFill>
                  <a:srgbClr val="C2FE06"/>
                </a:solidFill>
                <a:latin typeface="VWAG TheSans"/>
              </a:rPr>
              <a:t>Vanguard</a:t>
            </a:r>
            <a:endParaRPr kumimoji="0" lang="de-DE" sz="1400" b="0" i="1" u="none" strike="noStrike" kern="1200" cap="none" spc="0" normalizeH="0" baseline="0" noProof="0">
              <a:ln>
                <a:noFill/>
              </a:ln>
              <a:solidFill>
                <a:srgbClr val="C2FE06"/>
              </a:solidFill>
              <a:effectLst/>
              <a:uLnTx/>
              <a:uFillTx/>
              <a:latin typeface="The Group TEXT"/>
              <a:ea typeface="+mn-ea"/>
              <a:cs typeface="+mn-cs"/>
            </a:endParaRPr>
          </a:p>
        </p:txBody>
      </p:sp>
      <p:sp>
        <p:nvSpPr>
          <p:cNvPr id="105" name="Rechteck: abgerundete Ecken 104">
            <a:extLst>
              <a:ext uri="{FF2B5EF4-FFF2-40B4-BE49-F238E27FC236}">
                <a16:creationId xmlns:a16="http://schemas.microsoft.com/office/drawing/2014/main" id="{C6D3264D-4689-2724-F77D-05CA6E80C413}"/>
              </a:ext>
            </a:extLst>
          </p:cNvPr>
          <p:cNvSpPr/>
          <p:nvPr/>
        </p:nvSpPr>
        <p:spPr>
          <a:xfrm>
            <a:off x="2727518" y="2217972"/>
            <a:ext cx="1656000" cy="1111530"/>
          </a:xfrm>
          <a:prstGeom prst="roundRect">
            <a:avLst>
              <a:gd name="adj" fmla="val 9678"/>
            </a:avLst>
          </a:prstGeom>
          <a:solidFill>
            <a:schemeClr val="accent3">
              <a:lumMod val="50000"/>
            </a:schemeClr>
          </a:solidFill>
          <a:ln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180000" rtlCol="0" anchor="t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SCS</a:t>
            </a:r>
            <a:b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</a:br>
            <a:r>
              <a:rPr kumimoji="0" lang="de-DE" sz="12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Notification</a:t>
            </a:r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he Group TEXT"/>
              <a:ea typeface="+mn-ea"/>
              <a:cs typeface="+mn-cs"/>
            </a:endParaRPr>
          </a:p>
        </p:txBody>
      </p:sp>
      <p:sp>
        <p:nvSpPr>
          <p:cNvPr id="106" name="Rechteck: abgerundete Ecken 105">
            <a:extLst>
              <a:ext uri="{FF2B5EF4-FFF2-40B4-BE49-F238E27FC236}">
                <a16:creationId xmlns:a16="http://schemas.microsoft.com/office/drawing/2014/main" id="{BAC7E707-0F9B-42A4-3582-261CEC091442}"/>
              </a:ext>
            </a:extLst>
          </p:cNvPr>
          <p:cNvSpPr/>
          <p:nvPr/>
        </p:nvSpPr>
        <p:spPr>
          <a:xfrm>
            <a:off x="4425119" y="2217972"/>
            <a:ext cx="1656000" cy="1111530"/>
          </a:xfrm>
          <a:prstGeom prst="roundRect">
            <a:avLst>
              <a:gd name="adj" fmla="val 9678"/>
            </a:avLst>
          </a:prstGeom>
          <a:solidFill>
            <a:schemeClr val="accent3">
              <a:lumMod val="50000"/>
            </a:schemeClr>
          </a:solidFill>
          <a:ln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>
              <a:defRPr/>
            </a:pPr>
            <a:r>
              <a:rPr kumimoji="0" lang="de-DE" sz="12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SCS‘s</a:t>
            </a: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 -  Modul 1: </a:t>
            </a:r>
            <a:r>
              <a:rPr lang="en" sz="1200">
                <a:latin typeface="+mj-lt"/>
              </a:rPr>
              <a:t>Safety and compliance </a:t>
            </a:r>
            <a:r>
              <a:rPr lang="de-DE" sz="1200" err="1">
                <a:latin typeface="+mj-lt"/>
              </a:rPr>
              <a:t>decision</a:t>
            </a:r>
            <a:r>
              <a:rPr lang="de-DE" sz="1200">
                <a:latin typeface="+mj-lt"/>
              </a:rPr>
              <a:t> </a:t>
            </a:r>
            <a:r>
              <a:rPr lang="de-DE" sz="1200" err="1">
                <a:latin typeface="+mj-lt"/>
              </a:rPr>
              <a:t>made</a:t>
            </a:r>
            <a:r>
              <a:rPr lang="de-DE" sz="1200">
                <a:latin typeface="+mj-lt"/>
              </a:rPr>
              <a:t> by the PSC</a:t>
            </a:r>
            <a:endParaRPr lang="en-GB" sz="1200">
              <a:latin typeface="+mj-lt"/>
            </a:endParaRPr>
          </a:p>
        </p:txBody>
      </p:sp>
      <p:sp>
        <p:nvSpPr>
          <p:cNvPr id="107" name="Rechteck: abgerundete Ecken 106">
            <a:extLst>
              <a:ext uri="{FF2B5EF4-FFF2-40B4-BE49-F238E27FC236}">
                <a16:creationId xmlns:a16="http://schemas.microsoft.com/office/drawing/2014/main" id="{1A7A2A30-49BC-3A07-5FFA-8D5CB8542E39}"/>
              </a:ext>
            </a:extLst>
          </p:cNvPr>
          <p:cNvSpPr/>
          <p:nvPr/>
        </p:nvSpPr>
        <p:spPr>
          <a:xfrm>
            <a:off x="6131384" y="2212834"/>
            <a:ext cx="1656000" cy="1111530"/>
          </a:xfrm>
          <a:prstGeom prst="roundRect">
            <a:avLst>
              <a:gd name="adj" fmla="val 9678"/>
            </a:avLst>
          </a:prstGeom>
          <a:solidFill>
            <a:schemeClr val="accent3">
              <a:lumMod val="50000"/>
            </a:schemeClr>
          </a:solidFill>
          <a:ln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SCS</a:t>
            </a:r>
            <a:r>
              <a:rPr lang="de-DE" sz="1200">
                <a:solidFill>
                  <a:srgbClr val="FFFFFF"/>
                </a:solidFill>
                <a:latin typeface="The Group TEXT"/>
              </a:rPr>
              <a:t> - </a:t>
            </a: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 Modul 2: </a:t>
            </a:r>
            <a:r>
              <a:rPr lang="de-DE" sz="1200">
                <a:latin typeface="+mj-lt"/>
              </a:rPr>
              <a:t>Field </a:t>
            </a:r>
            <a:r>
              <a:rPr lang="de-DE" sz="1200" err="1">
                <a:latin typeface="+mj-lt"/>
              </a:rPr>
              <a:t>Campaigns</a:t>
            </a:r>
            <a:endParaRPr lang="en-GB" sz="1200">
              <a:latin typeface="+mj-lt"/>
            </a:endParaRPr>
          </a:p>
        </p:txBody>
      </p:sp>
      <p:sp>
        <p:nvSpPr>
          <p:cNvPr id="28" name="Oval 6">
            <a:extLst>
              <a:ext uri="{FF2B5EF4-FFF2-40B4-BE49-F238E27FC236}">
                <a16:creationId xmlns:a16="http://schemas.microsoft.com/office/drawing/2014/main" id="{664944B5-AEC3-7F3B-93AE-795BB0527B01}"/>
              </a:ext>
            </a:extLst>
          </p:cNvPr>
          <p:cNvSpPr/>
          <p:nvPr/>
        </p:nvSpPr>
        <p:spPr>
          <a:xfrm>
            <a:off x="6163078" y="2705473"/>
            <a:ext cx="794655" cy="508964"/>
          </a:xfrm>
          <a:prstGeom prst="ellipse">
            <a:avLst/>
          </a:prstGeom>
          <a:solidFill>
            <a:srgbClr val="8CBE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  <a:t>BCAL</a:t>
            </a:r>
          </a:p>
        </p:txBody>
      </p: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F4CF1381-947D-AD99-036C-6F9B31A787B3}"/>
              </a:ext>
            </a:extLst>
          </p:cNvPr>
          <p:cNvGrpSpPr/>
          <p:nvPr/>
        </p:nvGrpSpPr>
        <p:grpSpPr>
          <a:xfrm>
            <a:off x="2678966" y="3928830"/>
            <a:ext cx="5272154" cy="1102620"/>
            <a:chOff x="3452830" y="4425717"/>
            <a:chExt cx="5272154" cy="1102620"/>
          </a:xfrm>
        </p:grpSpPr>
        <p:sp>
          <p:nvSpPr>
            <p:cNvPr id="57" name="Rechteck: abgerundete Ecken 56">
              <a:extLst>
                <a:ext uri="{FF2B5EF4-FFF2-40B4-BE49-F238E27FC236}">
                  <a16:creationId xmlns:a16="http://schemas.microsoft.com/office/drawing/2014/main" id="{4ADC42A7-E7A1-504E-9038-FEF6DA2556E3}"/>
                </a:ext>
              </a:extLst>
            </p:cNvPr>
            <p:cNvSpPr/>
            <p:nvPr/>
          </p:nvSpPr>
          <p:spPr>
            <a:xfrm>
              <a:off x="3452830" y="4425717"/>
              <a:ext cx="5272154" cy="1102620"/>
            </a:xfrm>
            <a:prstGeom prst="roundRect">
              <a:avLst>
                <a:gd name="adj" fmla="val 5001"/>
              </a:avLst>
            </a:prstGeom>
            <a:solidFill>
              <a:srgbClr val="99A9AD"/>
            </a:solidFill>
            <a:ln>
              <a:noFill/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36000" rIns="180000" bIns="180000" rtlCol="0" anchor="t"/>
            <a:lstStyle/>
            <a:p>
              <a:pPr>
                <a:defRPr/>
              </a:pPr>
              <a:r>
                <a:rPr kumimoji="0" lang="en" sz="1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WAG TheSans"/>
                  <a:ea typeface="+mn-ea"/>
                  <a:cs typeface="+mn-cs"/>
                </a:rPr>
                <a:t>GVF </a:t>
              </a:r>
              <a:r>
                <a:rPr kumimoji="0" lang="en" sz="1400" b="0" i="1" u="none" strike="noStrike" kern="1200" cap="none" spc="0" normalizeH="0" baseline="0" noProof="0">
                  <a:ln>
                    <a:noFill/>
                  </a:ln>
                  <a:solidFill>
                    <a:srgbClr val="C2FE06"/>
                  </a:solidFill>
                  <a:effectLst/>
                  <a:uLnTx/>
                  <a:uFillTx/>
                  <a:latin typeface="VWAG TheSans"/>
                  <a:ea typeface="+mn-ea"/>
                  <a:cs typeface="+mn-cs"/>
                </a:rPr>
                <a:t>AWS hosted </a:t>
              </a:r>
              <a:endParaRPr kumimoji="0" lang="de-DE" sz="1400" b="0" i="1" u="none" strike="noStrike" kern="1200" cap="none" spc="0" normalizeH="0" baseline="0" noProof="0">
                <a:ln>
                  <a:noFill/>
                </a:ln>
                <a:solidFill>
                  <a:srgbClr val="C2FE06"/>
                </a:solidFill>
                <a:effectLst/>
                <a:uLnTx/>
                <a:uFillTx/>
                <a:latin typeface="The Group TEXT"/>
                <a:ea typeface="+mn-ea"/>
                <a:cs typeface="+mn-cs"/>
              </a:endParaRPr>
            </a:p>
          </p:txBody>
        </p:sp>
        <p:sp>
          <p:nvSpPr>
            <p:cNvPr id="62" name="Rechteck 61">
              <a:extLst>
                <a:ext uri="{FF2B5EF4-FFF2-40B4-BE49-F238E27FC236}">
                  <a16:creationId xmlns:a16="http://schemas.microsoft.com/office/drawing/2014/main" id="{B144B416-CEFB-2A19-0CE5-021FA7799F26}"/>
                </a:ext>
              </a:extLst>
            </p:cNvPr>
            <p:cNvSpPr/>
            <p:nvPr/>
          </p:nvSpPr>
          <p:spPr>
            <a:xfrm>
              <a:off x="6252175" y="4790420"/>
              <a:ext cx="2388919" cy="687538"/>
            </a:xfrm>
            <a:prstGeom prst="rect">
              <a:avLst/>
            </a:prstGeom>
            <a:solidFill>
              <a:srgbClr val="667D85"/>
            </a:solidFill>
            <a:ln w="9525">
              <a:solidFill>
                <a:srgbClr val="C2FE06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ctr"/>
            <a:lstStyle/>
            <a:p>
              <a:pPr algn="ctr"/>
              <a:r>
                <a:rPr lang="de-DE" sz="1400" b="1">
                  <a:solidFill>
                    <a:schemeClr val="tx1"/>
                  </a:solidFill>
                </a:rPr>
                <a:t>Spiegel der GVF-Daten</a:t>
              </a:r>
              <a:endParaRPr lang="de-DE" sz="1400">
                <a:solidFill>
                  <a:srgbClr val="C2FE06"/>
                </a:solidFill>
              </a:endParaRPr>
            </a:p>
          </p:txBody>
        </p:sp>
        <p:sp>
          <p:nvSpPr>
            <p:cNvPr id="63" name="Chevron 76">
              <a:extLst>
                <a:ext uri="{FF2B5EF4-FFF2-40B4-BE49-F238E27FC236}">
                  <a16:creationId xmlns:a16="http://schemas.microsoft.com/office/drawing/2014/main" id="{38F21DC7-754A-C1A2-491D-58D3B8BD2256}"/>
                </a:ext>
              </a:extLst>
            </p:cNvPr>
            <p:cNvSpPr/>
            <p:nvPr/>
          </p:nvSpPr>
          <p:spPr>
            <a:xfrm>
              <a:off x="5739862" y="4821567"/>
              <a:ext cx="815347" cy="344512"/>
            </a:xfrm>
            <a:prstGeom prst="chevron">
              <a:avLst/>
            </a:prstGeom>
            <a:solidFill>
              <a:srgbClr val="C2E3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100" b="0" i="0" u="none" strike="noStrike" kern="1200" cap="none" spc="0" normalizeH="0" baseline="0" noProof="0">
                  <a:ln>
                    <a:noFill/>
                  </a:ln>
                  <a:solidFill>
                    <a:srgbClr val="2D5159"/>
                  </a:solidFill>
                  <a:effectLst/>
                  <a:uLnTx/>
                  <a:uFillTx/>
                  <a:latin typeface="VWAG TheSans"/>
                  <a:ea typeface="+mn-ea"/>
                  <a:cs typeface="+mn-cs"/>
                </a:rPr>
                <a:t>C</a:t>
              </a:r>
              <a:r>
                <a:rPr kumimoji="0" lang="en" sz="1100" b="0" i="0" u="none" strike="noStrike" kern="1200" cap="none" spc="0" normalizeH="0" baseline="0" noProof="0">
                  <a:ln>
                    <a:noFill/>
                  </a:ln>
                  <a:solidFill>
                    <a:srgbClr val="2D5159"/>
                  </a:solidFill>
                  <a:effectLst/>
                  <a:uLnTx/>
                  <a:uFillTx/>
                  <a:latin typeface="VWAG TheSans"/>
                  <a:ea typeface="+mn-ea"/>
                  <a:cs typeface="+mn-cs"/>
                </a:rPr>
                <a:t>opy </a:t>
              </a:r>
              <a:br>
                <a:rPr kumimoji="0" lang="en" sz="1100" b="0" i="0" u="none" strike="noStrike" kern="1200" cap="none" spc="0" normalizeH="0" baseline="0" noProof="0">
                  <a:ln>
                    <a:noFill/>
                  </a:ln>
                  <a:solidFill>
                    <a:srgbClr val="2D5159"/>
                  </a:solidFill>
                  <a:effectLst/>
                  <a:uLnTx/>
                  <a:uFillTx/>
                  <a:latin typeface="VWAG TheSans"/>
                  <a:ea typeface="+mn-ea"/>
                  <a:cs typeface="+mn-cs"/>
                </a:rPr>
              </a:br>
              <a:r>
                <a:rPr kumimoji="0" lang="en" sz="1100" b="0" i="0" u="none" strike="noStrike" kern="1200" cap="none" spc="0" normalizeH="0" baseline="0" noProof="0">
                  <a:ln>
                    <a:noFill/>
                  </a:ln>
                  <a:solidFill>
                    <a:srgbClr val="2D5159"/>
                  </a:solidFill>
                  <a:effectLst/>
                  <a:uLnTx/>
                  <a:uFillTx/>
                  <a:latin typeface="VWAG TheSans"/>
                  <a:ea typeface="+mn-ea"/>
                  <a:cs typeface="+mn-cs"/>
                </a:rPr>
                <a:t>data</a:t>
              </a:r>
            </a:p>
          </p:txBody>
        </p:sp>
        <p:sp>
          <p:nvSpPr>
            <p:cNvPr id="60" name="Rechteck: abgerundete Ecken 59">
              <a:extLst>
                <a:ext uri="{FF2B5EF4-FFF2-40B4-BE49-F238E27FC236}">
                  <a16:creationId xmlns:a16="http://schemas.microsoft.com/office/drawing/2014/main" id="{82F48536-7C20-03F4-1B11-64CD209B5D91}"/>
                </a:ext>
              </a:extLst>
            </p:cNvPr>
            <p:cNvSpPr/>
            <p:nvPr/>
          </p:nvSpPr>
          <p:spPr>
            <a:xfrm>
              <a:off x="3510755" y="4760132"/>
              <a:ext cx="2476151" cy="710675"/>
            </a:xfrm>
            <a:prstGeom prst="roundRect">
              <a:avLst>
                <a:gd name="adj" fmla="val 9648"/>
              </a:avLst>
            </a:prstGeom>
            <a:solidFill>
              <a:srgbClr val="667D85"/>
            </a:solidFill>
            <a:ln>
              <a:noFill/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36000" rIns="180000" bIns="180000" rtlCol="0" anchor="t"/>
            <a:lstStyle/>
            <a:p>
              <a:pPr>
                <a:defRPr/>
              </a:pPr>
              <a:r>
                <a:rPr kumimoji="0" lang="en" sz="1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WAG TheSans"/>
                  <a:ea typeface="+mn-ea"/>
                  <a:cs typeface="+mn-cs"/>
                </a:rPr>
                <a:t>GVF-Daten</a:t>
              </a:r>
              <a:br>
                <a:rPr kumimoji="0" lang="en" sz="1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WAG TheSans"/>
                  <a:ea typeface="+mn-ea"/>
                  <a:cs typeface="+mn-cs"/>
                </a:rPr>
              </a:br>
              <a:r>
                <a:rPr kumimoji="0" lang="en" sz="1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WAG TheSans"/>
                  <a:ea typeface="+mn-ea"/>
                  <a:cs typeface="+mn-cs"/>
                </a:rPr>
                <a:t> </a:t>
              </a:r>
              <a:endParaRPr kumimoji="0" lang="de-DE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he Group TEXT"/>
                <a:ea typeface="+mn-ea"/>
                <a:cs typeface="+mn-cs"/>
              </a:endParaRPr>
            </a:p>
          </p:txBody>
        </p:sp>
        <p:sp>
          <p:nvSpPr>
            <p:cNvPr id="61" name="Textfeld 60">
              <a:extLst>
                <a:ext uri="{FF2B5EF4-FFF2-40B4-BE49-F238E27FC236}">
                  <a16:creationId xmlns:a16="http://schemas.microsoft.com/office/drawing/2014/main" id="{BD07B192-F701-725D-DCB5-E94F44721A6D}"/>
                </a:ext>
              </a:extLst>
            </p:cNvPr>
            <p:cNvSpPr txBox="1"/>
            <p:nvPr/>
          </p:nvSpPr>
          <p:spPr>
            <a:xfrm>
              <a:off x="3594100" y="5054678"/>
              <a:ext cx="2334885" cy="36933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l"/>
              <a:r>
                <a:rPr lang="en-US" sz="1200">
                  <a:solidFill>
                    <a:schemeClr val="tx2"/>
                  </a:solidFill>
                </a:rPr>
                <a:t>(Currently ca. 236 million vehicles)</a:t>
              </a:r>
              <a:endParaRPr lang="de-DE" sz="1200">
                <a:solidFill>
                  <a:schemeClr val="tx2"/>
                </a:solidFill>
              </a:endParaRPr>
            </a:p>
          </p:txBody>
        </p:sp>
      </p:grpSp>
      <p:sp>
        <p:nvSpPr>
          <p:cNvPr id="22" name="Chevron 76">
            <a:extLst>
              <a:ext uri="{FF2B5EF4-FFF2-40B4-BE49-F238E27FC236}">
                <a16:creationId xmlns:a16="http://schemas.microsoft.com/office/drawing/2014/main" id="{9C37DD75-4730-7AED-CFBA-CAD10512DC90}"/>
              </a:ext>
            </a:extLst>
          </p:cNvPr>
          <p:cNvSpPr/>
          <p:nvPr/>
        </p:nvSpPr>
        <p:spPr>
          <a:xfrm rot="5400000">
            <a:off x="6626604" y="3776758"/>
            <a:ext cx="1100712" cy="396000"/>
          </a:xfrm>
          <a:prstGeom prst="chevron">
            <a:avLst/>
          </a:prstGeom>
          <a:solidFill>
            <a:srgbClr val="C2E3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" sz="1100" b="0" i="0" u="none" strike="noStrike" kern="1200" cap="none" spc="0" normalizeH="0" baseline="0" noProof="0">
              <a:ln>
                <a:noFill/>
              </a:ln>
              <a:solidFill>
                <a:srgbClr val="2D5159"/>
              </a:solidFill>
              <a:effectLst/>
              <a:uLnTx/>
              <a:uFillTx/>
              <a:latin typeface="VWAG TheSans"/>
              <a:ea typeface="+mn-ea"/>
              <a:cs typeface="+mn-cs"/>
            </a:endParaRP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05AD3FCA-8D32-306F-2D81-E5C573E9FD3F}"/>
              </a:ext>
            </a:extLst>
          </p:cNvPr>
          <p:cNvSpPr txBox="1"/>
          <p:nvPr/>
        </p:nvSpPr>
        <p:spPr>
          <a:xfrm rot="5400000">
            <a:off x="6743967" y="4008707"/>
            <a:ext cx="853103" cy="1692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de-DE" sz="1100" err="1">
                <a:solidFill>
                  <a:srgbClr val="2D5159"/>
                </a:solidFill>
                <a:latin typeface="VWAG TheSans"/>
              </a:rPr>
              <a:t>request</a:t>
            </a:r>
            <a:endParaRPr lang="de-DE" sz="1100">
              <a:solidFill>
                <a:srgbClr val="2D5159"/>
              </a:solidFill>
              <a:latin typeface="VWAG TheSans"/>
            </a:endParaRPr>
          </a:p>
        </p:txBody>
      </p:sp>
      <p:sp>
        <p:nvSpPr>
          <p:cNvPr id="113" name="Rechteck: abgerundete Ecken 112">
            <a:extLst>
              <a:ext uri="{FF2B5EF4-FFF2-40B4-BE49-F238E27FC236}">
                <a16:creationId xmlns:a16="http://schemas.microsoft.com/office/drawing/2014/main" id="{64E8143D-5068-9A5F-3C4F-D6046379D4C7}"/>
              </a:ext>
            </a:extLst>
          </p:cNvPr>
          <p:cNvSpPr/>
          <p:nvPr/>
        </p:nvSpPr>
        <p:spPr>
          <a:xfrm>
            <a:off x="2739904" y="3372690"/>
            <a:ext cx="6828102" cy="366978"/>
          </a:xfrm>
          <a:prstGeom prst="roundRect">
            <a:avLst/>
          </a:prstGeom>
          <a:solidFill>
            <a:srgbClr val="387D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r>
              <a:rPr lang="de-DE" sz="1200">
                <a:solidFill>
                  <a:srgbClr val="FFFFFF"/>
                </a:solidFill>
                <a:latin typeface="The Group TEXT"/>
              </a:rPr>
              <a:t>Database</a:t>
            </a:r>
            <a:r>
              <a:rPr lang="de-DE" sz="1400"/>
              <a:t> </a:t>
            </a:r>
            <a:endParaRPr lang="de-DE" sz="1000"/>
          </a:p>
        </p:txBody>
      </p:sp>
      <p:sp>
        <p:nvSpPr>
          <p:cNvPr id="92" name="Chevron 76">
            <a:extLst>
              <a:ext uri="{FF2B5EF4-FFF2-40B4-BE49-F238E27FC236}">
                <a16:creationId xmlns:a16="http://schemas.microsoft.com/office/drawing/2014/main" id="{2C3BBA13-5E6D-26D4-63AB-D43AA51E8939}"/>
              </a:ext>
            </a:extLst>
          </p:cNvPr>
          <p:cNvSpPr/>
          <p:nvPr/>
        </p:nvSpPr>
        <p:spPr>
          <a:xfrm rot="16200000">
            <a:off x="7096493" y="3806441"/>
            <a:ext cx="983539" cy="396000"/>
          </a:xfrm>
          <a:prstGeom prst="chevron">
            <a:avLst/>
          </a:prstGeom>
          <a:solidFill>
            <a:srgbClr val="C2E3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" sz="1100" b="0" i="0" u="none" strike="noStrike" kern="1200" cap="none" spc="0" normalizeH="0" baseline="0" noProof="0">
              <a:ln>
                <a:noFill/>
              </a:ln>
              <a:solidFill>
                <a:srgbClr val="2D5159"/>
              </a:solidFill>
              <a:effectLst/>
              <a:uLnTx/>
              <a:uFillTx/>
              <a:latin typeface="VWAG TheSans"/>
              <a:ea typeface="+mn-ea"/>
              <a:cs typeface="+mn-cs"/>
            </a:endParaRPr>
          </a:p>
        </p:txBody>
      </p:sp>
      <p:sp>
        <p:nvSpPr>
          <p:cNvPr id="93" name="Textfeld 92">
            <a:extLst>
              <a:ext uri="{FF2B5EF4-FFF2-40B4-BE49-F238E27FC236}">
                <a16:creationId xmlns:a16="http://schemas.microsoft.com/office/drawing/2014/main" id="{89151680-DBEF-B6F1-D77D-3D4BD49B677E}"/>
              </a:ext>
            </a:extLst>
          </p:cNvPr>
          <p:cNvSpPr txBox="1"/>
          <p:nvPr/>
        </p:nvSpPr>
        <p:spPr>
          <a:xfrm rot="5400000">
            <a:off x="7160404" y="3827199"/>
            <a:ext cx="832099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0" lang="en" sz="1100" b="0" i="0" u="none" strike="noStrike" kern="1200" cap="none" spc="0" normalizeH="0" baseline="0" noProof="0">
                <a:ln>
                  <a:noFill/>
                </a:ln>
                <a:solidFill>
                  <a:srgbClr val="2D5159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  <a:t>Vehicle</a:t>
            </a:r>
          </a:p>
          <a:p>
            <a:pPr algn="ctr"/>
            <a:r>
              <a:rPr kumimoji="0" lang="en" sz="1100" b="0" i="0" u="none" strike="noStrike" kern="1200" cap="none" spc="0" normalizeH="0" baseline="0" noProof="0">
                <a:ln>
                  <a:noFill/>
                </a:ln>
                <a:solidFill>
                  <a:srgbClr val="2D5159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  <a:t> lists</a:t>
            </a:r>
          </a:p>
        </p:txBody>
      </p:sp>
      <p:sp>
        <p:nvSpPr>
          <p:cNvPr id="170" name="Rechteck: abgerundete Ecken 169">
            <a:extLst>
              <a:ext uri="{FF2B5EF4-FFF2-40B4-BE49-F238E27FC236}">
                <a16:creationId xmlns:a16="http://schemas.microsoft.com/office/drawing/2014/main" id="{EA0872C5-04CE-AB01-60FA-D2780E03037E}"/>
              </a:ext>
            </a:extLst>
          </p:cNvPr>
          <p:cNvSpPr/>
          <p:nvPr/>
        </p:nvSpPr>
        <p:spPr>
          <a:xfrm>
            <a:off x="10747130" y="4118211"/>
            <a:ext cx="1168106" cy="719515"/>
          </a:xfrm>
          <a:prstGeom prst="roundRect">
            <a:avLst>
              <a:gd name="adj" fmla="val 9648"/>
            </a:avLst>
          </a:prstGeom>
          <a:solidFill>
            <a:srgbClr val="667D85"/>
          </a:solidFill>
          <a:ln w="190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>
              <a:defRPr/>
            </a:pPr>
            <a:r>
              <a:rPr kumimoji="0" lang="e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  <a:t>ORU</a:t>
            </a:r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he Group TEXT"/>
              <a:ea typeface="+mn-ea"/>
              <a:cs typeface="+mn-cs"/>
            </a:endParaRPr>
          </a:p>
        </p:txBody>
      </p:sp>
      <p:sp>
        <p:nvSpPr>
          <p:cNvPr id="171" name="Rechteck: abgerundete Ecken 170">
            <a:extLst>
              <a:ext uri="{FF2B5EF4-FFF2-40B4-BE49-F238E27FC236}">
                <a16:creationId xmlns:a16="http://schemas.microsoft.com/office/drawing/2014/main" id="{827B2C1A-98D0-C5D4-053F-91E48E06B815}"/>
              </a:ext>
            </a:extLst>
          </p:cNvPr>
          <p:cNvSpPr/>
          <p:nvPr/>
        </p:nvSpPr>
        <p:spPr>
          <a:xfrm>
            <a:off x="10949770" y="4389399"/>
            <a:ext cx="895077" cy="420035"/>
          </a:xfrm>
          <a:prstGeom prst="roundRect">
            <a:avLst/>
          </a:prstGeom>
          <a:solidFill>
            <a:srgbClr val="99A9AD"/>
          </a:solidFill>
          <a:ln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>
              <a:defRPr/>
            </a:pPr>
            <a:r>
              <a:rPr lang="de-DE" sz="1400">
                <a:solidFill>
                  <a:schemeClr val="tx1"/>
                </a:solidFill>
                <a:latin typeface="VWAG TheSans"/>
              </a:rPr>
              <a:t>MBB </a:t>
            </a:r>
          </a:p>
          <a:p>
            <a:pPr>
              <a:defRPr/>
            </a:pPr>
            <a:r>
              <a:rPr lang="de-DE" sz="1400">
                <a:solidFill>
                  <a:schemeClr val="tx1"/>
                </a:solidFill>
                <a:latin typeface="VWAG TheSans"/>
              </a:rPr>
              <a:t>OEMIL</a:t>
            </a:r>
          </a:p>
        </p:txBody>
      </p:sp>
      <p:sp>
        <p:nvSpPr>
          <p:cNvPr id="172" name="Rechteck: abgerundete Ecken 171">
            <a:extLst>
              <a:ext uri="{FF2B5EF4-FFF2-40B4-BE49-F238E27FC236}">
                <a16:creationId xmlns:a16="http://schemas.microsoft.com/office/drawing/2014/main" id="{5993528A-0A5C-2714-DFB9-EF97FFD2407F}"/>
              </a:ext>
            </a:extLst>
          </p:cNvPr>
          <p:cNvSpPr/>
          <p:nvPr/>
        </p:nvSpPr>
        <p:spPr>
          <a:xfrm>
            <a:off x="10001111" y="4129874"/>
            <a:ext cx="547589" cy="1823035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rgbClr val="C2FE06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0" rIns="36000" bIns="180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1" u="none" strike="noStrike" kern="1200" cap="none" spc="0" normalizeH="0" baseline="0" noProof="0">
                <a:ln>
                  <a:noFill/>
                </a:ln>
                <a:solidFill>
                  <a:srgbClr val="C2FE06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RVS</a:t>
            </a:r>
          </a:p>
        </p:txBody>
      </p:sp>
      <p:sp>
        <p:nvSpPr>
          <p:cNvPr id="174" name="Rechteck: abgerundete Ecken 173">
            <a:extLst>
              <a:ext uri="{FF2B5EF4-FFF2-40B4-BE49-F238E27FC236}">
                <a16:creationId xmlns:a16="http://schemas.microsoft.com/office/drawing/2014/main" id="{3B9107D8-337A-96FB-0327-9DAFFD9D7C6B}"/>
              </a:ext>
            </a:extLst>
          </p:cNvPr>
          <p:cNvSpPr/>
          <p:nvPr/>
        </p:nvSpPr>
        <p:spPr>
          <a:xfrm>
            <a:off x="10751136" y="4910538"/>
            <a:ext cx="1164100" cy="783213"/>
          </a:xfrm>
          <a:prstGeom prst="roundRect">
            <a:avLst>
              <a:gd name="adj" fmla="val 9648"/>
            </a:avLst>
          </a:prstGeom>
          <a:solidFill>
            <a:srgbClr val="667D85"/>
          </a:solidFill>
          <a:ln w="190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0" bIns="36000" rtlCol="0" anchor="t"/>
          <a:lstStyle/>
          <a:p>
            <a:pPr>
              <a:defRPr/>
            </a:pPr>
            <a:r>
              <a:rPr kumimoji="0" lang="en" sz="13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  <a:t>Market  Data’s</a:t>
            </a:r>
            <a:endParaRPr kumimoji="0" lang="de-DE" sz="13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he Group TEXT"/>
              <a:ea typeface="+mn-ea"/>
              <a:cs typeface="+mn-cs"/>
            </a:endParaRPr>
          </a:p>
        </p:txBody>
      </p:sp>
      <p:sp>
        <p:nvSpPr>
          <p:cNvPr id="175" name="Rechteck: abgerundete Ecken 174">
            <a:extLst>
              <a:ext uri="{FF2B5EF4-FFF2-40B4-BE49-F238E27FC236}">
                <a16:creationId xmlns:a16="http://schemas.microsoft.com/office/drawing/2014/main" id="{C7628F2D-D7C1-C1FE-57C6-9DB3ECDE0994}"/>
              </a:ext>
            </a:extLst>
          </p:cNvPr>
          <p:cNvSpPr/>
          <p:nvPr/>
        </p:nvSpPr>
        <p:spPr>
          <a:xfrm>
            <a:off x="10941474" y="5180184"/>
            <a:ext cx="895077" cy="479250"/>
          </a:xfrm>
          <a:prstGeom prst="roundRect">
            <a:avLst/>
          </a:prstGeom>
          <a:solidFill>
            <a:srgbClr val="99A9AD"/>
          </a:solidFill>
          <a:ln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>
              <a:defRPr/>
            </a:pPr>
            <a:r>
              <a:rPr lang="de-DE" sz="1400" err="1">
                <a:solidFill>
                  <a:schemeClr val="tx1"/>
                </a:solidFill>
                <a:latin typeface="VWAG TheSans"/>
              </a:rPr>
              <a:t>Importers</a:t>
            </a:r>
            <a:r>
              <a:rPr lang="de-DE" sz="1400">
                <a:solidFill>
                  <a:schemeClr val="tx1"/>
                </a:solidFill>
                <a:latin typeface="VWAG TheSans"/>
              </a:rPr>
              <a:t> </a:t>
            </a:r>
            <a:r>
              <a:rPr lang="de-DE" sz="1400" err="1">
                <a:solidFill>
                  <a:schemeClr val="tx1"/>
                </a:solidFill>
                <a:latin typeface="VWAG TheSans"/>
              </a:rPr>
              <a:t>APP‘s</a:t>
            </a:r>
            <a:endParaRPr lang="de-DE" sz="1400">
              <a:solidFill>
                <a:schemeClr val="tx1"/>
              </a:solidFill>
              <a:latin typeface="VWAG TheSans"/>
            </a:endParaRPr>
          </a:p>
        </p:txBody>
      </p:sp>
      <p:sp>
        <p:nvSpPr>
          <p:cNvPr id="176" name="Rechteck: abgerundete Ecken 175">
            <a:extLst>
              <a:ext uri="{FF2B5EF4-FFF2-40B4-BE49-F238E27FC236}">
                <a16:creationId xmlns:a16="http://schemas.microsoft.com/office/drawing/2014/main" id="{8ECC0117-F43D-9C82-CF3A-4BBC88650409}"/>
              </a:ext>
            </a:extLst>
          </p:cNvPr>
          <p:cNvSpPr/>
          <p:nvPr/>
        </p:nvSpPr>
        <p:spPr>
          <a:xfrm>
            <a:off x="10009695" y="2951623"/>
            <a:ext cx="547589" cy="1074302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rgbClr val="C2FE06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0" rIns="36000" bIns="180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1" u="none" strike="noStrike" kern="1200" cap="none" spc="0" normalizeH="0" baseline="0" noProof="0">
                <a:ln>
                  <a:noFill/>
                </a:ln>
                <a:solidFill>
                  <a:srgbClr val="C2FE06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GSB</a:t>
            </a:r>
          </a:p>
        </p:txBody>
      </p:sp>
      <p:cxnSp>
        <p:nvCxnSpPr>
          <p:cNvPr id="179" name="Verbinder: gewinkelt 178">
            <a:extLst>
              <a:ext uri="{FF2B5EF4-FFF2-40B4-BE49-F238E27FC236}">
                <a16:creationId xmlns:a16="http://schemas.microsoft.com/office/drawing/2014/main" id="{E3121361-0EB9-59FD-2D85-B843601B4AE3}"/>
              </a:ext>
            </a:extLst>
          </p:cNvPr>
          <p:cNvCxnSpPr>
            <a:cxnSpLocks/>
            <a:stCxn id="104" idx="3"/>
            <a:endCxn id="176" idx="1"/>
          </p:cNvCxnSpPr>
          <p:nvPr/>
        </p:nvCxnSpPr>
        <p:spPr>
          <a:xfrm>
            <a:off x="9615054" y="2656747"/>
            <a:ext cx="394641" cy="832027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accent5"/>
            </a:solidFill>
            <a:headEnd type="none" w="med" len="sm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81" name="Gerade Verbindung mit Pfeil 180">
            <a:extLst>
              <a:ext uri="{FF2B5EF4-FFF2-40B4-BE49-F238E27FC236}">
                <a16:creationId xmlns:a16="http://schemas.microsoft.com/office/drawing/2014/main" id="{60DA2DAA-00AA-71E5-F0A2-9A75DC236F5C}"/>
              </a:ext>
            </a:extLst>
          </p:cNvPr>
          <p:cNvCxnSpPr>
            <a:cxnSpLocks/>
          </p:cNvCxnSpPr>
          <p:nvPr/>
        </p:nvCxnSpPr>
        <p:spPr>
          <a:xfrm>
            <a:off x="10528075" y="4736189"/>
            <a:ext cx="396000" cy="0"/>
          </a:xfrm>
          <a:prstGeom prst="straightConnector1">
            <a:avLst/>
          </a:prstGeom>
          <a:ln w="9525">
            <a:headEnd type="none" w="med" len="sm"/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82" name="Gerade Verbindung mit Pfeil 181">
            <a:extLst>
              <a:ext uri="{FF2B5EF4-FFF2-40B4-BE49-F238E27FC236}">
                <a16:creationId xmlns:a16="http://schemas.microsoft.com/office/drawing/2014/main" id="{EB9F367C-F9FD-A965-7DCF-0A76BA499F4F}"/>
              </a:ext>
            </a:extLst>
          </p:cNvPr>
          <p:cNvCxnSpPr>
            <a:cxnSpLocks/>
          </p:cNvCxnSpPr>
          <p:nvPr/>
        </p:nvCxnSpPr>
        <p:spPr>
          <a:xfrm>
            <a:off x="10528075" y="4503275"/>
            <a:ext cx="396000" cy="0"/>
          </a:xfrm>
          <a:prstGeom prst="straightConnector1">
            <a:avLst/>
          </a:prstGeom>
          <a:ln w="9525">
            <a:headEnd type="none" w="med" len="sm"/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83" name="Gerade Verbindung mit Pfeil 182">
            <a:extLst>
              <a:ext uri="{FF2B5EF4-FFF2-40B4-BE49-F238E27FC236}">
                <a16:creationId xmlns:a16="http://schemas.microsoft.com/office/drawing/2014/main" id="{98C5B98D-8357-401B-3143-10C605813ED8}"/>
              </a:ext>
            </a:extLst>
          </p:cNvPr>
          <p:cNvCxnSpPr>
            <a:cxnSpLocks/>
          </p:cNvCxnSpPr>
          <p:nvPr/>
        </p:nvCxnSpPr>
        <p:spPr>
          <a:xfrm>
            <a:off x="10528755" y="5332019"/>
            <a:ext cx="396000" cy="0"/>
          </a:xfrm>
          <a:prstGeom prst="straightConnector1">
            <a:avLst/>
          </a:prstGeom>
          <a:ln w="9525">
            <a:headEnd type="none" w="med" len="sm"/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84" name="Gerade Verbindung mit Pfeil 183">
            <a:extLst>
              <a:ext uri="{FF2B5EF4-FFF2-40B4-BE49-F238E27FC236}">
                <a16:creationId xmlns:a16="http://schemas.microsoft.com/office/drawing/2014/main" id="{C7273B04-6E5B-E003-A823-2F652BAEDF07}"/>
              </a:ext>
            </a:extLst>
          </p:cNvPr>
          <p:cNvCxnSpPr>
            <a:cxnSpLocks/>
          </p:cNvCxnSpPr>
          <p:nvPr/>
        </p:nvCxnSpPr>
        <p:spPr>
          <a:xfrm>
            <a:off x="10492190" y="3566513"/>
            <a:ext cx="396000" cy="0"/>
          </a:xfrm>
          <a:prstGeom prst="straightConnector1">
            <a:avLst/>
          </a:prstGeom>
          <a:ln w="9525">
            <a:headEnd type="none" w="med" len="sm"/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85" name="Gerade Verbindung mit Pfeil 184">
            <a:extLst>
              <a:ext uri="{FF2B5EF4-FFF2-40B4-BE49-F238E27FC236}">
                <a16:creationId xmlns:a16="http://schemas.microsoft.com/office/drawing/2014/main" id="{7591728F-95B2-459D-FA4E-CC63C2CC9206}"/>
              </a:ext>
            </a:extLst>
          </p:cNvPr>
          <p:cNvCxnSpPr>
            <a:cxnSpLocks/>
          </p:cNvCxnSpPr>
          <p:nvPr/>
        </p:nvCxnSpPr>
        <p:spPr>
          <a:xfrm>
            <a:off x="10492190" y="3333599"/>
            <a:ext cx="396000" cy="0"/>
          </a:xfrm>
          <a:prstGeom prst="straightConnector1">
            <a:avLst/>
          </a:prstGeom>
          <a:ln w="9525">
            <a:headEnd type="none" w="med" len="sm"/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89" name="Verbinder: gewinkelt 188">
            <a:extLst>
              <a:ext uri="{FF2B5EF4-FFF2-40B4-BE49-F238E27FC236}">
                <a16:creationId xmlns:a16="http://schemas.microsoft.com/office/drawing/2014/main" id="{4FD8CE31-CE83-628A-A0C9-71B6C77A8C67}"/>
              </a:ext>
            </a:extLst>
          </p:cNvPr>
          <p:cNvCxnSpPr>
            <a:cxnSpLocks/>
            <a:stCxn id="104" idx="3"/>
            <a:endCxn id="188" idx="1"/>
          </p:cNvCxnSpPr>
          <p:nvPr/>
        </p:nvCxnSpPr>
        <p:spPr>
          <a:xfrm>
            <a:off x="9615054" y="2656747"/>
            <a:ext cx="405212" cy="3657994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accent5"/>
            </a:solidFill>
            <a:headEnd type="none" w="med" len="sm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1" name="Gerade Verbindung mit Pfeil 190">
            <a:extLst>
              <a:ext uri="{FF2B5EF4-FFF2-40B4-BE49-F238E27FC236}">
                <a16:creationId xmlns:a16="http://schemas.microsoft.com/office/drawing/2014/main" id="{63738C2E-A206-E48D-8500-E22BCB6E19E3}"/>
              </a:ext>
            </a:extLst>
          </p:cNvPr>
          <p:cNvCxnSpPr>
            <a:cxnSpLocks/>
          </p:cNvCxnSpPr>
          <p:nvPr/>
        </p:nvCxnSpPr>
        <p:spPr>
          <a:xfrm flipV="1">
            <a:off x="10401825" y="6344953"/>
            <a:ext cx="396000" cy="1"/>
          </a:xfrm>
          <a:prstGeom prst="straightConnector1">
            <a:avLst/>
          </a:prstGeom>
          <a:ln w="9525">
            <a:headEnd type="none" w="med" len="sm"/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88" name="Rechteck: abgerundete Ecken 187">
            <a:extLst>
              <a:ext uri="{FF2B5EF4-FFF2-40B4-BE49-F238E27FC236}">
                <a16:creationId xmlns:a16="http://schemas.microsoft.com/office/drawing/2014/main" id="{D4002912-91C2-4BDB-CD73-B6D79035C4B9}"/>
              </a:ext>
            </a:extLst>
          </p:cNvPr>
          <p:cNvSpPr/>
          <p:nvPr/>
        </p:nvSpPr>
        <p:spPr>
          <a:xfrm>
            <a:off x="10020266" y="6061432"/>
            <a:ext cx="547589" cy="50661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rgbClr val="C2FE06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0" rIns="36000" bIns="180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1" u="none" strike="noStrike" kern="1200" cap="none" spc="0" normalizeH="0" baseline="0" noProof="0">
                <a:ln>
                  <a:noFill/>
                </a:ln>
                <a:solidFill>
                  <a:srgbClr val="C2FE06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CSV RVS</a:t>
            </a:r>
          </a:p>
        </p:txBody>
      </p:sp>
      <p:cxnSp>
        <p:nvCxnSpPr>
          <p:cNvPr id="193" name="Verbinder: gewinkelt 192">
            <a:extLst>
              <a:ext uri="{FF2B5EF4-FFF2-40B4-BE49-F238E27FC236}">
                <a16:creationId xmlns:a16="http://schemas.microsoft.com/office/drawing/2014/main" id="{68E091D2-8EC4-408C-6BEA-1B7BE48F547A}"/>
              </a:ext>
            </a:extLst>
          </p:cNvPr>
          <p:cNvCxnSpPr>
            <a:cxnSpLocks/>
            <a:stCxn id="104" idx="3"/>
            <a:endCxn id="172" idx="1"/>
          </p:cNvCxnSpPr>
          <p:nvPr/>
        </p:nvCxnSpPr>
        <p:spPr>
          <a:xfrm>
            <a:off x="9615054" y="2656747"/>
            <a:ext cx="386057" cy="2384645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accent5"/>
            </a:solidFill>
            <a:headEnd type="none" w="med" len="sm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7" name="Gerade Verbindung mit Pfeil 196">
            <a:extLst>
              <a:ext uri="{FF2B5EF4-FFF2-40B4-BE49-F238E27FC236}">
                <a16:creationId xmlns:a16="http://schemas.microsoft.com/office/drawing/2014/main" id="{DAB98D66-DB82-F7E9-783F-5DA51145EC27}"/>
              </a:ext>
            </a:extLst>
          </p:cNvPr>
          <p:cNvCxnSpPr>
            <a:cxnSpLocks/>
          </p:cNvCxnSpPr>
          <p:nvPr/>
        </p:nvCxnSpPr>
        <p:spPr>
          <a:xfrm>
            <a:off x="10490258" y="3896160"/>
            <a:ext cx="396000" cy="0"/>
          </a:xfrm>
          <a:prstGeom prst="straightConnector1">
            <a:avLst/>
          </a:prstGeom>
          <a:ln w="9525">
            <a:headEnd type="none" w="med" len="sm"/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02" name="Rechteck: abgerundete Ecken 201">
            <a:extLst>
              <a:ext uri="{FF2B5EF4-FFF2-40B4-BE49-F238E27FC236}">
                <a16:creationId xmlns:a16="http://schemas.microsoft.com/office/drawing/2014/main" id="{0ABADE3C-83AB-01D2-313E-C084EB7F6A02}"/>
              </a:ext>
            </a:extLst>
          </p:cNvPr>
          <p:cNvSpPr/>
          <p:nvPr/>
        </p:nvSpPr>
        <p:spPr>
          <a:xfrm>
            <a:off x="10930058" y="3661973"/>
            <a:ext cx="887107" cy="387475"/>
          </a:xfrm>
          <a:prstGeom prst="roundRect">
            <a:avLst/>
          </a:prstGeom>
          <a:solidFill>
            <a:srgbClr val="99A9AD"/>
          </a:solidFill>
          <a:ln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08000" rIns="36000" bIns="36000" rtlCol="0" anchor="ctr"/>
          <a:lstStyle/>
          <a:p>
            <a:pPr>
              <a:lnSpc>
                <a:spcPts val="1200"/>
              </a:lnSpc>
              <a:defRPr/>
            </a:pPr>
            <a:r>
              <a:rPr lang="de-DE" sz="1400">
                <a:solidFill>
                  <a:schemeClr val="tx1"/>
                </a:solidFill>
                <a:latin typeface="VWAG TheSans"/>
              </a:rPr>
              <a:t>&gt; 150 </a:t>
            </a:r>
            <a:r>
              <a:rPr lang="de-DE" sz="1400" err="1">
                <a:solidFill>
                  <a:schemeClr val="tx1"/>
                </a:solidFill>
                <a:latin typeface="VWAG TheSans"/>
              </a:rPr>
              <a:t>consumer</a:t>
            </a:r>
            <a:endParaRPr lang="de-DE" sz="1400">
              <a:solidFill>
                <a:schemeClr val="tx1"/>
              </a:solidFill>
              <a:latin typeface="VWAG TheSans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F251C9B-45F3-E4F7-A5C1-B15E47AC556E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74965"/>
            <a:ext cx="774700" cy="121920"/>
          </a:xfrm>
          <a:prstGeom prst="rect">
            <a:avLst/>
          </a:prstGeom>
          <a:solidFill>
            <a:srgbClr val="002733"/>
          </a:solidFill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de-DE" sz="800" kern="1200">
                <a:solidFill>
                  <a:schemeClr val="accent4"/>
                </a:solidFill>
                <a:latin typeface="+mn-lt"/>
                <a:ea typeface="+mn-ea"/>
                <a:cs typeface="+mn-cs"/>
              </a:rPr>
              <a:t>CONFIDENTIAL</a:t>
            </a:r>
          </a:p>
        </p:txBody>
      </p:sp>
      <p:cxnSp>
        <p:nvCxnSpPr>
          <p:cNvPr id="14" name="Verbinder: gewinkelt 13">
            <a:extLst>
              <a:ext uri="{FF2B5EF4-FFF2-40B4-BE49-F238E27FC236}">
                <a16:creationId xmlns:a16="http://schemas.microsoft.com/office/drawing/2014/main" id="{3B9D8A1B-2190-B20C-3186-85414639014D}"/>
              </a:ext>
            </a:extLst>
          </p:cNvPr>
          <p:cNvCxnSpPr>
            <a:cxnSpLocks/>
            <a:stCxn id="67" idx="3"/>
            <a:endCxn id="104" idx="1"/>
          </p:cNvCxnSpPr>
          <p:nvPr/>
        </p:nvCxnSpPr>
        <p:spPr>
          <a:xfrm>
            <a:off x="2232086" y="2252496"/>
            <a:ext cx="391908" cy="404251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accent5"/>
            </a:solidFill>
            <a:headEnd type="none" w="med" len="sm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" name="Rechteck: abgerundete Ecken 19">
            <a:extLst>
              <a:ext uri="{FF2B5EF4-FFF2-40B4-BE49-F238E27FC236}">
                <a16:creationId xmlns:a16="http://schemas.microsoft.com/office/drawing/2014/main" id="{D597EF34-5E23-F15B-CEF2-E8CDC1F1025A}"/>
              </a:ext>
            </a:extLst>
          </p:cNvPr>
          <p:cNvSpPr/>
          <p:nvPr/>
        </p:nvSpPr>
        <p:spPr>
          <a:xfrm>
            <a:off x="10020266" y="1333300"/>
            <a:ext cx="547589" cy="131786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rgbClr val="C2FE06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80000" rIns="0" bIns="180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1" u="none" strike="noStrike" kern="1200" cap="none" spc="0" normalizeH="0" baseline="0" noProof="0">
                <a:ln>
                  <a:noFill/>
                </a:ln>
                <a:solidFill>
                  <a:srgbClr val="C2FE06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REST</a:t>
            </a:r>
          </a:p>
        </p:txBody>
      </p:sp>
      <p:cxnSp>
        <p:nvCxnSpPr>
          <p:cNvPr id="21" name="Verbinder: gewinkelt 20">
            <a:extLst>
              <a:ext uri="{FF2B5EF4-FFF2-40B4-BE49-F238E27FC236}">
                <a16:creationId xmlns:a16="http://schemas.microsoft.com/office/drawing/2014/main" id="{F8EBD1B9-AC04-A8C8-5793-0FDE8D387AFD}"/>
              </a:ext>
            </a:extLst>
          </p:cNvPr>
          <p:cNvCxnSpPr>
            <a:cxnSpLocks/>
            <a:stCxn id="104" idx="3"/>
            <a:endCxn id="20" idx="1"/>
          </p:cNvCxnSpPr>
          <p:nvPr/>
        </p:nvCxnSpPr>
        <p:spPr>
          <a:xfrm flipV="1">
            <a:off x="9615054" y="1992234"/>
            <a:ext cx="405212" cy="664513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accent5"/>
            </a:solidFill>
            <a:headEnd type="none" w="med" len="sm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" name="Rechteck: abgerundete Ecken 32">
            <a:extLst>
              <a:ext uri="{FF2B5EF4-FFF2-40B4-BE49-F238E27FC236}">
                <a16:creationId xmlns:a16="http://schemas.microsoft.com/office/drawing/2014/main" id="{5DF332F5-587E-5D3B-5CCE-CF0065EA226F}"/>
              </a:ext>
            </a:extLst>
          </p:cNvPr>
          <p:cNvSpPr/>
          <p:nvPr/>
        </p:nvSpPr>
        <p:spPr>
          <a:xfrm>
            <a:off x="10770291" y="1333300"/>
            <a:ext cx="1164100" cy="501140"/>
          </a:xfrm>
          <a:prstGeom prst="roundRect">
            <a:avLst>
              <a:gd name="adj" fmla="val 9648"/>
            </a:avLst>
          </a:prstGeom>
          <a:solidFill>
            <a:srgbClr val="667D85"/>
          </a:solidFill>
          <a:ln w="15875">
            <a:solidFill>
              <a:srgbClr val="FFC000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>
              <a:defRPr/>
            </a:pPr>
            <a:r>
              <a:rPr kumimoji="0" lang="e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  <a:t>GVF </a:t>
            </a:r>
            <a:br>
              <a:rPr kumimoji="0" lang="e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</a:br>
            <a:r>
              <a:rPr kumimoji="0" lang="en" sz="10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  <a:t>assigned Dealer</a:t>
            </a:r>
            <a:br>
              <a:rPr kumimoji="0" lang="e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</a:br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he Group TEXT"/>
              <a:ea typeface="+mn-ea"/>
              <a:cs typeface="+mn-cs"/>
            </a:endParaRPr>
          </a:p>
        </p:txBody>
      </p: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85C34F97-1E66-9C45-5E7B-1A956CFB77C0}"/>
              </a:ext>
            </a:extLst>
          </p:cNvPr>
          <p:cNvCxnSpPr>
            <a:cxnSpLocks/>
            <a:endCxn id="33" idx="1"/>
          </p:cNvCxnSpPr>
          <p:nvPr/>
        </p:nvCxnSpPr>
        <p:spPr>
          <a:xfrm>
            <a:off x="10541132" y="1583870"/>
            <a:ext cx="229159" cy="0"/>
          </a:xfrm>
          <a:prstGeom prst="straightConnector1">
            <a:avLst/>
          </a:prstGeom>
          <a:ln w="9525">
            <a:headEnd type="none" w="med" len="sm"/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6" name="Rechteck: abgerundete Ecken 35">
            <a:extLst>
              <a:ext uri="{FF2B5EF4-FFF2-40B4-BE49-F238E27FC236}">
                <a16:creationId xmlns:a16="http://schemas.microsoft.com/office/drawing/2014/main" id="{54CE9A49-74F0-34F3-41E3-F705122F3026}"/>
              </a:ext>
            </a:extLst>
          </p:cNvPr>
          <p:cNvSpPr/>
          <p:nvPr/>
        </p:nvSpPr>
        <p:spPr>
          <a:xfrm>
            <a:off x="10766285" y="5761718"/>
            <a:ext cx="1164100" cy="248382"/>
          </a:xfrm>
          <a:prstGeom prst="roundRect">
            <a:avLst>
              <a:gd name="adj" fmla="val 9648"/>
            </a:avLst>
          </a:prstGeom>
          <a:solidFill>
            <a:srgbClr val="667D85"/>
          </a:solidFill>
          <a:ln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>
              <a:defRPr/>
            </a:pPr>
            <a:r>
              <a:rPr lang="de-DE" sz="1400">
                <a:solidFill>
                  <a:schemeClr val="tx1"/>
                </a:solidFill>
                <a:latin typeface="VWAG TheSans"/>
              </a:rPr>
              <a:t>DPMP</a:t>
            </a:r>
          </a:p>
        </p:txBody>
      </p:sp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80806638-8BCA-81FC-36E7-4C89F1616428}"/>
              </a:ext>
            </a:extLst>
          </p:cNvPr>
          <p:cNvCxnSpPr>
            <a:cxnSpLocks/>
          </p:cNvCxnSpPr>
          <p:nvPr/>
        </p:nvCxnSpPr>
        <p:spPr>
          <a:xfrm flipV="1">
            <a:off x="10553680" y="5869828"/>
            <a:ext cx="193450" cy="3321"/>
          </a:xfrm>
          <a:prstGeom prst="straightConnector1">
            <a:avLst/>
          </a:prstGeom>
          <a:ln w="9525">
            <a:headEnd type="none" w="med" len="sm"/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9" name="Rechteck: abgerundete Ecken 38">
            <a:extLst>
              <a:ext uri="{FF2B5EF4-FFF2-40B4-BE49-F238E27FC236}">
                <a16:creationId xmlns:a16="http://schemas.microsoft.com/office/drawing/2014/main" id="{A7CA3E5B-C74C-787D-DFB7-AA3C1B783797}"/>
              </a:ext>
            </a:extLst>
          </p:cNvPr>
          <p:cNvSpPr/>
          <p:nvPr/>
        </p:nvSpPr>
        <p:spPr>
          <a:xfrm>
            <a:off x="10770291" y="1870246"/>
            <a:ext cx="1164100" cy="778992"/>
          </a:xfrm>
          <a:prstGeom prst="roundRect">
            <a:avLst>
              <a:gd name="adj" fmla="val 9648"/>
            </a:avLst>
          </a:prstGeom>
          <a:solidFill>
            <a:srgbClr val="667D85"/>
          </a:solidFill>
          <a:ln w="15875">
            <a:solidFill>
              <a:srgbClr val="FFC000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>
              <a:defRPr/>
            </a:pPr>
            <a:r>
              <a:rPr kumimoji="0" lang="e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  <a:t>ORU</a:t>
            </a:r>
            <a:br>
              <a:rPr kumimoji="0" lang="e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</a:br>
            <a:r>
              <a:rPr kumimoji="0" lang="e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  <a:t>SMART Campaign</a:t>
            </a:r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he Group TEXT"/>
              <a:ea typeface="+mn-ea"/>
              <a:cs typeface="+mn-cs"/>
            </a:endParaRPr>
          </a:p>
        </p:txBody>
      </p:sp>
      <p:sp>
        <p:nvSpPr>
          <p:cNvPr id="48" name="Rechteck: abgerundete Ecken 47">
            <a:extLst>
              <a:ext uri="{FF2B5EF4-FFF2-40B4-BE49-F238E27FC236}">
                <a16:creationId xmlns:a16="http://schemas.microsoft.com/office/drawing/2014/main" id="{91A517C5-8B84-9C19-1CC7-91E80DF84B76}"/>
              </a:ext>
            </a:extLst>
          </p:cNvPr>
          <p:cNvSpPr/>
          <p:nvPr/>
        </p:nvSpPr>
        <p:spPr>
          <a:xfrm>
            <a:off x="10919056" y="3186686"/>
            <a:ext cx="895077" cy="420035"/>
          </a:xfrm>
          <a:prstGeom prst="roundRect">
            <a:avLst/>
          </a:prstGeom>
          <a:solidFill>
            <a:srgbClr val="99A9AD"/>
          </a:solidFill>
          <a:ln w="2222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>
              <a:defRPr/>
            </a:pPr>
            <a:r>
              <a:rPr lang="de-DE" sz="1400">
                <a:solidFill>
                  <a:schemeClr val="tx1"/>
                </a:solidFill>
                <a:latin typeface="VWAG TheSans"/>
              </a:rPr>
              <a:t>MBB </a:t>
            </a:r>
          </a:p>
          <a:p>
            <a:pPr>
              <a:defRPr/>
            </a:pPr>
            <a:r>
              <a:rPr lang="de-DE" sz="1400">
                <a:solidFill>
                  <a:schemeClr val="tx1"/>
                </a:solidFill>
                <a:latin typeface="VWAG TheSans"/>
              </a:rPr>
              <a:t>OEMIL</a:t>
            </a:r>
          </a:p>
        </p:txBody>
      </p:sp>
      <p:cxnSp>
        <p:nvCxnSpPr>
          <p:cNvPr id="53" name="Gerade Verbindung mit Pfeil 52">
            <a:extLst>
              <a:ext uri="{FF2B5EF4-FFF2-40B4-BE49-F238E27FC236}">
                <a16:creationId xmlns:a16="http://schemas.microsoft.com/office/drawing/2014/main" id="{877E51BB-F40A-E51C-A768-E35A953C6419}"/>
              </a:ext>
            </a:extLst>
          </p:cNvPr>
          <p:cNvCxnSpPr>
            <a:cxnSpLocks/>
          </p:cNvCxnSpPr>
          <p:nvPr/>
        </p:nvCxnSpPr>
        <p:spPr>
          <a:xfrm>
            <a:off x="10548700" y="2258168"/>
            <a:ext cx="188361" cy="0"/>
          </a:xfrm>
          <a:prstGeom prst="straightConnector1">
            <a:avLst/>
          </a:prstGeom>
          <a:ln w="9525">
            <a:headEnd type="none" w="med" len="sm"/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75" name="Rechteck: abgerundete Ecken 74">
            <a:extLst>
              <a:ext uri="{FF2B5EF4-FFF2-40B4-BE49-F238E27FC236}">
                <a16:creationId xmlns:a16="http://schemas.microsoft.com/office/drawing/2014/main" id="{0AA56A70-40E8-1906-E639-5B73A90C40BF}"/>
              </a:ext>
            </a:extLst>
          </p:cNvPr>
          <p:cNvSpPr/>
          <p:nvPr/>
        </p:nvSpPr>
        <p:spPr>
          <a:xfrm>
            <a:off x="1705405" y="4504194"/>
            <a:ext cx="547589" cy="2061098"/>
          </a:xfrm>
          <a:prstGeom prst="roundRect">
            <a:avLst>
              <a:gd name="adj" fmla="val 10366"/>
            </a:avLst>
          </a:prstGeom>
          <a:solidFill>
            <a:schemeClr val="accent5">
              <a:lumMod val="50000"/>
            </a:schemeClr>
          </a:solidFill>
          <a:ln>
            <a:solidFill>
              <a:srgbClr val="C2FE06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80000" rIns="0" bIns="180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1" u="none" strike="noStrike" kern="1200" cap="none" spc="0" normalizeH="0" baseline="0" noProof="0">
                <a:ln>
                  <a:noFill/>
                </a:ln>
                <a:solidFill>
                  <a:srgbClr val="C2FE06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REST</a:t>
            </a:r>
          </a:p>
        </p:txBody>
      </p:sp>
      <p:cxnSp>
        <p:nvCxnSpPr>
          <p:cNvPr id="76" name="Gerade Verbindung mit Pfeil 75">
            <a:extLst>
              <a:ext uri="{FF2B5EF4-FFF2-40B4-BE49-F238E27FC236}">
                <a16:creationId xmlns:a16="http://schemas.microsoft.com/office/drawing/2014/main" id="{CF373D64-D4F0-39EB-F92B-F853F4F96971}"/>
              </a:ext>
            </a:extLst>
          </p:cNvPr>
          <p:cNvCxnSpPr>
            <a:cxnSpLocks/>
          </p:cNvCxnSpPr>
          <p:nvPr/>
        </p:nvCxnSpPr>
        <p:spPr>
          <a:xfrm>
            <a:off x="1317921" y="6302577"/>
            <a:ext cx="360000" cy="0"/>
          </a:xfrm>
          <a:prstGeom prst="straightConnector1">
            <a:avLst/>
          </a:prstGeom>
          <a:ln w="9525">
            <a:headEnd type="none" w="med" len="sm"/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77" name="Gerade Verbindung mit Pfeil 76">
            <a:extLst>
              <a:ext uri="{FF2B5EF4-FFF2-40B4-BE49-F238E27FC236}">
                <a16:creationId xmlns:a16="http://schemas.microsoft.com/office/drawing/2014/main" id="{34D0C2AF-BC06-2E3E-5B7E-66935EAE392B}"/>
              </a:ext>
            </a:extLst>
          </p:cNvPr>
          <p:cNvCxnSpPr>
            <a:cxnSpLocks/>
          </p:cNvCxnSpPr>
          <p:nvPr/>
        </p:nvCxnSpPr>
        <p:spPr>
          <a:xfrm>
            <a:off x="1343643" y="4881397"/>
            <a:ext cx="360000" cy="0"/>
          </a:xfrm>
          <a:prstGeom prst="straightConnector1">
            <a:avLst/>
          </a:prstGeom>
          <a:ln w="9525">
            <a:headEnd type="none" w="med" len="sm"/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78" name="Rechteck: abgerundete Ecken 77">
            <a:extLst>
              <a:ext uri="{FF2B5EF4-FFF2-40B4-BE49-F238E27FC236}">
                <a16:creationId xmlns:a16="http://schemas.microsoft.com/office/drawing/2014/main" id="{E5AF0062-4B7C-9DB5-1DA2-D3B85924E24F}"/>
              </a:ext>
            </a:extLst>
          </p:cNvPr>
          <p:cNvSpPr/>
          <p:nvPr/>
        </p:nvSpPr>
        <p:spPr>
          <a:xfrm>
            <a:off x="235552" y="4488151"/>
            <a:ext cx="1164100" cy="719155"/>
          </a:xfrm>
          <a:prstGeom prst="roundRect">
            <a:avLst>
              <a:gd name="adj" fmla="val 9648"/>
            </a:avLst>
          </a:prstGeom>
          <a:solidFill>
            <a:srgbClr val="667D85"/>
          </a:solidFill>
          <a:ln w="15875">
            <a:solidFill>
              <a:srgbClr val="FFC000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36000" rtlCol="0" anchor="t"/>
          <a:lstStyle/>
          <a:p>
            <a:pPr>
              <a:defRPr/>
            </a:pPr>
            <a:r>
              <a:rPr kumimoji="0" lang="e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  <a:t>GVF </a:t>
            </a:r>
            <a:br>
              <a:rPr kumimoji="0" lang="e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</a:br>
            <a:r>
              <a:rPr lang="en" sz="1000">
                <a:solidFill>
                  <a:schemeClr val="tx1"/>
                </a:solidFill>
                <a:latin typeface="VWAG TheSans"/>
              </a:rPr>
              <a:t>Scraped </a:t>
            </a:r>
            <a:br>
              <a:rPr lang="en" sz="1000">
                <a:solidFill>
                  <a:schemeClr val="tx1"/>
                </a:solidFill>
                <a:latin typeface="VWAG TheSans"/>
              </a:rPr>
            </a:br>
            <a:r>
              <a:rPr lang="en" sz="1000">
                <a:solidFill>
                  <a:schemeClr val="tx1"/>
                </a:solidFill>
                <a:latin typeface="VWAG TheSans"/>
              </a:rPr>
              <a:t>Development</a:t>
            </a:r>
          </a:p>
          <a:p>
            <a:pPr>
              <a:defRPr/>
            </a:pPr>
            <a:r>
              <a:rPr kumimoji="0" lang="en" sz="10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  <a:t>Tunning Vehicle</a:t>
            </a:r>
            <a:br>
              <a:rPr kumimoji="0" lang="en" sz="10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</a:br>
            <a:br>
              <a:rPr kumimoji="0" lang="e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</a:br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he Group TEXT"/>
              <a:ea typeface="+mn-ea"/>
              <a:cs typeface="+mn-cs"/>
            </a:endParaRPr>
          </a:p>
        </p:txBody>
      </p:sp>
      <p:cxnSp>
        <p:nvCxnSpPr>
          <p:cNvPr id="79" name="Gerade Verbindung mit Pfeil 78">
            <a:extLst>
              <a:ext uri="{FF2B5EF4-FFF2-40B4-BE49-F238E27FC236}">
                <a16:creationId xmlns:a16="http://schemas.microsoft.com/office/drawing/2014/main" id="{CAF0D4A7-6F19-E8D7-14BC-CA17FE36FA25}"/>
              </a:ext>
            </a:extLst>
          </p:cNvPr>
          <p:cNvCxnSpPr>
            <a:cxnSpLocks/>
          </p:cNvCxnSpPr>
          <p:nvPr/>
        </p:nvCxnSpPr>
        <p:spPr>
          <a:xfrm>
            <a:off x="1343643" y="5595044"/>
            <a:ext cx="360000" cy="0"/>
          </a:xfrm>
          <a:prstGeom prst="straightConnector1">
            <a:avLst/>
          </a:prstGeom>
          <a:ln w="9525">
            <a:headEnd type="none" w="med" len="sm"/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0" name="Rechteck: abgerundete Ecken 79">
            <a:extLst>
              <a:ext uri="{FF2B5EF4-FFF2-40B4-BE49-F238E27FC236}">
                <a16:creationId xmlns:a16="http://schemas.microsoft.com/office/drawing/2014/main" id="{C143C002-9F62-8A03-04DB-81614A9129AC}"/>
              </a:ext>
            </a:extLst>
          </p:cNvPr>
          <p:cNvSpPr/>
          <p:nvPr/>
        </p:nvSpPr>
        <p:spPr>
          <a:xfrm>
            <a:off x="229085" y="5263175"/>
            <a:ext cx="1164100" cy="695808"/>
          </a:xfrm>
          <a:prstGeom prst="roundRect">
            <a:avLst>
              <a:gd name="adj" fmla="val 9648"/>
            </a:avLst>
          </a:prstGeom>
          <a:solidFill>
            <a:srgbClr val="667D85"/>
          </a:solidFill>
          <a:ln w="15875">
            <a:solidFill>
              <a:srgbClr val="FFC000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36000" rtlCol="0" anchor="t"/>
          <a:lstStyle/>
          <a:p>
            <a:pPr>
              <a:defRPr/>
            </a:pPr>
            <a:r>
              <a:rPr kumimoji="0" lang="e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  <a:t>ORU</a:t>
            </a:r>
            <a:br>
              <a:rPr kumimoji="0" lang="e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</a:br>
            <a:r>
              <a:rPr kumimoji="0" lang="e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  <a:t>SMART Campaign</a:t>
            </a:r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he Group TEXT"/>
              <a:ea typeface="+mn-ea"/>
              <a:cs typeface="+mn-cs"/>
            </a:endParaRPr>
          </a:p>
        </p:txBody>
      </p:sp>
      <p:sp>
        <p:nvSpPr>
          <p:cNvPr id="81" name="Rechteck: abgerundete Ecken 80">
            <a:extLst>
              <a:ext uri="{FF2B5EF4-FFF2-40B4-BE49-F238E27FC236}">
                <a16:creationId xmlns:a16="http://schemas.microsoft.com/office/drawing/2014/main" id="{BAD01A8C-6ADA-F037-A525-DF00D513CE5E}"/>
              </a:ext>
            </a:extLst>
          </p:cNvPr>
          <p:cNvSpPr/>
          <p:nvPr/>
        </p:nvSpPr>
        <p:spPr>
          <a:xfrm>
            <a:off x="243699" y="6014853"/>
            <a:ext cx="1288007" cy="530648"/>
          </a:xfrm>
          <a:prstGeom prst="roundRect">
            <a:avLst>
              <a:gd name="adj" fmla="val 9648"/>
            </a:avLst>
          </a:prstGeom>
          <a:solidFill>
            <a:srgbClr val="667D85"/>
          </a:solidFill>
          <a:ln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36000" rtlCol="0" anchor="t"/>
          <a:lstStyle/>
          <a:p>
            <a:pPr>
              <a:defRPr/>
            </a:pPr>
            <a:r>
              <a:rPr lang="en" sz="1400" b="1">
                <a:solidFill>
                  <a:schemeClr val="tx1"/>
                </a:solidFill>
                <a:latin typeface="VWAG TheSans"/>
              </a:rPr>
              <a:t>Authentication</a:t>
            </a:r>
            <a:endParaRPr lang="de-DE" sz="1400">
              <a:solidFill>
                <a:srgbClr val="FFFFFF"/>
              </a:solidFill>
            </a:endParaRPr>
          </a:p>
          <a:p>
            <a:pPr>
              <a:defRPr/>
            </a:pPr>
            <a:r>
              <a:rPr lang="de-DE" sz="1000" err="1">
                <a:solidFill>
                  <a:schemeClr val="tx1"/>
                </a:solidFill>
                <a:latin typeface="VWAG TheSans"/>
              </a:rPr>
              <a:t>Cloud.IDP</a:t>
            </a:r>
            <a:endParaRPr lang="de-DE" sz="1000">
              <a:solidFill>
                <a:schemeClr val="tx1"/>
              </a:solidFill>
              <a:latin typeface="VWAG TheSans"/>
            </a:endParaRPr>
          </a:p>
          <a:p>
            <a:pPr>
              <a:defRPr/>
            </a:pPr>
            <a:r>
              <a:rPr lang="de-DE" sz="1000">
                <a:solidFill>
                  <a:schemeClr val="tx1"/>
                </a:solidFill>
                <a:latin typeface="VWAG TheSans"/>
              </a:rPr>
              <a:t>GRP</a:t>
            </a:r>
            <a:br>
              <a:rPr kumimoji="0" lang="e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</a:br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he Group TEXT"/>
              <a:ea typeface="+mn-ea"/>
              <a:cs typeface="+mn-cs"/>
            </a:endParaRPr>
          </a:p>
        </p:txBody>
      </p:sp>
      <p:sp>
        <p:nvSpPr>
          <p:cNvPr id="82" name="Rechteck: abgerundete Ecken 81">
            <a:extLst>
              <a:ext uri="{FF2B5EF4-FFF2-40B4-BE49-F238E27FC236}">
                <a16:creationId xmlns:a16="http://schemas.microsoft.com/office/drawing/2014/main" id="{D26FB616-1744-975C-96DB-38B7E06772BA}"/>
              </a:ext>
            </a:extLst>
          </p:cNvPr>
          <p:cNvSpPr/>
          <p:nvPr/>
        </p:nvSpPr>
        <p:spPr>
          <a:xfrm>
            <a:off x="1691171" y="2729028"/>
            <a:ext cx="547589" cy="1683497"/>
          </a:xfrm>
          <a:prstGeom prst="roundRect">
            <a:avLst>
              <a:gd name="adj" fmla="val 5640"/>
            </a:avLst>
          </a:prstGeom>
          <a:solidFill>
            <a:schemeClr val="accent5">
              <a:lumMod val="50000"/>
            </a:schemeClr>
          </a:solidFill>
          <a:ln>
            <a:solidFill>
              <a:srgbClr val="C2FE06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0" rIns="36000" bIns="180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i="0" u="none" strike="noStrike" kern="1200" cap="none" spc="0" normalizeH="0" baseline="0" noProof="0">
                <a:ln>
                  <a:noFill/>
                </a:ln>
                <a:solidFill>
                  <a:srgbClr val="C2FE06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RVS</a:t>
            </a:r>
          </a:p>
        </p:txBody>
      </p:sp>
      <p:cxnSp>
        <p:nvCxnSpPr>
          <p:cNvPr id="84" name="Gerade Verbindung mit Pfeil 83">
            <a:extLst>
              <a:ext uri="{FF2B5EF4-FFF2-40B4-BE49-F238E27FC236}">
                <a16:creationId xmlns:a16="http://schemas.microsoft.com/office/drawing/2014/main" id="{A5DB3568-8EBB-1BB7-8DBC-8779317651CC}"/>
              </a:ext>
            </a:extLst>
          </p:cNvPr>
          <p:cNvCxnSpPr>
            <a:cxnSpLocks/>
          </p:cNvCxnSpPr>
          <p:nvPr/>
        </p:nvCxnSpPr>
        <p:spPr>
          <a:xfrm>
            <a:off x="1283270" y="3621897"/>
            <a:ext cx="360000" cy="0"/>
          </a:xfrm>
          <a:prstGeom prst="straightConnector1">
            <a:avLst/>
          </a:prstGeom>
          <a:ln w="9525">
            <a:headEnd type="none" w="med" len="sm"/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5" name="Gerade Verbindung mit Pfeil 84">
            <a:extLst>
              <a:ext uri="{FF2B5EF4-FFF2-40B4-BE49-F238E27FC236}">
                <a16:creationId xmlns:a16="http://schemas.microsoft.com/office/drawing/2014/main" id="{CFF63134-9346-7FEB-E8D7-D4AD80CC65A6}"/>
              </a:ext>
            </a:extLst>
          </p:cNvPr>
          <p:cNvCxnSpPr>
            <a:cxnSpLocks/>
          </p:cNvCxnSpPr>
          <p:nvPr/>
        </p:nvCxnSpPr>
        <p:spPr>
          <a:xfrm>
            <a:off x="1283270" y="3829864"/>
            <a:ext cx="360000" cy="0"/>
          </a:xfrm>
          <a:prstGeom prst="straightConnector1">
            <a:avLst/>
          </a:prstGeom>
          <a:ln w="9525">
            <a:headEnd type="none" w="med" len="sm"/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6" name="Gerade Verbindung mit Pfeil 85">
            <a:extLst>
              <a:ext uri="{FF2B5EF4-FFF2-40B4-BE49-F238E27FC236}">
                <a16:creationId xmlns:a16="http://schemas.microsoft.com/office/drawing/2014/main" id="{DE32F23F-ECB4-8803-B73F-A5E65BB5DE85}"/>
              </a:ext>
            </a:extLst>
          </p:cNvPr>
          <p:cNvCxnSpPr>
            <a:cxnSpLocks/>
          </p:cNvCxnSpPr>
          <p:nvPr/>
        </p:nvCxnSpPr>
        <p:spPr>
          <a:xfrm>
            <a:off x="1303687" y="3126380"/>
            <a:ext cx="360000" cy="0"/>
          </a:xfrm>
          <a:prstGeom prst="straightConnector1">
            <a:avLst/>
          </a:prstGeom>
          <a:ln w="9525">
            <a:headEnd type="none" w="med" len="sm"/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7" name="Rechteck: abgerundete Ecken 86">
            <a:extLst>
              <a:ext uri="{FF2B5EF4-FFF2-40B4-BE49-F238E27FC236}">
                <a16:creationId xmlns:a16="http://schemas.microsoft.com/office/drawing/2014/main" id="{28F919D8-1DE6-CC67-E789-6A16508E38AA}"/>
              </a:ext>
            </a:extLst>
          </p:cNvPr>
          <p:cNvSpPr/>
          <p:nvPr/>
        </p:nvSpPr>
        <p:spPr>
          <a:xfrm>
            <a:off x="221318" y="3740855"/>
            <a:ext cx="1151167" cy="186297"/>
          </a:xfrm>
          <a:prstGeom prst="roundRect">
            <a:avLst/>
          </a:prstGeom>
          <a:solidFill>
            <a:srgbClr val="667D85"/>
          </a:solidFill>
          <a:ln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>
              <a:defRPr/>
            </a:pPr>
            <a:r>
              <a:rPr lang="de-DE" sz="1400">
                <a:solidFill>
                  <a:schemeClr val="tx1"/>
                </a:solidFill>
                <a:latin typeface="VWAG TheSans"/>
              </a:rPr>
              <a:t>HST2</a:t>
            </a:r>
          </a:p>
        </p:txBody>
      </p:sp>
      <p:sp>
        <p:nvSpPr>
          <p:cNvPr id="88" name="Rechteck: abgerundete Ecken 87">
            <a:extLst>
              <a:ext uri="{FF2B5EF4-FFF2-40B4-BE49-F238E27FC236}">
                <a16:creationId xmlns:a16="http://schemas.microsoft.com/office/drawing/2014/main" id="{09742301-475C-AB3A-22F9-250F944B870A}"/>
              </a:ext>
            </a:extLst>
          </p:cNvPr>
          <p:cNvSpPr/>
          <p:nvPr/>
        </p:nvSpPr>
        <p:spPr>
          <a:xfrm>
            <a:off x="221318" y="3524807"/>
            <a:ext cx="1151167" cy="186297"/>
          </a:xfrm>
          <a:prstGeom prst="roundRect">
            <a:avLst/>
          </a:prstGeom>
          <a:solidFill>
            <a:srgbClr val="667D85"/>
          </a:solidFill>
          <a:ln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>
              <a:defRPr/>
            </a:pPr>
            <a:r>
              <a:rPr lang="de-DE" sz="1400">
                <a:solidFill>
                  <a:srgbClr val="DA0C1F"/>
                </a:solidFill>
                <a:latin typeface="VWAG TheSans"/>
              </a:rPr>
              <a:t>KVPS&amp;</a:t>
            </a:r>
            <a:r>
              <a:rPr lang="de-DE" sz="1400">
                <a:solidFill>
                  <a:schemeClr val="tx1"/>
                </a:solidFill>
                <a:latin typeface="VWAG TheSans"/>
              </a:rPr>
              <a:t>BCMP</a:t>
            </a:r>
          </a:p>
        </p:txBody>
      </p:sp>
      <p:sp>
        <p:nvSpPr>
          <p:cNvPr id="89" name="Rechteck: abgerundete Ecken 88">
            <a:extLst>
              <a:ext uri="{FF2B5EF4-FFF2-40B4-BE49-F238E27FC236}">
                <a16:creationId xmlns:a16="http://schemas.microsoft.com/office/drawing/2014/main" id="{31B9F25F-4DB5-B6AF-F8D5-411503C7C127}"/>
              </a:ext>
            </a:extLst>
          </p:cNvPr>
          <p:cNvSpPr/>
          <p:nvPr/>
        </p:nvSpPr>
        <p:spPr>
          <a:xfrm>
            <a:off x="221318" y="2730454"/>
            <a:ext cx="1164100" cy="754789"/>
          </a:xfrm>
          <a:prstGeom prst="roundRect">
            <a:avLst>
              <a:gd name="adj" fmla="val 9648"/>
            </a:avLst>
          </a:prstGeom>
          <a:solidFill>
            <a:srgbClr val="667D85"/>
          </a:solidFill>
          <a:ln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36000" rtlCol="0" anchor="t"/>
          <a:lstStyle/>
          <a:p>
            <a:pPr>
              <a:defRPr/>
            </a:pPr>
            <a:r>
              <a:rPr lang="en" sz="1400" b="1">
                <a:solidFill>
                  <a:schemeClr val="tx1"/>
                </a:solidFill>
                <a:latin typeface="VWAG TheSans"/>
              </a:rPr>
              <a:t>Repare-Data</a:t>
            </a:r>
            <a:r>
              <a:rPr kumimoji="0" lang="e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  <a:t> </a:t>
            </a:r>
            <a:br>
              <a:rPr kumimoji="0" lang="e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</a:br>
            <a:r>
              <a:rPr kumimoji="0" lang="e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  <a:t> </a:t>
            </a:r>
            <a:r>
              <a:rPr lang="de-DE" sz="1000">
                <a:solidFill>
                  <a:schemeClr val="tx1"/>
                </a:solidFill>
                <a:latin typeface="VWAG TheSans"/>
              </a:rPr>
              <a:t>SAGA/2</a:t>
            </a:r>
          </a:p>
          <a:p>
            <a:pPr>
              <a:defRPr/>
            </a:pPr>
            <a:r>
              <a:rPr lang="de-DE" sz="1000">
                <a:solidFill>
                  <a:schemeClr val="tx1"/>
                </a:solidFill>
                <a:latin typeface="VWAG TheSans"/>
              </a:rPr>
              <a:t> FISKUS</a:t>
            </a:r>
          </a:p>
          <a:p>
            <a:pPr>
              <a:defRPr/>
            </a:pPr>
            <a:r>
              <a:rPr lang="de-DE" sz="1000">
                <a:solidFill>
                  <a:schemeClr val="tx1"/>
                </a:solidFill>
                <a:latin typeface="VWAG TheSans"/>
              </a:rPr>
              <a:t> Reserve</a:t>
            </a:r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he Group TEXT"/>
              <a:ea typeface="+mn-ea"/>
              <a:cs typeface="+mn-cs"/>
            </a:endParaRPr>
          </a:p>
        </p:txBody>
      </p:sp>
      <p:cxnSp>
        <p:nvCxnSpPr>
          <p:cNvPr id="90" name="Gerade Verbindung mit Pfeil 89">
            <a:extLst>
              <a:ext uri="{FF2B5EF4-FFF2-40B4-BE49-F238E27FC236}">
                <a16:creationId xmlns:a16="http://schemas.microsoft.com/office/drawing/2014/main" id="{1521553E-E319-1A73-852E-6AEEE6EE6592}"/>
              </a:ext>
            </a:extLst>
          </p:cNvPr>
          <p:cNvCxnSpPr>
            <a:cxnSpLocks/>
          </p:cNvCxnSpPr>
          <p:nvPr/>
        </p:nvCxnSpPr>
        <p:spPr>
          <a:xfrm>
            <a:off x="1283270" y="4156915"/>
            <a:ext cx="360000" cy="0"/>
          </a:xfrm>
          <a:prstGeom prst="straightConnector1">
            <a:avLst/>
          </a:prstGeom>
          <a:ln w="9525">
            <a:headEnd type="none" w="med" len="sm"/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91" name="Rechteck: abgerundete Ecken 90">
            <a:extLst>
              <a:ext uri="{FF2B5EF4-FFF2-40B4-BE49-F238E27FC236}">
                <a16:creationId xmlns:a16="http://schemas.microsoft.com/office/drawing/2014/main" id="{3483609F-93D8-EB5C-2301-A612017B1002}"/>
              </a:ext>
            </a:extLst>
          </p:cNvPr>
          <p:cNvSpPr/>
          <p:nvPr/>
        </p:nvSpPr>
        <p:spPr>
          <a:xfrm>
            <a:off x="221318" y="3977276"/>
            <a:ext cx="1164100" cy="405053"/>
          </a:xfrm>
          <a:prstGeom prst="roundRect">
            <a:avLst>
              <a:gd name="adj" fmla="val 9648"/>
            </a:avLst>
          </a:prstGeom>
          <a:solidFill>
            <a:srgbClr val="667D85"/>
          </a:solidFill>
          <a:ln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>
              <a:defRPr/>
            </a:pPr>
            <a:r>
              <a:rPr lang="de-DE" sz="1100">
                <a:solidFill>
                  <a:schemeClr val="tx1"/>
                </a:solidFill>
                <a:latin typeface="VWAG TheSans"/>
              </a:rPr>
              <a:t>Manuell triggert  </a:t>
            </a:r>
            <a:r>
              <a:rPr lang="de-DE" sz="1400" err="1">
                <a:solidFill>
                  <a:schemeClr val="tx1"/>
                </a:solidFill>
                <a:latin typeface="VWAG TheSans"/>
              </a:rPr>
              <a:t>uploads</a:t>
            </a:r>
            <a:endParaRPr lang="de-DE" sz="1400">
              <a:solidFill>
                <a:schemeClr val="tx1"/>
              </a:solidFill>
              <a:latin typeface="VWAG TheSans"/>
            </a:endParaRPr>
          </a:p>
        </p:txBody>
      </p:sp>
      <p:sp>
        <p:nvSpPr>
          <p:cNvPr id="127" name="Rechteck: abgerundete Ecken 126">
            <a:extLst>
              <a:ext uri="{FF2B5EF4-FFF2-40B4-BE49-F238E27FC236}">
                <a16:creationId xmlns:a16="http://schemas.microsoft.com/office/drawing/2014/main" id="{D8DC9B63-1510-1555-7511-0AD70CB48501}"/>
              </a:ext>
            </a:extLst>
          </p:cNvPr>
          <p:cNvSpPr/>
          <p:nvPr/>
        </p:nvSpPr>
        <p:spPr>
          <a:xfrm>
            <a:off x="10766285" y="6065352"/>
            <a:ext cx="1164100" cy="506616"/>
          </a:xfrm>
          <a:prstGeom prst="roundRect">
            <a:avLst>
              <a:gd name="adj" fmla="val 9648"/>
            </a:avLst>
          </a:prstGeom>
          <a:solidFill>
            <a:srgbClr val="667D85"/>
          </a:solidFill>
          <a:ln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>
              <a:defRPr/>
            </a:pPr>
            <a:r>
              <a:rPr lang="de-DE" sz="1100">
                <a:solidFill>
                  <a:schemeClr val="tx1"/>
                </a:solidFill>
                <a:latin typeface="VWAG TheSans"/>
              </a:rPr>
              <a:t>Manuell triggert  </a:t>
            </a:r>
            <a:r>
              <a:rPr lang="de-DE" sz="1400" err="1">
                <a:solidFill>
                  <a:schemeClr val="tx1"/>
                </a:solidFill>
                <a:latin typeface="VWAG TheSans"/>
              </a:rPr>
              <a:t>reports</a:t>
            </a:r>
            <a:endParaRPr lang="de-DE" sz="1400">
              <a:solidFill>
                <a:schemeClr val="tx1"/>
              </a:solidFill>
              <a:latin typeface="VWAG TheSans"/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C008FCF3-E3F0-CDD3-389E-502EB5EAF8E1}"/>
              </a:ext>
            </a:extLst>
          </p:cNvPr>
          <p:cNvSpPr/>
          <p:nvPr/>
        </p:nvSpPr>
        <p:spPr>
          <a:xfrm>
            <a:off x="2617027" y="5184507"/>
            <a:ext cx="7088184" cy="1609993"/>
          </a:xfrm>
          <a:prstGeom prst="rect">
            <a:avLst/>
          </a:prstGeom>
          <a:solidFill>
            <a:srgbClr val="8CBEE6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216000" rIns="216000" bIns="216000" rtlCol="0" anchor="t"/>
          <a:lstStyle/>
          <a:p>
            <a:pPr algn="l" defTabSz="432000">
              <a:spcAft>
                <a:spcPts val="600"/>
              </a:spcAft>
            </a:pPr>
            <a:endParaRPr lang="de-DE" sz="1400"/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FE06EB0A-E21C-9F8A-798C-CA6648255B41}"/>
              </a:ext>
            </a:extLst>
          </p:cNvPr>
          <p:cNvSpPr/>
          <p:nvPr/>
        </p:nvSpPr>
        <p:spPr>
          <a:xfrm>
            <a:off x="6231847" y="5219530"/>
            <a:ext cx="3409224" cy="1525381"/>
          </a:xfrm>
          <a:prstGeom prst="roundRect">
            <a:avLst>
              <a:gd name="adj" fmla="val 5001"/>
            </a:avLst>
          </a:prstGeom>
          <a:solidFill>
            <a:srgbClr val="99A9AD"/>
          </a:solidFill>
          <a:ln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180000" bIns="180000" rtlCol="0" anchor="t"/>
          <a:lstStyle/>
          <a:p>
            <a:pPr>
              <a:defRPr/>
            </a:pPr>
            <a:r>
              <a:rPr kumimoji="0" lang="e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  <a:t>Data-Analytics</a:t>
            </a:r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he Group TEXT"/>
              <a:ea typeface="+mn-ea"/>
              <a:cs typeface="+mn-cs"/>
            </a:endParaRPr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D8A8EB80-3B45-0F71-2AE0-8D13B9B0E10D}"/>
              </a:ext>
            </a:extLst>
          </p:cNvPr>
          <p:cNvSpPr/>
          <p:nvPr/>
        </p:nvSpPr>
        <p:spPr>
          <a:xfrm>
            <a:off x="6283992" y="6105481"/>
            <a:ext cx="3307538" cy="510654"/>
          </a:xfrm>
          <a:prstGeom prst="roundRect">
            <a:avLst>
              <a:gd name="adj" fmla="val 9648"/>
            </a:avLst>
          </a:prstGeom>
          <a:solidFill>
            <a:srgbClr val="667D85"/>
          </a:solidFill>
          <a:ln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180000" bIns="180000" rtlCol="0" anchor="t"/>
          <a:lstStyle/>
          <a:p>
            <a:pPr>
              <a:defRPr/>
            </a:pPr>
            <a:r>
              <a:rPr kumimoji="0" lang="en" sz="1400" b="1" i="0" u="none" strike="noStrike" kern="1200" cap="none" spc="0" normalizeH="0" baseline="0" noProof="0">
                <a:ln>
                  <a:noFill/>
                </a:ln>
                <a:solidFill>
                  <a:srgbClr val="C2FE06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  <a:t>      Cognos</a:t>
            </a:r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C2FE06"/>
              </a:solidFill>
              <a:effectLst/>
              <a:uLnTx/>
              <a:uFillTx/>
              <a:latin typeface="The Group TEXT"/>
              <a:ea typeface="+mn-ea"/>
              <a:cs typeface="+mn-cs"/>
            </a:endParaRPr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9C13BF72-3EC6-58D3-FF95-DF44CF379EA4}"/>
              </a:ext>
            </a:extLst>
          </p:cNvPr>
          <p:cNvSpPr/>
          <p:nvPr/>
        </p:nvSpPr>
        <p:spPr>
          <a:xfrm>
            <a:off x="6279904" y="5574190"/>
            <a:ext cx="3295069" cy="435910"/>
          </a:xfrm>
          <a:prstGeom prst="roundRect">
            <a:avLst>
              <a:gd name="adj" fmla="val 9648"/>
            </a:avLst>
          </a:prstGeom>
          <a:solidFill>
            <a:srgbClr val="667D85"/>
          </a:solidFill>
          <a:ln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180000" bIns="180000" rtlCol="0" anchor="t"/>
          <a:lstStyle/>
          <a:p>
            <a:pPr>
              <a:defRPr/>
            </a:pPr>
            <a:r>
              <a:rPr kumimoji="0" lang="e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  <a:t>  </a:t>
            </a:r>
            <a:r>
              <a:rPr lang="en" sz="1400" b="1">
                <a:solidFill>
                  <a:srgbClr val="C2FE06"/>
                </a:solidFill>
                <a:latin typeface="VWAG TheSans"/>
              </a:rPr>
              <a:t>Web-Interfaces</a:t>
            </a:r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C2FE06"/>
              </a:solidFill>
              <a:effectLst/>
              <a:uLnTx/>
              <a:uFillTx/>
              <a:latin typeface="The Group TEXT"/>
              <a:ea typeface="+mn-ea"/>
              <a:cs typeface="+mn-cs"/>
            </a:endParaRPr>
          </a:p>
        </p:txBody>
      </p:sp>
      <p:sp>
        <p:nvSpPr>
          <p:cNvPr id="25" name="Rechteck: abgerundete Ecken 24">
            <a:extLst>
              <a:ext uri="{FF2B5EF4-FFF2-40B4-BE49-F238E27FC236}">
                <a16:creationId xmlns:a16="http://schemas.microsoft.com/office/drawing/2014/main" id="{33022B4E-CF7C-F6CB-178B-95199834D430}"/>
              </a:ext>
            </a:extLst>
          </p:cNvPr>
          <p:cNvSpPr/>
          <p:nvPr/>
        </p:nvSpPr>
        <p:spPr>
          <a:xfrm>
            <a:off x="2710688" y="5219530"/>
            <a:ext cx="3359047" cy="1525381"/>
          </a:xfrm>
          <a:prstGeom prst="roundRect">
            <a:avLst>
              <a:gd name="adj" fmla="val 5001"/>
            </a:avLst>
          </a:prstGeom>
          <a:solidFill>
            <a:srgbClr val="99A9AD"/>
          </a:solidFill>
          <a:ln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36000" rIns="180000" bIns="180000" rtlCol="0" anchor="t"/>
          <a:lstStyle/>
          <a:p>
            <a:pPr>
              <a:defRPr/>
            </a:pPr>
            <a:r>
              <a:rPr kumimoji="0" lang="e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  <a:t>Vehicle-Data</a:t>
            </a:r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he Group TEXT"/>
              <a:ea typeface="+mn-ea"/>
              <a:cs typeface="+mn-cs"/>
            </a:endParaRP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8FEAACB7-06D2-0B31-3DD2-8FEA492A6F2C}"/>
              </a:ext>
            </a:extLst>
          </p:cNvPr>
          <p:cNvSpPr/>
          <p:nvPr/>
        </p:nvSpPr>
        <p:spPr>
          <a:xfrm>
            <a:off x="2767204" y="6115292"/>
            <a:ext cx="3192651" cy="522236"/>
          </a:xfrm>
          <a:prstGeom prst="rect">
            <a:avLst/>
          </a:prstGeom>
          <a:solidFill>
            <a:srgbClr val="667D85"/>
          </a:solidFill>
          <a:ln w="9525">
            <a:solidFill>
              <a:srgbClr val="C2FE06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algn="ctr"/>
            <a:r>
              <a:rPr lang="de-DE" sz="2000" b="1">
                <a:solidFill>
                  <a:schemeClr val="tx1"/>
                </a:solidFill>
              </a:rPr>
              <a:t>IDAA</a:t>
            </a:r>
            <a:br>
              <a:rPr lang="de-DE" sz="1200"/>
            </a:br>
            <a:r>
              <a:rPr lang="de-DE" sz="1200" err="1">
                <a:solidFill>
                  <a:srgbClr val="C2FE06"/>
                </a:solidFill>
              </a:rPr>
              <a:t>Based</a:t>
            </a:r>
            <a:r>
              <a:rPr lang="de-DE" sz="1200">
                <a:solidFill>
                  <a:srgbClr val="C2FE06"/>
                </a:solidFill>
              </a:rPr>
              <a:t> on </a:t>
            </a:r>
            <a:r>
              <a:rPr lang="de-DE" sz="1200" err="1">
                <a:solidFill>
                  <a:srgbClr val="C2FE06"/>
                </a:solidFill>
              </a:rPr>
              <a:t>the</a:t>
            </a:r>
            <a:r>
              <a:rPr lang="de-DE" sz="1200">
                <a:solidFill>
                  <a:srgbClr val="C2FE06"/>
                </a:solidFill>
              </a:rPr>
              <a:t> Mainframe</a:t>
            </a:r>
          </a:p>
        </p:txBody>
      </p:sp>
      <p:sp>
        <p:nvSpPr>
          <p:cNvPr id="32" name="Chevron 76">
            <a:extLst>
              <a:ext uri="{FF2B5EF4-FFF2-40B4-BE49-F238E27FC236}">
                <a16:creationId xmlns:a16="http://schemas.microsoft.com/office/drawing/2014/main" id="{955ABDF1-4BF3-8A2A-1ECE-3ABA86C40157}"/>
              </a:ext>
            </a:extLst>
          </p:cNvPr>
          <p:cNvSpPr/>
          <p:nvPr/>
        </p:nvSpPr>
        <p:spPr>
          <a:xfrm rot="5400000">
            <a:off x="2656715" y="5914801"/>
            <a:ext cx="908635" cy="466535"/>
          </a:xfrm>
          <a:prstGeom prst="chevron">
            <a:avLst/>
          </a:prstGeom>
          <a:solidFill>
            <a:srgbClr val="C2E3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1200" cap="none" spc="0" normalizeH="0" baseline="0" noProof="0">
                <a:ln>
                  <a:noFill/>
                </a:ln>
                <a:solidFill>
                  <a:srgbClr val="2D5159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  <a:t>C</a:t>
            </a:r>
            <a:r>
              <a:rPr kumimoji="0" lang="en" sz="1100" b="0" i="0" u="none" strike="noStrike" kern="1200" cap="none" spc="0" normalizeH="0" baseline="0" noProof="0">
                <a:ln>
                  <a:noFill/>
                </a:ln>
                <a:solidFill>
                  <a:srgbClr val="2D5159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  <a:t>opy </a:t>
            </a:r>
            <a:br>
              <a:rPr kumimoji="0" lang="en" sz="1100" b="0" i="0" u="none" strike="noStrike" kern="1200" cap="none" spc="0" normalizeH="0" baseline="0" noProof="0">
                <a:ln>
                  <a:noFill/>
                </a:ln>
                <a:solidFill>
                  <a:srgbClr val="2D5159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</a:br>
            <a:r>
              <a:rPr kumimoji="0" lang="en" sz="1100" b="0" i="0" u="none" strike="noStrike" kern="1200" cap="none" spc="0" normalizeH="0" baseline="0" noProof="0">
                <a:ln>
                  <a:noFill/>
                </a:ln>
                <a:solidFill>
                  <a:srgbClr val="2D5159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  <a:t>data</a:t>
            </a:r>
          </a:p>
        </p:txBody>
      </p:sp>
      <p:sp>
        <p:nvSpPr>
          <p:cNvPr id="40" name="Rechteck: abgerundete Ecken 39">
            <a:extLst>
              <a:ext uri="{FF2B5EF4-FFF2-40B4-BE49-F238E27FC236}">
                <a16:creationId xmlns:a16="http://schemas.microsoft.com/office/drawing/2014/main" id="{618CDEF3-0FA9-85CD-7E6B-0062E0444F42}"/>
              </a:ext>
            </a:extLst>
          </p:cNvPr>
          <p:cNvSpPr/>
          <p:nvPr/>
        </p:nvSpPr>
        <p:spPr>
          <a:xfrm>
            <a:off x="2768614" y="5553947"/>
            <a:ext cx="3208915" cy="478791"/>
          </a:xfrm>
          <a:prstGeom prst="roundRect">
            <a:avLst>
              <a:gd name="adj" fmla="val 9648"/>
            </a:avLst>
          </a:prstGeom>
          <a:solidFill>
            <a:srgbClr val="667D85"/>
          </a:solidFill>
          <a:ln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80000" bIns="180000" rtlCol="0" anchor="t"/>
          <a:lstStyle/>
          <a:p>
            <a:pPr>
              <a:defRPr/>
            </a:pPr>
            <a:r>
              <a:rPr kumimoji="0" lang="e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  <a:t>CARPORT</a:t>
            </a:r>
            <a:br>
              <a:rPr kumimoji="0" lang="e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</a:br>
            <a:r>
              <a:rPr kumimoji="0" lang="en" sz="1400" i="1" u="none" strike="noStrike" kern="1200" cap="none" spc="0" normalizeH="0" baseline="0" noProof="0">
                <a:ln>
                  <a:noFill/>
                </a:ln>
                <a:solidFill>
                  <a:srgbClr val="C2FE06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  <a:t>Mainframe</a:t>
            </a:r>
            <a:r>
              <a:rPr kumimoji="0" lang="e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  <a:t> </a:t>
            </a:r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he Group TEXT"/>
              <a:ea typeface="+mn-ea"/>
              <a:cs typeface="+mn-cs"/>
            </a:endParaRP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443937BC-DA45-1079-0F3A-4751B81FF7E1}"/>
              </a:ext>
            </a:extLst>
          </p:cNvPr>
          <p:cNvSpPr txBox="1"/>
          <p:nvPr/>
        </p:nvSpPr>
        <p:spPr>
          <a:xfrm>
            <a:off x="3863013" y="5653654"/>
            <a:ext cx="1628268" cy="3693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1200">
                <a:solidFill>
                  <a:schemeClr val="tx2"/>
                </a:solidFill>
              </a:rPr>
              <a:t>(Currently ca. 236 million vehicles)</a:t>
            </a:r>
            <a:endParaRPr lang="de-DE" sz="1200" err="1">
              <a:solidFill>
                <a:schemeClr val="tx2"/>
              </a:solidFill>
            </a:endParaRPr>
          </a:p>
        </p:txBody>
      </p:sp>
      <p:sp>
        <p:nvSpPr>
          <p:cNvPr id="43" name="Pfeil: nach rechts 42">
            <a:extLst>
              <a:ext uri="{FF2B5EF4-FFF2-40B4-BE49-F238E27FC236}">
                <a16:creationId xmlns:a16="http://schemas.microsoft.com/office/drawing/2014/main" id="{AE921EC6-BD1B-9A87-8C2F-B5E568AFB66D}"/>
              </a:ext>
            </a:extLst>
          </p:cNvPr>
          <p:cNvSpPr/>
          <p:nvPr/>
        </p:nvSpPr>
        <p:spPr>
          <a:xfrm rot="5400000">
            <a:off x="8239484" y="4541256"/>
            <a:ext cx="2118998" cy="197339"/>
          </a:xfrm>
          <a:prstGeom prst="rightArrow">
            <a:avLst>
              <a:gd name="adj1" fmla="val 100000"/>
              <a:gd name="adj2" fmla="val 50000"/>
            </a:avLst>
          </a:prstGeom>
          <a:solidFill>
            <a:srgbClr val="FAD2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algn="ctr"/>
            <a:r>
              <a:rPr lang="de-DE" sz="1400">
                <a:solidFill>
                  <a:srgbClr val="002733"/>
                </a:solidFill>
              </a:rPr>
              <a:t>CALL</a:t>
            </a:r>
          </a:p>
        </p:txBody>
      </p:sp>
      <p:sp>
        <p:nvSpPr>
          <p:cNvPr id="44" name="Chevron 76">
            <a:extLst>
              <a:ext uri="{FF2B5EF4-FFF2-40B4-BE49-F238E27FC236}">
                <a16:creationId xmlns:a16="http://schemas.microsoft.com/office/drawing/2014/main" id="{120752AD-C560-2405-1C8A-1E160F451B14}"/>
              </a:ext>
            </a:extLst>
          </p:cNvPr>
          <p:cNvSpPr/>
          <p:nvPr/>
        </p:nvSpPr>
        <p:spPr>
          <a:xfrm rot="10800000">
            <a:off x="5757215" y="6132264"/>
            <a:ext cx="771932" cy="231593"/>
          </a:xfrm>
          <a:prstGeom prst="chevron">
            <a:avLst/>
          </a:prstGeom>
          <a:solidFill>
            <a:srgbClr val="C2E3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" sz="1100" b="0" i="0" u="none" strike="noStrike" kern="1200" cap="none" spc="0" normalizeH="0" baseline="0" noProof="0">
              <a:ln>
                <a:noFill/>
              </a:ln>
              <a:solidFill>
                <a:srgbClr val="2D5159"/>
              </a:solidFill>
              <a:effectLst/>
              <a:uLnTx/>
              <a:uFillTx/>
              <a:latin typeface="VWAG TheSans"/>
              <a:ea typeface="+mn-ea"/>
              <a:cs typeface="+mn-cs"/>
            </a:endParaRP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22F18E2C-6B2B-2CCE-777F-3ABF07E190F3}"/>
              </a:ext>
            </a:extLst>
          </p:cNvPr>
          <p:cNvSpPr txBox="1"/>
          <p:nvPr/>
        </p:nvSpPr>
        <p:spPr>
          <a:xfrm>
            <a:off x="5766671" y="6154915"/>
            <a:ext cx="757131" cy="1692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de-DE" sz="1100">
                <a:solidFill>
                  <a:srgbClr val="2D5159"/>
                </a:solidFill>
                <a:latin typeface="VWAG TheSans"/>
              </a:rPr>
              <a:t>Query</a:t>
            </a:r>
          </a:p>
        </p:txBody>
      </p:sp>
      <p:sp>
        <p:nvSpPr>
          <p:cNvPr id="46" name="Chevron 76">
            <a:extLst>
              <a:ext uri="{FF2B5EF4-FFF2-40B4-BE49-F238E27FC236}">
                <a16:creationId xmlns:a16="http://schemas.microsoft.com/office/drawing/2014/main" id="{B9FBD18D-DE7E-1FD0-E4CA-C6F128CB0D27}"/>
              </a:ext>
            </a:extLst>
          </p:cNvPr>
          <p:cNvSpPr/>
          <p:nvPr/>
        </p:nvSpPr>
        <p:spPr>
          <a:xfrm>
            <a:off x="5771163" y="6378880"/>
            <a:ext cx="771932" cy="231593"/>
          </a:xfrm>
          <a:prstGeom prst="chevron">
            <a:avLst/>
          </a:prstGeom>
          <a:solidFill>
            <a:srgbClr val="C2E3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" sz="1100" b="0" i="0" u="none" strike="noStrike" kern="1200" cap="none" spc="0" normalizeH="0" baseline="0" noProof="0">
              <a:ln>
                <a:noFill/>
              </a:ln>
              <a:solidFill>
                <a:srgbClr val="2D5159"/>
              </a:solidFill>
              <a:effectLst/>
              <a:uLnTx/>
              <a:uFillTx/>
              <a:latin typeface="VWAG TheSans"/>
              <a:ea typeface="+mn-ea"/>
              <a:cs typeface="+mn-cs"/>
            </a:endParaRP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FCCB99DA-323A-F99B-DEC5-D034A1C1BF5F}"/>
              </a:ext>
            </a:extLst>
          </p:cNvPr>
          <p:cNvSpPr txBox="1"/>
          <p:nvPr/>
        </p:nvSpPr>
        <p:spPr>
          <a:xfrm>
            <a:off x="5786929" y="6410913"/>
            <a:ext cx="757131" cy="1692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de-DE" sz="1100" err="1">
                <a:solidFill>
                  <a:srgbClr val="2D5159"/>
                </a:solidFill>
                <a:latin typeface="VWAG TheSans"/>
              </a:rPr>
              <a:t>Results</a:t>
            </a:r>
          </a:p>
        </p:txBody>
      </p:sp>
      <p:sp>
        <p:nvSpPr>
          <p:cNvPr id="50" name="Chevron 76">
            <a:extLst>
              <a:ext uri="{FF2B5EF4-FFF2-40B4-BE49-F238E27FC236}">
                <a16:creationId xmlns:a16="http://schemas.microsoft.com/office/drawing/2014/main" id="{31642E14-123E-F47F-F90A-07E1B27EC3EC}"/>
              </a:ext>
            </a:extLst>
          </p:cNvPr>
          <p:cNvSpPr/>
          <p:nvPr/>
        </p:nvSpPr>
        <p:spPr>
          <a:xfrm rot="5400000">
            <a:off x="8842158" y="5962417"/>
            <a:ext cx="914747" cy="324530"/>
          </a:xfrm>
          <a:prstGeom prst="chevron">
            <a:avLst/>
          </a:prstGeom>
          <a:solidFill>
            <a:srgbClr val="C2E3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" sz="1100" b="0" i="0" u="none" strike="noStrike" kern="1200" cap="none" spc="0" normalizeH="0" baseline="0" noProof="0">
              <a:ln>
                <a:noFill/>
              </a:ln>
              <a:solidFill>
                <a:srgbClr val="2D5159"/>
              </a:solidFill>
              <a:effectLst/>
              <a:uLnTx/>
              <a:uFillTx/>
              <a:latin typeface="VWAG TheSans"/>
              <a:ea typeface="+mn-ea"/>
              <a:cs typeface="+mn-cs"/>
            </a:endParaRPr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0D762698-8E78-4542-8363-6C59C20D8EC6}"/>
              </a:ext>
            </a:extLst>
          </p:cNvPr>
          <p:cNvSpPr txBox="1"/>
          <p:nvPr/>
        </p:nvSpPr>
        <p:spPr>
          <a:xfrm rot="5400000">
            <a:off x="8926204" y="5955405"/>
            <a:ext cx="757131" cy="33855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de-DE" sz="1100">
                <a:solidFill>
                  <a:srgbClr val="2D5159"/>
                </a:solidFill>
                <a:latin typeface="VWAG TheSans"/>
              </a:rPr>
              <a:t>Filter-</a:t>
            </a:r>
            <a:r>
              <a:rPr lang="de-DE" sz="1100" err="1">
                <a:solidFill>
                  <a:srgbClr val="2D5159"/>
                </a:solidFill>
                <a:latin typeface="VWAG TheSans"/>
              </a:rPr>
              <a:t>criteria</a:t>
            </a:r>
          </a:p>
        </p:txBody>
      </p:sp>
      <p:sp>
        <p:nvSpPr>
          <p:cNvPr id="54" name="Chevron 76">
            <a:extLst>
              <a:ext uri="{FF2B5EF4-FFF2-40B4-BE49-F238E27FC236}">
                <a16:creationId xmlns:a16="http://schemas.microsoft.com/office/drawing/2014/main" id="{7CFBF255-8C30-37CA-9B1F-5FAE4889AC2B}"/>
              </a:ext>
            </a:extLst>
          </p:cNvPr>
          <p:cNvSpPr/>
          <p:nvPr/>
        </p:nvSpPr>
        <p:spPr>
          <a:xfrm rot="16200000">
            <a:off x="7489079" y="4854542"/>
            <a:ext cx="2872762" cy="324529"/>
          </a:xfrm>
          <a:prstGeom prst="chevron">
            <a:avLst/>
          </a:prstGeom>
          <a:solidFill>
            <a:srgbClr val="C2E3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" sz="1100" b="0" i="0" u="none" strike="noStrike" kern="1200" cap="none" spc="0" normalizeH="0" baseline="0" noProof="0">
              <a:ln>
                <a:noFill/>
              </a:ln>
              <a:solidFill>
                <a:srgbClr val="2D5159"/>
              </a:solidFill>
              <a:effectLst/>
              <a:uLnTx/>
              <a:uFillTx/>
              <a:latin typeface="VWAG TheSans"/>
              <a:ea typeface="+mn-ea"/>
              <a:cs typeface="+mn-cs"/>
            </a:endParaRPr>
          </a:p>
        </p:txBody>
      </p:sp>
      <p:sp>
        <p:nvSpPr>
          <p:cNvPr id="56" name="Oval 6">
            <a:extLst>
              <a:ext uri="{FF2B5EF4-FFF2-40B4-BE49-F238E27FC236}">
                <a16:creationId xmlns:a16="http://schemas.microsoft.com/office/drawing/2014/main" id="{0AE4FA32-D376-921B-6BFA-D72DF1B185FF}"/>
              </a:ext>
            </a:extLst>
          </p:cNvPr>
          <p:cNvSpPr/>
          <p:nvPr/>
        </p:nvSpPr>
        <p:spPr>
          <a:xfrm>
            <a:off x="8252514" y="5250280"/>
            <a:ext cx="613970" cy="320936"/>
          </a:xfrm>
          <a:prstGeom prst="ellipse">
            <a:avLst/>
          </a:prstGeom>
          <a:solidFill>
            <a:srgbClr val="DA0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  <a:t>Risk</a:t>
            </a:r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E141E98F-9879-AFE0-0665-37E70AA08BAA}"/>
              </a:ext>
            </a:extLst>
          </p:cNvPr>
          <p:cNvSpPr txBox="1"/>
          <p:nvPr/>
        </p:nvSpPr>
        <p:spPr>
          <a:xfrm rot="5400000">
            <a:off x="8142407" y="5017963"/>
            <a:ext cx="1642852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0" lang="en" sz="1100" b="0" i="0" u="none" strike="noStrike" kern="1200" cap="none" spc="0" normalizeH="0" baseline="0" noProof="0">
                <a:ln>
                  <a:noFill/>
                </a:ln>
                <a:solidFill>
                  <a:srgbClr val="2D5159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  <a:t>Vehicle lists (XML, CSV,..., ) </a:t>
            </a:r>
          </a:p>
        </p:txBody>
      </p:sp>
      <p:sp>
        <p:nvSpPr>
          <p:cNvPr id="59" name="Rechteck: abgerundete Ecken 58">
            <a:extLst>
              <a:ext uri="{FF2B5EF4-FFF2-40B4-BE49-F238E27FC236}">
                <a16:creationId xmlns:a16="http://schemas.microsoft.com/office/drawing/2014/main" id="{53640E99-741F-0731-CBBD-20F1570680AE}"/>
              </a:ext>
            </a:extLst>
          </p:cNvPr>
          <p:cNvSpPr/>
          <p:nvPr/>
        </p:nvSpPr>
        <p:spPr>
          <a:xfrm>
            <a:off x="381161" y="2188217"/>
            <a:ext cx="1063695" cy="412797"/>
          </a:xfrm>
          <a:prstGeom prst="roundRect">
            <a:avLst/>
          </a:prstGeom>
          <a:solidFill>
            <a:srgbClr val="99A9AD"/>
          </a:solidFill>
          <a:ln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>
              <a:defRPr/>
            </a:pPr>
            <a:r>
              <a:rPr lang="de-DE" sz="1400">
                <a:solidFill>
                  <a:schemeClr val="tx1"/>
                </a:solidFill>
                <a:latin typeface="VWAG TheSans"/>
              </a:rPr>
              <a:t>MBB</a:t>
            </a:r>
          </a:p>
          <a:p>
            <a:pPr>
              <a:defRPr/>
            </a:pPr>
            <a:r>
              <a:rPr lang="de-DE" sz="1400">
                <a:solidFill>
                  <a:schemeClr val="tx1"/>
                </a:solidFill>
                <a:latin typeface="VWAG TheSans"/>
              </a:rPr>
              <a:t>OEMIL</a:t>
            </a:r>
          </a:p>
        </p:txBody>
      </p:sp>
    </p:spTree>
    <p:extLst>
      <p:ext uri="{BB962C8B-B14F-4D97-AF65-F5344CB8AC3E}">
        <p14:creationId xmlns:p14="http://schemas.microsoft.com/office/powerpoint/2010/main" val="1842875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30E19-5F4B-8A68-7B42-BFA14F905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05DBBF5C-87D5-4A0F-CF8B-BD77A05F0405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614250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5DBBF5C-87D5-4A0F-CF8B-BD77A05F04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Rechteck: abgerundete Ecken 34">
            <a:extLst>
              <a:ext uri="{FF2B5EF4-FFF2-40B4-BE49-F238E27FC236}">
                <a16:creationId xmlns:a16="http://schemas.microsoft.com/office/drawing/2014/main" id="{90F9A250-1C4B-CCEB-0B4A-D919C022C9F9}"/>
              </a:ext>
            </a:extLst>
          </p:cNvPr>
          <p:cNvSpPr/>
          <p:nvPr/>
        </p:nvSpPr>
        <p:spPr>
          <a:xfrm>
            <a:off x="168436" y="2113527"/>
            <a:ext cx="2244161" cy="4339659"/>
          </a:xfrm>
          <a:prstGeom prst="roundRect">
            <a:avLst>
              <a:gd name="adj" fmla="val 5494"/>
            </a:avLst>
          </a:prstGeom>
          <a:solidFill>
            <a:srgbClr val="22454E"/>
          </a:solidFill>
          <a:ln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>
              <a:defRPr/>
            </a:pPr>
            <a:r>
              <a:rPr lang="en" sz="1400" b="1">
                <a:solidFill>
                  <a:schemeClr val="tx1"/>
                </a:solidFill>
                <a:latin typeface="VWAG TheSans"/>
              </a:rPr>
              <a:t>Sources</a:t>
            </a:r>
            <a:r>
              <a:rPr kumimoji="0" lang="e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  <a:t> </a:t>
            </a:r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he Group TEXT"/>
              <a:ea typeface="+mn-ea"/>
              <a:cs typeface="+mn-cs"/>
            </a:endParaRPr>
          </a:p>
        </p:txBody>
      </p:sp>
      <p:sp>
        <p:nvSpPr>
          <p:cNvPr id="45" name="Rechteck: abgerundete Ecken 44">
            <a:extLst>
              <a:ext uri="{FF2B5EF4-FFF2-40B4-BE49-F238E27FC236}">
                <a16:creationId xmlns:a16="http://schemas.microsoft.com/office/drawing/2014/main" id="{35D84757-399E-B3E9-8556-5D9E8968AAE3}"/>
              </a:ext>
            </a:extLst>
          </p:cNvPr>
          <p:cNvSpPr/>
          <p:nvPr/>
        </p:nvSpPr>
        <p:spPr>
          <a:xfrm>
            <a:off x="1701534" y="2504628"/>
            <a:ext cx="547589" cy="1683497"/>
          </a:xfrm>
          <a:prstGeom prst="roundRect">
            <a:avLst>
              <a:gd name="adj" fmla="val 5640"/>
            </a:avLst>
          </a:prstGeom>
          <a:solidFill>
            <a:schemeClr val="accent5">
              <a:lumMod val="50000"/>
            </a:schemeClr>
          </a:solidFill>
          <a:ln>
            <a:solidFill>
              <a:srgbClr val="C2FE06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0" rIns="36000" bIns="180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i="0" u="none" strike="noStrike" kern="1200" cap="none" spc="0" normalizeH="0" baseline="0" noProof="0">
                <a:ln>
                  <a:noFill/>
                </a:ln>
                <a:solidFill>
                  <a:srgbClr val="C2FE06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RVS</a:t>
            </a:r>
          </a:p>
        </p:txBody>
      </p:sp>
      <p:cxnSp>
        <p:nvCxnSpPr>
          <p:cNvPr id="68" name="Verbinder: gewinkelt 67">
            <a:extLst>
              <a:ext uri="{FF2B5EF4-FFF2-40B4-BE49-F238E27FC236}">
                <a16:creationId xmlns:a16="http://schemas.microsoft.com/office/drawing/2014/main" id="{AB56C479-9856-BC80-5215-9A1461B4F9E3}"/>
              </a:ext>
            </a:extLst>
          </p:cNvPr>
          <p:cNvCxnSpPr>
            <a:cxnSpLocks/>
            <a:stCxn id="45" idx="3"/>
            <a:endCxn id="104" idx="1"/>
          </p:cNvCxnSpPr>
          <p:nvPr/>
        </p:nvCxnSpPr>
        <p:spPr>
          <a:xfrm>
            <a:off x="2249123" y="3346377"/>
            <a:ext cx="365521" cy="17143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accent5"/>
            </a:solidFill>
            <a:headEnd type="none" w="med" len="sm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0" name="Verbinder: gewinkelt 69">
            <a:extLst>
              <a:ext uri="{FF2B5EF4-FFF2-40B4-BE49-F238E27FC236}">
                <a16:creationId xmlns:a16="http://schemas.microsoft.com/office/drawing/2014/main" id="{97F982DB-C809-100F-E236-D97B8B620425}"/>
              </a:ext>
            </a:extLst>
          </p:cNvPr>
          <p:cNvCxnSpPr>
            <a:cxnSpLocks/>
            <a:stCxn id="94" idx="3"/>
            <a:endCxn id="104" idx="1"/>
          </p:cNvCxnSpPr>
          <p:nvPr/>
        </p:nvCxnSpPr>
        <p:spPr>
          <a:xfrm flipV="1">
            <a:off x="2259079" y="3517807"/>
            <a:ext cx="355565" cy="1837733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accent5"/>
            </a:solidFill>
            <a:headEnd type="none" w="med" len="sm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4" name="Rechteck: abgerundete Ecken 93">
            <a:extLst>
              <a:ext uri="{FF2B5EF4-FFF2-40B4-BE49-F238E27FC236}">
                <a16:creationId xmlns:a16="http://schemas.microsoft.com/office/drawing/2014/main" id="{4468E064-DC17-44BF-15A4-5C82C7118D78}"/>
              </a:ext>
            </a:extLst>
          </p:cNvPr>
          <p:cNvSpPr/>
          <p:nvPr/>
        </p:nvSpPr>
        <p:spPr>
          <a:xfrm>
            <a:off x="1711490" y="4324991"/>
            <a:ext cx="547589" cy="2061098"/>
          </a:xfrm>
          <a:prstGeom prst="roundRect">
            <a:avLst>
              <a:gd name="adj" fmla="val 10366"/>
            </a:avLst>
          </a:prstGeom>
          <a:solidFill>
            <a:schemeClr val="accent5">
              <a:lumMod val="50000"/>
            </a:schemeClr>
          </a:solidFill>
          <a:ln>
            <a:solidFill>
              <a:srgbClr val="C2FE06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80000" rIns="0" bIns="180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1" u="none" strike="noStrike" kern="1200" cap="none" spc="0" normalizeH="0" baseline="0" noProof="0">
                <a:ln>
                  <a:noFill/>
                </a:ln>
                <a:solidFill>
                  <a:srgbClr val="C2FE06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REST</a:t>
            </a:r>
          </a:p>
        </p:txBody>
      </p:sp>
      <p:cxnSp>
        <p:nvCxnSpPr>
          <p:cNvPr id="112" name="Gerade Verbindung mit Pfeil 111">
            <a:extLst>
              <a:ext uri="{FF2B5EF4-FFF2-40B4-BE49-F238E27FC236}">
                <a16:creationId xmlns:a16="http://schemas.microsoft.com/office/drawing/2014/main" id="{DF93997A-C6DF-1195-F2E0-72057038BEE9}"/>
              </a:ext>
            </a:extLst>
          </p:cNvPr>
          <p:cNvCxnSpPr>
            <a:cxnSpLocks/>
          </p:cNvCxnSpPr>
          <p:nvPr/>
        </p:nvCxnSpPr>
        <p:spPr>
          <a:xfrm>
            <a:off x="1324006" y="6123374"/>
            <a:ext cx="360000" cy="0"/>
          </a:xfrm>
          <a:prstGeom prst="straightConnector1">
            <a:avLst/>
          </a:prstGeom>
          <a:ln w="9525">
            <a:headEnd type="none" w="med" len="sm"/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18" name="Gerade Verbindung mit Pfeil 117">
            <a:extLst>
              <a:ext uri="{FF2B5EF4-FFF2-40B4-BE49-F238E27FC236}">
                <a16:creationId xmlns:a16="http://schemas.microsoft.com/office/drawing/2014/main" id="{A8C89F1B-36C5-7648-EC90-C9FD074FFCB4}"/>
              </a:ext>
            </a:extLst>
          </p:cNvPr>
          <p:cNvCxnSpPr>
            <a:cxnSpLocks/>
          </p:cNvCxnSpPr>
          <p:nvPr/>
        </p:nvCxnSpPr>
        <p:spPr>
          <a:xfrm>
            <a:off x="1293633" y="3397497"/>
            <a:ext cx="360000" cy="0"/>
          </a:xfrm>
          <a:prstGeom prst="straightConnector1">
            <a:avLst/>
          </a:prstGeom>
          <a:ln w="9525">
            <a:headEnd type="none" w="med" len="sm"/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19" name="Gerade Verbindung mit Pfeil 118">
            <a:extLst>
              <a:ext uri="{FF2B5EF4-FFF2-40B4-BE49-F238E27FC236}">
                <a16:creationId xmlns:a16="http://schemas.microsoft.com/office/drawing/2014/main" id="{8FC8223D-8C96-714A-DBDA-2AEABCA605C8}"/>
              </a:ext>
            </a:extLst>
          </p:cNvPr>
          <p:cNvCxnSpPr>
            <a:cxnSpLocks/>
          </p:cNvCxnSpPr>
          <p:nvPr/>
        </p:nvCxnSpPr>
        <p:spPr>
          <a:xfrm>
            <a:off x="1293633" y="3605464"/>
            <a:ext cx="360000" cy="0"/>
          </a:xfrm>
          <a:prstGeom prst="straightConnector1">
            <a:avLst/>
          </a:prstGeom>
          <a:ln w="9525">
            <a:headEnd type="none" w="med" len="sm"/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413D993A-E152-8B62-FEED-00D30DA20C55}"/>
              </a:ext>
            </a:extLst>
          </p:cNvPr>
          <p:cNvGrpSpPr/>
          <p:nvPr/>
        </p:nvGrpSpPr>
        <p:grpSpPr>
          <a:xfrm>
            <a:off x="2586296" y="2113528"/>
            <a:ext cx="7019408" cy="4307614"/>
            <a:chOff x="3422867" y="1533810"/>
            <a:chExt cx="7019408" cy="4307614"/>
          </a:xfrm>
        </p:grpSpPr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CB0F3C28-6CE9-F656-C1AA-8CA6E218712A}"/>
                </a:ext>
              </a:extLst>
            </p:cNvPr>
            <p:cNvSpPr/>
            <p:nvPr/>
          </p:nvSpPr>
          <p:spPr>
            <a:xfrm>
              <a:off x="3422867" y="4390693"/>
              <a:ext cx="7019408" cy="1450731"/>
            </a:xfrm>
            <a:prstGeom prst="rect">
              <a:avLst/>
            </a:prstGeom>
            <a:solidFill>
              <a:srgbClr val="8CBEE6"/>
            </a:solidFill>
            <a:ln>
              <a:solidFill>
                <a:srgbClr val="8CBEE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6000" tIns="216000" rIns="216000" bIns="216000" rtlCol="0" anchor="t"/>
            <a:lstStyle/>
            <a:p>
              <a:pPr algn="l" defTabSz="432000">
                <a:spcAft>
                  <a:spcPts val="600"/>
                </a:spcAft>
              </a:pPr>
              <a:endParaRPr lang="de-DE" sz="1400"/>
            </a:p>
          </p:txBody>
        </p:sp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D42E4CAC-A6C8-2489-A835-FDA55E1D15E4}"/>
                </a:ext>
              </a:extLst>
            </p:cNvPr>
            <p:cNvSpPr txBox="1"/>
            <p:nvPr/>
          </p:nvSpPr>
          <p:spPr>
            <a:xfrm>
              <a:off x="6108727" y="2672438"/>
              <a:ext cx="950341" cy="2916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004666"/>
                  </a:solidFill>
                  <a:effectLst/>
                  <a:uLnTx/>
                  <a:uFillTx/>
                  <a:latin typeface="VWAG TheSans"/>
                  <a:ea typeface="+mn-ea"/>
                  <a:cs typeface="+mn-cs"/>
                </a:rPr>
                <a:t>using COGNOS</a:t>
              </a:r>
            </a:p>
            <a:p>
              <a:pPr marL="0" marR="0" lvl="0" indent="0" algn="l" defTabSz="4572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br>
                <a:rPr kumimoji="0" lang="de-DE" sz="1000" b="0" i="0" u="none" strike="noStrike" kern="1200" cap="none" spc="0" normalizeH="0" baseline="0" noProof="0">
                  <a:ln>
                    <a:noFill/>
                  </a:ln>
                  <a:solidFill>
                    <a:srgbClr val="004666"/>
                  </a:solidFill>
                  <a:effectLst/>
                  <a:uLnTx/>
                  <a:uFillTx/>
                  <a:latin typeface="VWAG TheSans"/>
                  <a:ea typeface="+mn-ea"/>
                  <a:cs typeface="+mn-cs"/>
                </a:rPr>
              </a:br>
              <a:r>
                <a:rPr kumimoji="0" lang="de-DE" sz="1000" b="0" i="0" u="none" strike="noStrike" kern="1200" cap="none" spc="0" normalizeH="0" baseline="0" noProof="0">
                  <a:ln>
                    <a:noFill/>
                  </a:ln>
                  <a:solidFill>
                    <a:srgbClr val="004666"/>
                  </a:solidFill>
                  <a:effectLst/>
                  <a:uLnTx/>
                  <a:uFillTx/>
                  <a:latin typeface="VWAG TheSans"/>
                  <a:ea typeface="+mn-ea"/>
                  <a:cs typeface="+mn-cs"/>
                </a:rPr>
                <a:t>-   </a:t>
              </a:r>
              <a:r>
                <a:rPr kumimoji="0" lang="en" sz="1000" b="0" i="0" u="none" strike="noStrike" kern="1200" cap="none" spc="0" normalizeH="0" baseline="0" noProof="0">
                  <a:ln>
                    <a:noFill/>
                  </a:ln>
                  <a:solidFill>
                    <a:srgbClr val="004666"/>
                  </a:solidFill>
                  <a:effectLst/>
                  <a:uLnTx/>
                  <a:uFillTx/>
                  <a:latin typeface="VWAG TheSans"/>
                  <a:ea typeface="+mn-ea"/>
                  <a:cs typeface="+mn-cs"/>
                </a:rPr>
                <a:t>Identification of </a:t>
              </a:r>
              <a:br>
                <a:rPr kumimoji="0" lang="en" sz="1000" b="0" i="0" u="none" strike="noStrike" kern="1200" cap="none" spc="0" normalizeH="0" baseline="0" noProof="0">
                  <a:ln>
                    <a:noFill/>
                  </a:ln>
                  <a:solidFill>
                    <a:srgbClr val="004666"/>
                  </a:solidFill>
                  <a:effectLst/>
                  <a:uLnTx/>
                  <a:uFillTx/>
                  <a:latin typeface="VWAG TheSans"/>
                  <a:ea typeface="+mn-ea"/>
                  <a:cs typeface="+mn-cs"/>
                </a:rPr>
              </a:br>
              <a:r>
                <a:rPr kumimoji="0" lang="en" sz="1000" b="0" i="0" u="none" strike="noStrike" kern="1200" cap="none" spc="0" normalizeH="0" baseline="0" noProof="0">
                  <a:ln>
                    <a:noFill/>
                  </a:ln>
                  <a:solidFill>
                    <a:srgbClr val="004666"/>
                  </a:solidFill>
                  <a:effectLst/>
                  <a:uLnTx/>
                  <a:uFillTx/>
                  <a:latin typeface="VWAG TheSans"/>
                  <a:ea typeface="+mn-ea"/>
                  <a:cs typeface="+mn-cs"/>
                </a:rPr>
                <a:t>     customer vehicles </a:t>
              </a:r>
              <a:br>
                <a:rPr kumimoji="0" lang="en" sz="1000" b="0" i="0" u="none" strike="noStrike" kern="1200" cap="none" spc="0" normalizeH="0" baseline="0" noProof="0">
                  <a:ln>
                    <a:noFill/>
                  </a:ln>
                  <a:solidFill>
                    <a:srgbClr val="004666"/>
                  </a:solidFill>
                  <a:effectLst/>
                  <a:uLnTx/>
                  <a:uFillTx/>
                  <a:latin typeface="VWAG TheSans"/>
                  <a:ea typeface="+mn-ea"/>
                  <a:cs typeface="+mn-cs"/>
                </a:rPr>
              </a:br>
              <a:r>
                <a:rPr kumimoji="0" lang="en" sz="1000" b="0" i="0" u="none" strike="noStrike" kern="1200" cap="none" spc="0" normalizeH="0" baseline="0" noProof="0">
                  <a:ln>
                    <a:noFill/>
                  </a:ln>
                  <a:solidFill>
                    <a:srgbClr val="004666"/>
                  </a:solidFill>
                  <a:effectLst/>
                  <a:uLnTx/>
                  <a:uFillTx/>
                  <a:latin typeface="VWAG TheSans"/>
                  <a:ea typeface="+mn-ea"/>
                  <a:cs typeface="+mn-cs"/>
                </a:rPr>
                <a:t>     affected by a compaign </a:t>
              </a:r>
              <a:br>
                <a:rPr kumimoji="0" lang="de-DE" sz="1000" b="0" i="0" u="none" strike="noStrike" kern="1200" cap="none" spc="0" normalizeH="0" baseline="0" noProof="0">
                  <a:ln>
                    <a:noFill/>
                  </a:ln>
                  <a:solidFill>
                    <a:srgbClr val="004666"/>
                  </a:solidFill>
                  <a:effectLst/>
                  <a:uLnTx/>
                  <a:uFillTx/>
                  <a:latin typeface="VWAG TheSans"/>
                  <a:ea typeface="+mn-ea"/>
                  <a:cs typeface="+mn-cs"/>
                </a:rPr>
              </a:br>
              <a:br>
                <a:rPr kumimoji="0" lang="de-DE" sz="1000" b="0" i="0" u="none" strike="noStrike" kern="1200" cap="none" spc="0" normalizeH="0" baseline="0" noProof="0">
                  <a:ln>
                    <a:noFill/>
                  </a:ln>
                  <a:solidFill>
                    <a:srgbClr val="80B0C8"/>
                  </a:solidFill>
                  <a:effectLst/>
                  <a:uLnTx/>
                  <a:uFillTx/>
                  <a:latin typeface="VWAG TheSans"/>
                  <a:ea typeface="+mn-ea"/>
                  <a:cs typeface="+mn-cs"/>
                </a:rPr>
              </a:br>
              <a:endParaRPr kumimoji="0" lang="de-DE" sz="1000" b="0" i="0" u="none" strike="noStrike" kern="1200" cap="none" spc="0" normalizeH="0" baseline="0" noProof="0">
                <a:ln>
                  <a:noFill/>
                </a:ln>
                <a:solidFill>
                  <a:srgbClr val="80B0C8"/>
                </a:solidFill>
                <a:effectLst/>
                <a:uLnTx/>
                <a:uFillTx/>
                <a:latin typeface="VWAG TheSans"/>
                <a:ea typeface="+mn-ea"/>
                <a:cs typeface="+mn-cs"/>
              </a:endParaRPr>
            </a:p>
          </p:txBody>
        </p:sp>
        <p:pic>
          <p:nvPicPr>
            <p:cNvPr id="41" name="Grafik 40">
              <a:extLst>
                <a:ext uri="{FF2B5EF4-FFF2-40B4-BE49-F238E27FC236}">
                  <a16:creationId xmlns:a16="http://schemas.microsoft.com/office/drawing/2014/main" id="{D035F108-7477-5576-9F37-68271D3CE1F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43537" y="2609067"/>
              <a:ext cx="497367" cy="502341"/>
            </a:xfrm>
            <a:prstGeom prst="rect">
              <a:avLst/>
            </a:prstGeom>
          </p:spPr>
        </p:pic>
        <p:cxnSp>
          <p:nvCxnSpPr>
            <p:cNvPr id="83" name="Gerade Verbindung mit Pfeil 82">
              <a:extLst>
                <a:ext uri="{FF2B5EF4-FFF2-40B4-BE49-F238E27FC236}">
                  <a16:creationId xmlns:a16="http://schemas.microsoft.com/office/drawing/2014/main" id="{B8A44FD7-DBF8-5E55-513D-08BF625DED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36749" y="2496301"/>
              <a:ext cx="0" cy="321313"/>
            </a:xfrm>
            <a:prstGeom prst="straightConnector1">
              <a:avLst/>
            </a:prstGeom>
            <a:ln>
              <a:headEnd type="none" w="med" len="sm"/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104" name="Rechteck: abgerundete Ecken 103">
              <a:extLst>
                <a:ext uri="{FF2B5EF4-FFF2-40B4-BE49-F238E27FC236}">
                  <a16:creationId xmlns:a16="http://schemas.microsoft.com/office/drawing/2014/main" id="{D0C81314-C944-4309-103E-41D028E04A0C}"/>
                </a:ext>
              </a:extLst>
            </p:cNvPr>
            <p:cNvSpPr/>
            <p:nvPr/>
          </p:nvSpPr>
          <p:spPr>
            <a:xfrm>
              <a:off x="3451215" y="1533810"/>
              <a:ext cx="6991060" cy="2808557"/>
            </a:xfrm>
            <a:prstGeom prst="roundRect">
              <a:avLst>
                <a:gd name="adj" fmla="val 5494"/>
              </a:avLst>
            </a:prstGeom>
            <a:solidFill>
              <a:srgbClr val="667D85"/>
            </a:solidFill>
            <a:ln>
              <a:noFill/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>
                <a:defRPr/>
              </a:pPr>
              <a:r>
                <a:rPr kumimoji="0" lang="en" sz="1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WAG TheSans"/>
                  <a:ea typeface="+mn-ea"/>
                  <a:cs typeface="+mn-cs"/>
                </a:rPr>
                <a:t>ReCall 2 </a:t>
              </a:r>
              <a:r>
                <a:rPr kumimoji="0" lang="en" sz="1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WAG TheSans"/>
                  <a:ea typeface="+mn-ea"/>
                  <a:cs typeface="+mn-cs"/>
                </a:rPr>
                <a:t>– </a:t>
              </a:r>
              <a:r>
                <a:rPr lang="en" sz="1400">
                  <a:solidFill>
                    <a:schemeClr val="tx1"/>
                  </a:solidFill>
                  <a:latin typeface="VWAG TheSans"/>
                </a:rPr>
                <a:t>Worldwide</a:t>
              </a:r>
              <a:r>
                <a:rPr kumimoji="0" lang="en" sz="1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WAG TheSans"/>
                  <a:ea typeface="+mn-ea"/>
                  <a:cs typeface="+mn-cs"/>
                </a:rPr>
                <a:t> – in all Group </a:t>
              </a:r>
              <a:r>
                <a:rPr lang="en" sz="1400">
                  <a:solidFill>
                    <a:schemeClr val="tx1"/>
                  </a:solidFill>
                  <a:latin typeface="VWAG TheSans"/>
                </a:rPr>
                <a:t>Brands</a:t>
              </a:r>
              <a:r>
                <a:rPr kumimoji="0" lang="en" sz="1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VWAG TheSans"/>
                  <a:ea typeface="+mn-ea"/>
                  <a:cs typeface="+mn-cs"/>
                </a:rPr>
                <a:t> and </a:t>
              </a:r>
              <a:r>
                <a:rPr lang="en" sz="1400">
                  <a:solidFill>
                    <a:schemeClr val="tx1"/>
                  </a:solidFill>
                  <a:latin typeface="VWAG TheSans"/>
                </a:rPr>
                <a:t>Regions </a:t>
              </a:r>
              <a:endParaRPr kumimoji="0" lang="e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WAG TheSans"/>
                <a:ea typeface="+mn-ea"/>
                <a:cs typeface="+mn-cs"/>
              </a:endParaRPr>
            </a:p>
            <a:p>
              <a:pPr>
                <a:defRPr/>
              </a:pPr>
              <a:r>
                <a:rPr kumimoji="0" lang="en" sz="1400" b="0" i="1" u="none" strike="noStrike" kern="1200" cap="none" spc="0" normalizeH="0" baseline="0" noProof="0">
                  <a:ln>
                    <a:noFill/>
                  </a:ln>
                  <a:solidFill>
                    <a:srgbClr val="C2FE06"/>
                  </a:solidFill>
                  <a:effectLst/>
                  <a:uLnTx/>
                  <a:uFillTx/>
                  <a:latin typeface="VWAG TheSans"/>
                  <a:ea typeface="+mn-ea"/>
                  <a:cs typeface="+mn-cs"/>
                </a:rPr>
                <a:t>AWS hosted FR, </a:t>
              </a:r>
              <a:r>
                <a:rPr lang="en" sz="1400" i="1">
                  <a:solidFill>
                    <a:srgbClr val="C2FE06"/>
                  </a:solidFill>
                  <a:latin typeface="VWAG TheSans"/>
                </a:rPr>
                <a:t>Vanguard</a:t>
              </a:r>
              <a:endParaRPr kumimoji="0" lang="de-DE" sz="1400" b="0" i="1" u="none" strike="noStrike" kern="1200" cap="none" spc="0" normalizeH="0" baseline="0" noProof="0">
                <a:ln>
                  <a:noFill/>
                </a:ln>
                <a:solidFill>
                  <a:srgbClr val="C2FE06"/>
                </a:solidFill>
                <a:effectLst/>
                <a:uLnTx/>
                <a:uFillTx/>
                <a:latin typeface="The Group TEXT"/>
                <a:ea typeface="+mn-ea"/>
                <a:cs typeface="+mn-cs"/>
              </a:endParaRPr>
            </a:p>
          </p:txBody>
        </p:sp>
        <p:sp>
          <p:nvSpPr>
            <p:cNvPr id="105" name="Rechteck: abgerundete Ecken 104">
              <a:extLst>
                <a:ext uri="{FF2B5EF4-FFF2-40B4-BE49-F238E27FC236}">
                  <a16:creationId xmlns:a16="http://schemas.microsoft.com/office/drawing/2014/main" id="{ECB45E51-C87F-313F-B540-7BB46B69C09C}"/>
                </a:ext>
              </a:extLst>
            </p:cNvPr>
            <p:cNvSpPr/>
            <p:nvPr/>
          </p:nvSpPr>
          <p:spPr>
            <a:xfrm>
              <a:off x="3554739" y="2239567"/>
              <a:ext cx="1656000" cy="1550738"/>
            </a:xfrm>
            <a:prstGeom prst="roundRect">
              <a:avLst>
                <a:gd name="adj" fmla="val 9678"/>
              </a:avLst>
            </a:prstGeom>
            <a:solidFill>
              <a:schemeClr val="accent3">
                <a:lumMod val="50000"/>
              </a:schemeClr>
            </a:solidFill>
            <a:ln>
              <a:noFill/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180000" rtlCol="0" anchor="t"/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he Group TEXT"/>
                  <a:ea typeface="+mn-ea"/>
                  <a:cs typeface="+mn-cs"/>
                </a:rPr>
                <a:t>SCS</a:t>
              </a:r>
              <a:br>
                <a: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he Group TEXT"/>
                  <a:ea typeface="+mn-ea"/>
                  <a:cs typeface="+mn-cs"/>
                </a:rPr>
              </a:br>
              <a:r>
                <a:rPr kumimoji="0" lang="de-DE" sz="1200" b="0" i="0" u="none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he Group TEXT"/>
                  <a:ea typeface="+mn-ea"/>
                  <a:cs typeface="+mn-cs"/>
                </a:rPr>
                <a:t>Notification</a:t>
              </a:r>
              <a:endParaRPr kumimoji="0" lang="de-DE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he Group TEXT"/>
                <a:ea typeface="+mn-ea"/>
                <a:cs typeface="+mn-cs"/>
              </a:endParaRPr>
            </a:p>
          </p:txBody>
        </p:sp>
        <p:sp>
          <p:nvSpPr>
            <p:cNvPr id="106" name="Rechteck: abgerundete Ecken 105">
              <a:extLst>
                <a:ext uri="{FF2B5EF4-FFF2-40B4-BE49-F238E27FC236}">
                  <a16:creationId xmlns:a16="http://schemas.microsoft.com/office/drawing/2014/main" id="{7893CB69-D2E8-602C-2109-CE9F41368D28}"/>
                </a:ext>
              </a:extLst>
            </p:cNvPr>
            <p:cNvSpPr/>
            <p:nvPr/>
          </p:nvSpPr>
          <p:spPr>
            <a:xfrm>
              <a:off x="5252340" y="2239567"/>
              <a:ext cx="1656000" cy="1550738"/>
            </a:xfrm>
            <a:prstGeom prst="roundRect">
              <a:avLst>
                <a:gd name="adj" fmla="val 9678"/>
              </a:avLst>
            </a:prstGeom>
            <a:solidFill>
              <a:schemeClr val="accent3">
                <a:lumMod val="50000"/>
              </a:schemeClr>
            </a:solidFill>
            <a:ln>
              <a:noFill/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t"/>
            <a:lstStyle/>
            <a:p>
              <a:pPr>
                <a:defRPr/>
              </a:pPr>
              <a:r>
                <a:rPr kumimoji="0" lang="de-DE" sz="1200" b="0" i="0" u="none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he Group TEXT"/>
                  <a:ea typeface="+mn-ea"/>
                  <a:cs typeface="+mn-cs"/>
                </a:rPr>
                <a:t>SCS‘s</a:t>
              </a:r>
              <a:r>
                <a: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he Group TEXT"/>
                  <a:ea typeface="+mn-ea"/>
                  <a:cs typeface="+mn-cs"/>
                </a:rPr>
                <a:t> -  Modul 1: </a:t>
              </a:r>
              <a:r>
                <a:rPr lang="en" sz="1200">
                  <a:latin typeface="+mj-lt"/>
                </a:rPr>
                <a:t>Safety and compliance </a:t>
              </a:r>
              <a:r>
                <a:rPr lang="de-DE" sz="1200" err="1">
                  <a:latin typeface="+mj-lt"/>
                </a:rPr>
                <a:t>decision</a:t>
              </a:r>
              <a:r>
                <a:rPr lang="de-DE" sz="1200">
                  <a:latin typeface="+mj-lt"/>
                </a:rPr>
                <a:t> </a:t>
              </a:r>
              <a:r>
                <a:rPr lang="de-DE" sz="1200" err="1">
                  <a:latin typeface="+mj-lt"/>
                </a:rPr>
                <a:t>made</a:t>
              </a:r>
              <a:r>
                <a:rPr lang="de-DE" sz="1200">
                  <a:latin typeface="+mj-lt"/>
                </a:rPr>
                <a:t> </a:t>
              </a:r>
              <a:r>
                <a:rPr lang="de-DE" sz="1200" err="1">
                  <a:latin typeface="+mj-lt"/>
                </a:rPr>
                <a:t>by</a:t>
              </a:r>
              <a:r>
                <a:rPr lang="de-DE" sz="1200">
                  <a:latin typeface="+mj-lt"/>
                </a:rPr>
                <a:t> </a:t>
              </a:r>
              <a:r>
                <a:rPr lang="de-DE" sz="1200" err="1">
                  <a:latin typeface="+mj-lt"/>
                </a:rPr>
                <a:t>the</a:t>
              </a:r>
              <a:r>
                <a:rPr lang="de-DE" sz="1200">
                  <a:latin typeface="+mj-lt"/>
                </a:rPr>
                <a:t> PSC</a:t>
              </a:r>
              <a:endParaRPr lang="en-GB" sz="1200">
                <a:latin typeface="+mj-lt"/>
              </a:endParaRPr>
            </a:p>
          </p:txBody>
        </p:sp>
        <p:sp>
          <p:nvSpPr>
            <p:cNvPr id="107" name="Rechteck: abgerundete Ecken 106">
              <a:extLst>
                <a:ext uri="{FF2B5EF4-FFF2-40B4-BE49-F238E27FC236}">
                  <a16:creationId xmlns:a16="http://schemas.microsoft.com/office/drawing/2014/main" id="{C12EE143-7641-07CE-76BF-B0F758652B25}"/>
                </a:ext>
              </a:extLst>
            </p:cNvPr>
            <p:cNvSpPr/>
            <p:nvPr/>
          </p:nvSpPr>
          <p:spPr>
            <a:xfrm>
              <a:off x="6958605" y="2234429"/>
              <a:ext cx="1656000" cy="1550738"/>
            </a:xfrm>
            <a:prstGeom prst="roundRect">
              <a:avLst>
                <a:gd name="adj" fmla="val 9678"/>
              </a:avLst>
            </a:prstGeom>
            <a:solidFill>
              <a:schemeClr val="accent3">
                <a:lumMod val="50000"/>
              </a:schemeClr>
            </a:solidFill>
            <a:ln>
              <a:noFill/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t"/>
            <a:lstStyle/>
            <a:p>
              <a:pPr>
                <a:defRPr/>
              </a:pPr>
              <a:r>
                <a: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he Group TEXT"/>
                  <a:ea typeface="+mn-ea"/>
                  <a:cs typeface="+mn-cs"/>
                </a:rPr>
                <a:t>SCS</a:t>
              </a:r>
              <a:r>
                <a:rPr lang="de-DE" sz="1200">
                  <a:solidFill>
                    <a:srgbClr val="FFFFFF"/>
                  </a:solidFill>
                  <a:latin typeface="The Group TEXT"/>
                </a:rPr>
                <a:t> - </a:t>
              </a:r>
              <a:r>
                <a: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he Group TEXT"/>
                  <a:ea typeface="+mn-ea"/>
                  <a:cs typeface="+mn-cs"/>
                </a:rPr>
                <a:t> Modul 2: </a:t>
              </a:r>
              <a:r>
                <a:rPr lang="de-DE" sz="1200">
                  <a:latin typeface="+mj-lt"/>
                </a:rPr>
                <a:t>Field </a:t>
              </a:r>
              <a:r>
                <a:rPr lang="de-DE" sz="1200" err="1">
                  <a:latin typeface="+mj-lt"/>
                </a:rPr>
                <a:t>Campaigns</a:t>
              </a:r>
              <a:endParaRPr lang="en-GB" sz="1200">
                <a:latin typeface="+mj-lt"/>
              </a:endParaRPr>
            </a:p>
          </p:txBody>
        </p:sp>
        <p:sp>
          <p:nvSpPr>
            <p:cNvPr id="27" name="Chevron 76">
              <a:extLst>
                <a:ext uri="{FF2B5EF4-FFF2-40B4-BE49-F238E27FC236}">
                  <a16:creationId xmlns:a16="http://schemas.microsoft.com/office/drawing/2014/main" id="{92AF323B-EF97-D540-DBC0-E70CAA16F10D}"/>
                </a:ext>
              </a:extLst>
            </p:cNvPr>
            <p:cNvSpPr/>
            <p:nvPr/>
          </p:nvSpPr>
          <p:spPr>
            <a:xfrm>
              <a:off x="4474791" y="3307838"/>
              <a:ext cx="1337688" cy="403826"/>
            </a:xfrm>
            <a:prstGeom prst="chevron">
              <a:avLst/>
            </a:prstGeom>
            <a:solidFill>
              <a:srgbClr val="C2E3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1100" b="0" i="0" u="none" strike="noStrike" kern="1200" cap="none" spc="0" normalizeH="0" baseline="0" noProof="0">
                  <a:ln>
                    <a:noFill/>
                  </a:ln>
                  <a:solidFill>
                    <a:srgbClr val="2D5159"/>
                  </a:solidFill>
                  <a:effectLst/>
                  <a:uLnTx/>
                  <a:uFillTx/>
                  <a:latin typeface="VWAG TheSans"/>
                  <a:ea typeface="+mn-ea"/>
                  <a:cs typeface="+mn-cs"/>
                </a:rPr>
                <a:t>Notification</a:t>
              </a:r>
            </a:p>
          </p:txBody>
        </p:sp>
        <p:sp>
          <p:nvSpPr>
            <p:cNvPr id="28" name="Oval 6">
              <a:extLst>
                <a:ext uri="{FF2B5EF4-FFF2-40B4-BE49-F238E27FC236}">
                  <a16:creationId xmlns:a16="http://schemas.microsoft.com/office/drawing/2014/main" id="{E7A4F156-E7C3-CA4C-0F4B-A85B8C98F97F}"/>
                </a:ext>
              </a:extLst>
            </p:cNvPr>
            <p:cNvSpPr/>
            <p:nvPr/>
          </p:nvSpPr>
          <p:spPr>
            <a:xfrm>
              <a:off x="6990299" y="2727068"/>
              <a:ext cx="794655" cy="508964"/>
            </a:xfrm>
            <a:prstGeom prst="ellipse">
              <a:avLst/>
            </a:prstGeom>
            <a:solidFill>
              <a:srgbClr val="8CBE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WAG TheSans"/>
                  <a:ea typeface="+mn-ea"/>
                  <a:cs typeface="+mn-cs"/>
                </a:rPr>
                <a:t>BCAL</a:t>
              </a:r>
            </a:p>
          </p:txBody>
        </p:sp>
        <p:sp>
          <p:nvSpPr>
            <p:cNvPr id="108" name="Chevron 76">
              <a:extLst>
                <a:ext uri="{FF2B5EF4-FFF2-40B4-BE49-F238E27FC236}">
                  <a16:creationId xmlns:a16="http://schemas.microsoft.com/office/drawing/2014/main" id="{70FFFFF4-3131-B01C-2D20-F1ABF867D55A}"/>
                </a:ext>
              </a:extLst>
            </p:cNvPr>
            <p:cNvSpPr/>
            <p:nvPr/>
          </p:nvSpPr>
          <p:spPr>
            <a:xfrm>
              <a:off x="6033818" y="3294518"/>
              <a:ext cx="1337688" cy="403826"/>
            </a:xfrm>
            <a:prstGeom prst="chevron">
              <a:avLst/>
            </a:prstGeom>
            <a:solidFill>
              <a:srgbClr val="C2E3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" sz="1100" b="0" i="0" u="none" strike="noStrike" kern="1200" cap="none" spc="0" normalizeH="0" baseline="0" noProof="0">
                  <a:ln>
                    <a:noFill/>
                  </a:ln>
                  <a:solidFill>
                    <a:srgbClr val="2D5159"/>
                  </a:solidFill>
                  <a:effectLst/>
                  <a:uLnTx/>
                  <a:uFillTx/>
                  <a:latin typeface="VWAG TheSans"/>
                  <a:ea typeface="+mn-ea"/>
                  <a:cs typeface="+mn-cs"/>
                </a:rPr>
                <a:t>PSC Decision</a:t>
              </a:r>
            </a:p>
          </p:txBody>
        </p:sp>
        <p:grpSp>
          <p:nvGrpSpPr>
            <p:cNvPr id="26" name="Gruppieren 25">
              <a:extLst>
                <a:ext uri="{FF2B5EF4-FFF2-40B4-BE49-F238E27FC236}">
                  <a16:creationId xmlns:a16="http://schemas.microsoft.com/office/drawing/2014/main" id="{603821D7-261B-7430-30B9-34464E87B7D7}"/>
                </a:ext>
              </a:extLst>
            </p:cNvPr>
            <p:cNvGrpSpPr/>
            <p:nvPr/>
          </p:nvGrpSpPr>
          <p:grpSpPr>
            <a:xfrm>
              <a:off x="3492013" y="4445537"/>
              <a:ext cx="5272154" cy="1341042"/>
              <a:chOff x="3452830" y="4425717"/>
              <a:chExt cx="5272154" cy="1341042"/>
            </a:xfrm>
          </p:grpSpPr>
          <p:sp>
            <p:nvSpPr>
              <p:cNvPr id="57" name="Rechteck: abgerundete Ecken 56">
                <a:extLst>
                  <a:ext uri="{FF2B5EF4-FFF2-40B4-BE49-F238E27FC236}">
                    <a16:creationId xmlns:a16="http://schemas.microsoft.com/office/drawing/2014/main" id="{AA9AFE94-B245-4382-DC1E-B9E28996C47B}"/>
                  </a:ext>
                </a:extLst>
              </p:cNvPr>
              <p:cNvSpPr/>
              <p:nvPr/>
            </p:nvSpPr>
            <p:spPr>
              <a:xfrm>
                <a:off x="3452830" y="4425717"/>
                <a:ext cx="5272154" cy="1341042"/>
              </a:xfrm>
              <a:prstGeom prst="roundRect">
                <a:avLst>
                  <a:gd name="adj" fmla="val 5001"/>
                </a:avLst>
              </a:prstGeom>
              <a:solidFill>
                <a:srgbClr val="99A9AD"/>
              </a:solidFill>
              <a:ln>
                <a:noFill/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0000" tIns="36000" rIns="180000" bIns="180000" rtlCol="0" anchor="t"/>
              <a:lstStyle/>
              <a:p>
                <a:pPr>
                  <a:defRPr/>
                </a:pPr>
                <a:r>
                  <a:rPr kumimoji="0" lang="en" sz="14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VWAG TheSans"/>
                    <a:ea typeface="+mn-ea"/>
                    <a:cs typeface="+mn-cs"/>
                  </a:rPr>
                  <a:t>GVF </a:t>
                </a:r>
                <a:r>
                  <a:rPr kumimoji="0" lang="en" sz="1400" b="0" i="1" u="none" strike="noStrike" kern="1200" cap="none" spc="0" normalizeH="0" baseline="0" noProof="0">
                    <a:ln>
                      <a:noFill/>
                    </a:ln>
                    <a:solidFill>
                      <a:srgbClr val="C2FE06"/>
                    </a:solidFill>
                    <a:effectLst/>
                    <a:uLnTx/>
                    <a:uFillTx/>
                    <a:latin typeface="VWAG TheSans"/>
                    <a:ea typeface="+mn-ea"/>
                    <a:cs typeface="+mn-cs"/>
                  </a:rPr>
                  <a:t>AWS hosted </a:t>
                </a:r>
                <a:endParaRPr kumimoji="0" lang="de-DE" sz="1400" b="0" i="1" u="none" strike="noStrike" kern="1200" cap="none" spc="0" normalizeH="0" baseline="0" noProof="0">
                  <a:ln>
                    <a:noFill/>
                  </a:ln>
                  <a:solidFill>
                    <a:srgbClr val="C2FE06"/>
                  </a:solidFill>
                  <a:effectLst/>
                  <a:uLnTx/>
                  <a:uFillTx/>
                  <a:latin typeface="The Group TEXT"/>
                  <a:ea typeface="+mn-ea"/>
                  <a:cs typeface="+mn-cs"/>
                </a:endParaRPr>
              </a:p>
            </p:txBody>
          </p:sp>
          <p:sp>
            <p:nvSpPr>
              <p:cNvPr id="62" name="Rechteck 61">
                <a:extLst>
                  <a:ext uri="{FF2B5EF4-FFF2-40B4-BE49-F238E27FC236}">
                    <a16:creationId xmlns:a16="http://schemas.microsoft.com/office/drawing/2014/main" id="{D399E2B6-0515-EE3C-AF43-166D2E3DC3C0}"/>
                  </a:ext>
                </a:extLst>
              </p:cNvPr>
              <p:cNvSpPr/>
              <p:nvPr/>
            </p:nvSpPr>
            <p:spPr>
              <a:xfrm>
                <a:off x="6252175" y="4790420"/>
                <a:ext cx="2388919" cy="900000"/>
              </a:xfrm>
              <a:prstGeom prst="rect">
                <a:avLst/>
              </a:prstGeom>
              <a:solidFill>
                <a:srgbClr val="667D85"/>
              </a:solidFill>
              <a:ln w="9525">
                <a:solidFill>
                  <a:srgbClr val="C2FE06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0000" tIns="180000" rIns="180000" bIns="180000" rtlCol="0" anchor="ctr"/>
              <a:lstStyle/>
              <a:p>
                <a:pPr algn="ctr"/>
                <a:r>
                  <a:rPr lang="de-DE" sz="1400" b="1">
                    <a:solidFill>
                      <a:schemeClr val="tx1"/>
                    </a:solidFill>
                  </a:rPr>
                  <a:t>Spiegel der GVF-Daten</a:t>
                </a:r>
                <a:endParaRPr lang="de-DE" sz="1400">
                  <a:solidFill>
                    <a:srgbClr val="C2FE06"/>
                  </a:solidFill>
                </a:endParaRPr>
              </a:p>
            </p:txBody>
          </p:sp>
          <p:sp>
            <p:nvSpPr>
              <p:cNvPr id="63" name="Chevron 76">
                <a:extLst>
                  <a:ext uri="{FF2B5EF4-FFF2-40B4-BE49-F238E27FC236}">
                    <a16:creationId xmlns:a16="http://schemas.microsoft.com/office/drawing/2014/main" id="{59FA70C7-2674-F12E-C5DD-DB64AC1B4188}"/>
                  </a:ext>
                </a:extLst>
              </p:cNvPr>
              <p:cNvSpPr/>
              <p:nvPr/>
            </p:nvSpPr>
            <p:spPr>
              <a:xfrm>
                <a:off x="5569288" y="5225936"/>
                <a:ext cx="1080516" cy="421862"/>
              </a:xfrm>
              <a:prstGeom prst="chevron">
                <a:avLst/>
              </a:prstGeom>
              <a:solidFill>
                <a:srgbClr val="C2E3E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0"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de-DE" sz="1100" b="0" i="0" u="none" strike="noStrike" kern="1200" cap="none" spc="0" normalizeH="0" baseline="0" noProof="0">
                    <a:ln>
                      <a:noFill/>
                    </a:ln>
                    <a:solidFill>
                      <a:srgbClr val="2D5159"/>
                    </a:solidFill>
                    <a:effectLst/>
                    <a:uLnTx/>
                    <a:uFillTx/>
                    <a:latin typeface="VWAG TheSans"/>
                    <a:ea typeface="+mn-ea"/>
                    <a:cs typeface="+mn-cs"/>
                  </a:rPr>
                  <a:t>C</a:t>
                </a:r>
                <a:r>
                  <a:rPr kumimoji="0" lang="en" sz="1100" b="0" i="0" u="none" strike="noStrike" kern="1200" cap="none" spc="0" normalizeH="0" baseline="0" noProof="0">
                    <a:ln>
                      <a:noFill/>
                    </a:ln>
                    <a:solidFill>
                      <a:srgbClr val="2D5159"/>
                    </a:solidFill>
                    <a:effectLst/>
                    <a:uLnTx/>
                    <a:uFillTx/>
                    <a:latin typeface="VWAG TheSans"/>
                    <a:ea typeface="+mn-ea"/>
                    <a:cs typeface="+mn-cs"/>
                  </a:rPr>
                  <a:t>opy </a:t>
                </a:r>
                <a:br>
                  <a:rPr kumimoji="0" lang="en" sz="1100" b="0" i="0" u="none" strike="noStrike" kern="1200" cap="none" spc="0" normalizeH="0" baseline="0" noProof="0">
                    <a:ln>
                      <a:noFill/>
                    </a:ln>
                    <a:solidFill>
                      <a:srgbClr val="2D5159"/>
                    </a:solidFill>
                    <a:effectLst/>
                    <a:uLnTx/>
                    <a:uFillTx/>
                    <a:latin typeface="VWAG TheSans"/>
                    <a:ea typeface="+mn-ea"/>
                    <a:cs typeface="+mn-cs"/>
                  </a:rPr>
                </a:br>
                <a:r>
                  <a:rPr kumimoji="0" lang="en" sz="1100" b="0" i="0" u="none" strike="noStrike" kern="1200" cap="none" spc="0" normalizeH="0" baseline="0" noProof="0">
                    <a:ln>
                      <a:noFill/>
                    </a:ln>
                    <a:solidFill>
                      <a:srgbClr val="2D5159"/>
                    </a:solidFill>
                    <a:effectLst/>
                    <a:uLnTx/>
                    <a:uFillTx/>
                    <a:latin typeface="VWAG TheSans"/>
                    <a:ea typeface="+mn-ea"/>
                    <a:cs typeface="+mn-cs"/>
                  </a:rPr>
                  <a:t>data</a:t>
                </a:r>
              </a:p>
            </p:txBody>
          </p:sp>
          <p:sp>
            <p:nvSpPr>
              <p:cNvPr id="60" name="Rechteck: abgerundete Ecken 59">
                <a:extLst>
                  <a:ext uri="{FF2B5EF4-FFF2-40B4-BE49-F238E27FC236}">
                    <a16:creationId xmlns:a16="http://schemas.microsoft.com/office/drawing/2014/main" id="{CDB0E70C-29AB-744C-C108-A3F0E9E937A4}"/>
                  </a:ext>
                </a:extLst>
              </p:cNvPr>
              <p:cNvSpPr/>
              <p:nvPr/>
            </p:nvSpPr>
            <p:spPr>
              <a:xfrm>
                <a:off x="3510755" y="4760132"/>
                <a:ext cx="2476151" cy="930287"/>
              </a:xfrm>
              <a:prstGeom prst="roundRect">
                <a:avLst>
                  <a:gd name="adj" fmla="val 9648"/>
                </a:avLst>
              </a:prstGeom>
              <a:solidFill>
                <a:srgbClr val="667D85"/>
              </a:solidFill>
              <a:ln>
                <a:noFill/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36000" rIns="180000" bIns="180000" rtlCol="0" anchor="t"/>
              <a:lstStyle/>
              <a:p>
                <a:pPr>
                  <a:defRPr/>
                </a:pPr>
                <a:r>
                  <a:rPr kumimoji="0" lang="en" sz="14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VWAG TheSans"/>
                    <a:ea typeface="+mn-ea"/>
                    <a:cs typeface="+mn-cs"/>
                  </a:rPr>
                  <a:t>GVF-Daten</a:t>
                </a:r>
                <a:br>
                  <a:rPr kumimoji="0" lang="en" sz="14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VWAG TheSans"/>
                    <a:ea typeface="+mn-ea"/>
                    <a:cs typeface="+mn-cs"/>
                  </a:rPr>
                </a:br>
                <a:r>
                  <a:rPr kumimoji="0" lang="en" sz="1400" b="1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VWAG TheSans"/>
                    <a:ea typeface="+mn-ea"/>
                    <a:cs typeface="+mn-cs"/>
                  </a:rPr>
                  <a:t> </a:t>
                </a:r>
                <a:endParaRPr kumimoji="0" lang="de-DE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he Group TEXT"/>
                  <a:ea typeface="+mn-ea"/>
                  <a:cs typeface="+mn-cs"/>
                </a:endParaRPr>
              </a:p>
            </p:txBody>
          </p:sp>
          <p:sp>
            <p:nvSpPr>
              <p:cNvPr id="61" name="Textfeld 60">
                <a:extLst>
                  <a:ext uri="{FF2B5EF4-FFF2-40B4-BE49-F238E27FC236}">
                    <a16:creationId xmlns:a16="http://schemas.microsoft.com/office/drawing/2014/main" id="{600BDE0A-4D90-8370-1EA9-04288A48D697}"/>
                  </a:ext>
                </a:extLst>
              </p:cNvPr>
              <p:cNvSpPr txBox="1"/>
              <p:nvPr/>
            </p:nvSpPr>
            <p:spPr>
              <a:xfrm>
                <a:off x="3594100" y="5054678"/>
                <a:ext cx="2334885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/>
              <a:p>
                <a:pPr algn="l"/>
                <a:r>
                  <a:rPr lang="en-US" sz="1200">
                    <a:solidFill>
                      <a:schemeClr val="tx2"/>
                    </a:solidFill>
                  </a:rPr>
                  <a:t>(Currently ca. 236 million vehicles)</a:t>
                </a:r>
                <a:endParaRPr lang="de-DE" sz="1200">
                  <a:solidFill>
                    <a:schemeClr val="tx2"/>
                  </a:solidFill>
                </a:endParaRPr>
              </a:p>
            </p:txBody>
          </p:sp>
        </p:grpSp>
        <p:sp>
          <p:nvSpPr>
            <p:cNvPr id="22" name="Chevron 76">
              <a:extLst>
                <a:ext uri="{FF2B5EF4-FFF2-40B4-BE49-F238E27FC236}">
                  <a16:creationId xmlns:a16="http://schemas.microsoft.com/office/drawing/2014/main" id="{E5937B60-9D0D-A025-0ED4-AA90EDA85856}"/>
                </a:ext>
              </a:extLst>
            </p:cNvPr>
            <p:cNvSpPr/>
            <p:nvPr/>
          </p:nvSpPr>
          <p:spPr>
            <a:xfrm rot="5400000">
              <a:off x="7432598" y="4294190"/>
              <a:ext cx="1100712" cy="396000"/>
            </a:xfrm>
            <a:prstGeom prst="chevron">
              <a:avLst/>
            </a:prstGeom>
            <a:solidFill>
              <a:srgbClr val="C2E3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" sz="1100" b="0" i="0" u="none" strike="noStrike" kern="1200" cap="none" spc="0" normalizeH="0" baseline="0" noProof="0">
                <a:ln>
                  <a:noFill/>
                </a:ln>
                <a:solidFill>
                  <a:srgbClr val="2D5159"/>
                </a:solidFill>
                <a:effectLst/>
                <a:uLnTx/>
                <a:uFillTx/>
                <a:latin typeface="VWAG TheSans"/>
                <a:ea typeface="+mn-ea"/>
                <a:cs typeface="+mn-cs"/>
              </a:endParaRPr>
            </a:p>
          </p:txBody>
        </p: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FC705DFC-09BA-E3DB-63E1-E12D18ED0CD5}"/>
                </a:ext>
              </a:extLst>
            </p:cNvPr>
            <p:cNvSpPr txBox="1"/>
            <p:nvPr/>
          </p:nvSpPr>
          <p:spPr>
            <a:xfrm rot="5400000">
              <a:off x="7549961" y="4526139"/>
              <a:ext cx="853103" cy="16927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/>
              <a:r>
                <a:rPr lang="de-DE" sz="1100" err="1">
                  <a:solidFill>
                    <a:srgbClr val="2D5159"/>
                  </a:solidFill>
                  <a:latin typeface="VWAG TheSans"/>
                </a:rPr>
                <a:t>request</a:t>
              </a:r>
              <a:endParaRPr lang="de-DE" sz="1100">
                <a:solidFill>
                  <a:srgbClr val="2D5159"/>
                </a:solidFill>
                <a:latin typeface="VWAG TheSans"/>
              </a:endParaRPr>
            </a:p>
          </p:txBody>
        </p:sp>
        <p:sp>
          <p:nvSpPr>
            <p:cNvPr id="113" name="Rechteck: abgerundete Ecken 112">
              <a:extLst>
                <a:ext uri="{FF2B5EF4-FFF2-40B4-BE49-F238E27FC236}">
                  <a16:creationId xmlns:a16="http://schemas.microsoft.com/office/drawing/2014/main" id="{68A6D13B-83BA-B021-2D62-FA28642459F4}"/>
                </a:ext>
              </a:extLst>
            </p:cNvPr>
            <p:cNvSpPr/>
            <p:nvPr/>
          </p:nvSpPr>
          <p:spPr>
            <a:xfrm>
              <a:off x="3596096" y="3869885"/>
              <a:ext cx="6774017" cy="366978"/>
            </a:xfrm>
            <a:prstGeom prst="roundRect">
              <a:avLst/>
            </a:prstGeom>
            <a:solidFill>
              <a:srgbClr val="387D7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ctr"/>
            <a:lstStyle/>
            <a:p>
              <a:r>
                <a:rPr lang="de-DE" sz="1200">
                  <a:solidFill>
                    <a:srgbClr val="FFFFFF"/>
                  </a:solidFill>
                  <a:latin typeface="The Group TEXT"/>
                </a:rPr>
                <a:t>Database</a:t>
              </a:r>
              <a:r>
                <a:rPr lang="de-DE" sz="1400"/>
                <a:t> </a:t>
              </a:r>
              <a:endParaRPr lang="de-DE" sz="1000"/>
            </a:p>
          </p:txBody>
        </p:sp>
        <p:sp>
          <p:nvSpPr>
            <p:cNvPr id="92" name="Chevron 76">
              <a:extLst>
                <a:ext uri="{FF2B5EF4-FFF2-40B4-BE49-F238E27FC236}">
                  <a16:creationId xmlns:a16="http://schemas.microsoft.com/office/drawing/2014/main" id="{E1F6C3E7-9DB3-D0CD-566F-0471E8B56B83}"/>
                </a:ext>
              </a:extLst>
            </p:cNvPr>
            <p:cNvSpPr/>
            <p:nvPr/>
          </p:nvSpPr>
          <p:spPr>
            <a:xfrm rot="16200000">
              <a:off x="7902487" y="4323873"/>
              <a:ext cx="983539" cy="396000"/>
            </a:xfrm>
            <a:prstGeom prst="chevron">
              <a:avLst/>
            </a:prstGeom>
            <a:solidFill>
              <a:srgbClr val="C2E3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" sz="1100" b="0" i="0" u="none" strike="noStrike" kern="1200" cap="none" spc="0" normalizeH="0" baseline="0" noProof="0">
                <a:ln>
                  <a:noFill/>
                </a:ln>
                <a:solidFill>
                  <a:srgbClr val="2D5159"/>
                </a:solidFill>
                <a:effectLst/>
                <a:uLnTx/>
                <a:uFillTx/>
                <a:latin typeface="VWAG TheSans"/>
                <a:ea typeface="+mn-ea"/>
                <a:cs typeface="+mn-cs"/>
              </a:endParaRPr>
            </a:p>
          </p:txBody>
        </p:sp>
        <p:sp>
          <p:nvSpPr>
            <p:cNvPr id="93" name="Textfeld 92">
              <a:extLst>
                <a:ext uri="{FF2B5EF4-FFF2-40B4-BE49-F238E27FC236}">
                  <a16:creationId xmlns:a16="http://schemas.microsoft.com/office/drawing/2014/main" id="{C20CB0CA-2825-01B5-D475-5C7EDD4DC898}"/>
                </a:ext>
              </a:extLst>
            </p:cNvPr>
            <p:cNvSpPr txBox="1"/>
            <p:nvPr/>
          </p:nvSpPr>
          <p:spPr>
            <a:xfrm rot="5400000">
              <a:off x="7966398" y="4344631"/>
              <a:ext cx="832099" cy="3385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0" lang="en" sz="1100" b="0" i="0" u="none" strike="noStrike" kern="1200" cap="none" spc="0" normalizeH="0" baseline="0" noProof="0">
                  <a:ln>
                    <a:noFill/>
                  </a:ln>
                  <a:solidFill>
                    <a:srgbClr val="2D5159"/>
                  </a:solidFill>
                  <a:effectLst/>
                  <a:uLnTx/>
                  <a:uFillTx/>
                  <a:latin typeface="VWAG TheSans"/>
                  <a:ea typeface="+mn-ea"/>
                  <a:cs typeface="+mn-cs"/>
                </a:rPr>
                <a:t>Vehicle</a:t>
              </a:r>
            </a:p>
            <a:p>
              <a:pPr algn="ctr"/>
              <a:r>
                <a:rPr kumimoji="0" lang="en" sz="1100" b="0" i="0" u="none" strike="noStrike" kern="1200" cap="none" spc="0" normalizeH="0" baseline="0" noProof="0">
                  <a:ln>
                    <a:noFill/>
                  </a:ln>
                  <a:solidFill>
                    <a:srgbClr val="2D5159"/>
                  </a:solidFill>
                  <a:effectLst/>
                  <a:uLnTx/>
                  <a:uFillTx/>
                  <a:latin typeface="VWAG TheSans"/>
                  <a:ea typeface="+mn-ea"/>
                  <a:cs typeface="+mn-cs"/>
                </a:rPr>
                <a:t> lists</a:t>
              </a:r>
            </a:p>
          </p:txBody>
        </p:sp>
        <p:sp>
          <p:nvSpPr>
            <p:cNvPr id="33" name="Rechteck: abgerundete Ecken 32">
              <a:extLst>
                <a:ext uri="{FF2B5EF4-FFF2-40B4-BE49-F238E27FC236}">
                  <a16:creationId xmlns:a16="http://schemas.microsoft.com/office/drawing/2014/main" id="{28121B10-3EF0-C1A7-5CFA-E3890D1842C1}"/>
                </a:ext>
              </a:extLst>
            </p:cNvPr>
            <p:cNvSpPr/>
            <p:nvPr/>
          </p:nvSpPr>
          <p:spPr>
            <a:xfrm>
              <a:off x="8833313" y="4450508"/>
              <a:ext cx="1525072" cy="1327002"/>
            </a:xfrm>
            <a:prstGeom prst="roundRect">
              <a:avLst>
                <a:gd name="adj" fmla="val 2882"/>
              </a:avLst>
            </a:prstGeom>
            <a:solidFill>
              <a:srgbClr val="99A9AD"/>
            </a:solidFill>
            <a:ln>
              <a:noFill/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t"/>
            <a:lstStyle/>
            <a:p>
              <a:pPr>
                <a:defRPr/>
              </a:pPr>
              <a:r>
                <a:rPr kumimoji="0" lang="de-DE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he Group TEXT"/>
                  <a:ea typeface="+mn-ea"/>
                  <a:cs typeface="+mn-cs"/>
                </a:rPr>
                <a:t>CAP</a:t>
              </a:r>
              <a:endParaRPr lang="en-GB" sz="1200" b="1">
                <a:latin typeface="+mj-lt"/>
              </a:endParaRPr>
            </a:p>
          </p:txBody>
        </p:sp>
        <p:sp>
          <p:nvSpPr>
            <p:cNvPr id="30" name="Chevron 76">
              <a:extLst>
                <a:ext uri="{FF2B5EF4-FFF2-40B4-BE49-F238E27FC236}">
                  <a16:creationId xmlns:a16="http://schemas.microsoft.com/office/drawing/2014/main" id="{260C56C3-D671-7DCF-2B74-AE4E91D02372}"/>
                </a:ext>
              </a:extLst>
            </p:cNvPr>
            <p:cNvSpPr/>
            <p:nvPr/>
          </p:nvSpPr>
          <p:spPr>
            <a:xfrm rot="5400000">
              <a:off x="9093243" y="4365694"/>
              <a:ext cx="1100712" cy="396000"/>
            </a:xfrm>
            <a:prstGeom prst="chevron">
              <a:avLst/>
            </a:prstGeom>
            <a:solidFill>
              <a:srgbClr val="C2E3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" sz="1100" b="0" i="0" u="none" strike="noStrike" kern="1200" cap="none" spc="0" normalizeH="0" baseline="0" noProof="0">
                <a:ln>
                  <a:noFill/>
                </a:ln>
                <a:solidFill>
                  <a:srgbClr val="2D5159"/>
                </a:solidFill>
                <a:effectLst/>
                <a:uLnTx/>
                <a:uFillTx/>
                <a:latin typeface="VWAG TheSans"/>
                <a:ea typeface="+mn-ea"/>
                <a:cs typeface="+mn-cs"/>
              </a:endParaRPr>
            </a:p>
          </p:txBody>
        </p: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3D2F992B-FD2B-263B-CE96-A364D19B134B}"/>
                </a:ext>
              </a:extLst>
            </p:cNvPr>
            <p:cNvSpPr txBox="1"/>
            <p:nvPr/>
          </p:nvSpPr>
          <p:spPr>
            <a:xfrm rot="5400000">
              <a:off x="9217048" y="4418929"/>
              <a:ext cx="853103" cy="33855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/>
              <a:r>
                <a:rPr lang="de-DE" sz="1100">
                  <a:solidFill>
                    <a:srgbClr val="2D5159"/>
                  </a:solidFill>
                  <a:latin typeface="VWAG TheSans"/>
                </a:rPr>
                <a:t>Data </a:t>
              </a:r>
              <a:r>
                <a:rPr lang="de-DE" sz="1100" err="1">
                  <a:solidFill>
                    <a:srgbClr val="2D5159"/>
                  </a:solidFill>
                  <a:latin typeface="VWAG TheSans"/>
                </a:rPr>
                <a:t>product</a:t>
              </a:r>
              <a:r>
                <a:rPr lang="de-DE" sz="1100">
                  <a:solidFill>
                    <a:srgbClr val="2D5159"/>
                  </a:solidFill>
                  <a:latin typeface="VWAG TheSans"/>
                </a:rPr>
                <a:t> ReCall 2</a:t>
              </a:r>
            </a:p>
          </p:txBody>
        </p:sp>
      </p:grpSp>
      <p:sp>
        <p:nvSpPr>
          <p:cNvPr id="169" name="Rechteck: abgerundete Ecken 168">
            <a:extLst>
              <a:ext uri="{FF2B5EF4-FFF2-40B4-BE49-F238E27FC236}">
                <a16:creationId xmlns:a16="http://schemas.microsoft.com/office/drawing/2014/main" id="{4C872D49-1B32-35BE-1AD7-1FDFD75722F4}"/>
              </a:ext>
            </a:extLst>
          </p:cNvPr>
          <p:cNvSpPr/>
          <p:nvPr/>
        </p:nvSpPr>
        <p:spPr>
          <a:xfrm>
            <a:off x="9830566" y="2113526"/>
            <a:ext cx="2074856" cy="4339661"/>
          </a:xfrm>
          <a:prstGeom prst="roundRect">
            <a:avLst>
              <a:gd name="adj" fmla="val 5494"/>
            </a:avLst>
          </a:prstGeom>
          <a:solidFill>
            <a:srgbClr val="22454E"/>
          </a:solidFill>
          <a:ln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>
              <a:defRPr/>
            </a:pPr>
            <a:r>
              <a:rPr lang="en" sz="1400" b="1">
                <a:solidFill>
                  <a:schemeClr val="tx1"/>
                </a:solidFill>
                <a:latin typeface="VWAG TheSans"/>
              </a:rPr>
              <a:t>R</a:t>
            </a:r>
            <a:r>
              <a:rPr kumimoji="0" lang="e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  <a:t>ecipients</a:t>
            </a:r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he Group TEXT"/>
              <a:ea typeface="+mn-ea"/>
              <a:cs typeface="+mn-cs"/>
            </a:endParaRPr>
          </a:p>
        </p:txBody>
      </p:sp>
      <p:sp>
        <p:nvSpPr>
          <p:cNvPr id="170" name="Rechteck: abgerundete Ecken 169">
            <a:extLst>
              <a:ext uri="{FF2B5EF4-FFF2-40B4-BE49-F238E27FC236}">
                <a16:creationId xmlns:a16="http://schemas.microsoft.com/office/drawing/2014/main" id="{065E68E1-B794-60BC-BEE3-EA37F20F7D83}"/>
              </a:ext>
            </a:extLst>
          </p:cNvPr>
          <p:cNvSpPr/>
          <p:nvPr/>
        </p:nvSpPr>
        <p:spPr>
          <a:xfrm>
            <a:off x="10695277" y="3138462"/>
            <a:ext cx="1164100" cy="778992"/>
          </a:xfrm>
          <a:prstGeom prst="roundRect">
            <a:avLst>
              <a:gd name="adj" fmla="val 3557"/>
            </a:avLst>
          </a:prstGeom>
          <a:solidFill>
            <a:srgbClr val="667D85"/>
          </a:solidFill>
          <a:ln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>
              <a:defRPr/>
            </a:pPr>
            <a:r>
              <a:rPr kumimoji="0" lang="e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  <a:t>ORU</a:t>
            </a:r>
            <a:br>
              <a:rPr kumimoji="0" lang="e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</a:br>
            <a:r>
              <a:rPr kumimoji="0" lang="e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  <a:t>SMART Campaign</a:t>
            </a:r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he Group TEXT"/>
              <a:ea typeface="+mn-ea"/>
              <a:cs typeface="+mn-cs"/>
            </a:endParaRPr>
          </a:p>
        </p:txBody>
      </p:sp>
      <p:sp>
        <p:nvSpPr>
          <p:cNvPr id="174" name="Rechteck: abgerundete Ecken 173">
            <a:extLst>
              <a:ext uri="{FF2B5EF4-FFF2-40B4-BE49-F238E27FC236}">
                <a16:creationId xmlns:a16="http://schemas.microsoft.com/office/drawing/2014/main" id="{0920B33C-FD7F-061B-D685-822EA1518FEB}"/>
              </a:ext>
            </a:extLst>
          </p:cNvPr>
          <p:cNvSpPr/>
          <p:nvPr/>
        </p:nvSpPr>
        <p:spPr>
          <a:xfrm>
            <a:off x="9946607" y="5633316"/>
            <a:ext cx="1884949" cy="796390"/>
          </a:xfrm>
          <a:prstGeom prst="roundRect">
            <a:avLst>
              <a:gd name="adj" fmla="val 9648"/>
            </a:avLst>
          </a:prstGeom>
          <a:solidFill>
            <a:srgbClr val="667D85"/>
          </a:solidFill>
          <a:ln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>
              <a:defRPr/>
            </a:pPr>
            <a:r>
              <a:rPr kumimoji="0" lang="e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  <a:t>Market  Data’s</a:t>
            </a:r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he Group TEXT"/>
              <a:ea typeface="+mn-ea"/>
              <a:cs typeface="+mn-cs"/>
            </a:endParaRPr>
          </a:p>
        </p:txBody>
      </p:sp>
      <p:sp>
        <p:nvSpPr>
          <p:cNvPr id="175" name="Rechteck: abgerundete Ecken 174">
            <a:extLst>
              <a:ext uri="{FF2B5EF4-FFF2-40B4-BE49-F238E27FC236}">
                <a16:creationId xmlns:a16="http://schemas.microsoft.com/office/drawing/2014/main" id="{9FF06E31-BA25-D6E6-6672-0F0F66674BC9}"/>
              </a:ext>
            </a:extLst>
          </p:cNvPr>
          <p:cNvSpPr/>
          <p:nvPr/>
        </p:nvSpPr>
        <p:spPr>
          <a:xfrm>
            <a:off x="10077877" y="5901119"/>
            <a:ext cx="1639024" cy="475208"/>
          </a:xfrm>
          <a:prstGeom prst="roundRect">
            <a:avLst/>
          </a:prstGeom>
          <a:solidFill>
            <a:srgbClr val="99A9AD"/>
          </a:solidFill>
          <a:ln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>
              <a:defRPr/>
            </a:pPr>
            <a:r>
              <a:rPr lang="de-DE" sz="1400">
                <a:solidFill>
                  <a:schemeClr val="tx1"/>
                </a:solidFill>
                <a:latin typeface="VWAG TheSans"/>
              </a:rPr>
              <a:t>Regular REPORTS for </a:t>
            </a:r>
            <a:r>
              <a:rPr lang="de-DE" sz="1400" err="1">
                <a:solidFill>
                  <a:schemeClr val="tx1"/>
                </a:solidFill>
                <a:latin typeface="VWAG TheSans"/>
              </a:rPr>
              <a:t>Importers</a:t>
            </a:r>
            <a:r>
              <a:rPr lang="de-DE" sz="1400">
                <a:solidFill>
                  <a:schemeClr val="tx1"/>
                </a:solidFill>
                <a:latin typeface="VWAG TheSans"/>
              </a:rPr>
              <a:t> </a:t>
            </a:r>
            <a:r>
              <a:rPr lang="de-DE" sz="1400" err="1">
                <a:solidFill>
                  <a:schemeClr val="tx1"/>
                </a:solidFill>
                <a:latin typeface="VWAG TheSans"/>
              </a:rPr>
              <a:t>APP‘s</a:t>
            </a:r>
            <a:endParaRPr lang="de-DE" sz="1400">
              <a:solidFill>
                <a:schemeClr val="tx1"/>
              </a:solidFill>
              <a:latin typeface="VWAG TheSans"/>
            </a:endParaRPr>
          </a:p>
        </p:txBody>
      </p:sp>
      <p:sp>
        <p:nvSpPr>
          <p:cNvPr id="188" name="Rechteck: abgerundete Ecken 187">
            <a:extLst>
              <a:ext uri="{FF2B5EF4-FFF2-40B4-BE49-F238E27FC236}">
                <a16:creationId xmlns:a16="http://schemas.microsoft.com/office/drawing/2014/main" id="{DFDF4219-2F84-48EF-76E1-556D498D5374}"/>
              </a:ext>
            </a:extLst>
          </p:cNvPr>
          <p:cNvSpPr/>
          <p:nvPr/>
        </p:nvSpPr>
        <p:spPr>
          <a:xfrm>
            <a:off x="9946607" y="4650963"/>
            <a:ext cx="547589" cy="461405"/>
          </a:xfrm>
          <a:prstGeom prst="roundRect">
            <a:avLst>
              <a:gd name="adj" fmla="val 9578"/>
            </a:avLst>
          </a:prstGeom>
          <a:solidFill>
            <a:schemeClr val="accent5">
              <a:lumMod val="50000"/>
            </a:schemeClr>
          </a:solidFill>
          <a:ln>
            <a:solidFill>
              <a:srgbClr val="C2FE06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0" rIns="36000" bIns="180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1" u="none" strike="noStrike" kern="1200" cap="none" spc="0" normalizeH="0" baseline="0" noProof="0">
                <a:ln>
                  <a:noFill/>
                </a:ln>
                <a:solidFill>
                  <a:srgbClr val="C2FE06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CSV</a:t>
            </a:r>
            <a:br>
              <a:rPr kumimoji="0" lang="de-DE" sz="1400" b="0" i="1" u="none" strike="noStrike" kern="1200" cap="none" spc="0" normalizeH="0" baseline="0" noProof="0">
                <a:ln>
                  <a:noFill/>
                </a:ln>
                <a:solidFill>
                  <a:srgbClr val="C2FE06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</a:br>
            <a:r>
              <a:rPr kumimoji="0" lang="de-DE" sz="1400" b="0" i="1" u="none" strike="noStrike" kern="1200" cap="none" spc="0" normalizeH="0" baseline="0" noProof="0">
                <a:ln>
                  <a:noFill/>
                </a:ln>
                <a:solidFill>
                  <a:srgbClr val="C2FE06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RSV</a:t>
            </a:r>
          </a:p>
        </p:txBody>
      </p:sp>
      <p:cxnSp>
        <p:nvCxnSpPr>
          <p:cNvPr id="189" name="Verbinder: gewinkelt 188">
            <a:extLst>
              <a:ext uri="{FF2B5EF4-FFF2-40B4-BE49-F238E27FC236}">
                <a16:creationId xmlns:a16="http://schemas.microsoft.com/office/drawing/2014/main" id="{A8F6CA98-802E-94F0-E0A5-7AF7E22D02E1}"/>
              </a:ext>
            </a:extLst>
          </p:cNvPr>
          <p:cNvCxnSpPr>
            <a:cxnSpLocks/>
            <a:stCxn id="104" idx="3"/>
            <a:endCxn id="188" idx="1"/>
          </p:cNvCxnSpPr>
          <p:nvPr/>
        </p:nvCxnSpPr>
        <p:spPr>
          <a:xfrm>
            <a:off x="9605704" y="3517807"/>
            <a:ext cx="340903" cy="1363859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accent5"/>
            </a:solidFill>
            <a:headEnd type="none" w="med" len="sm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90" name="Rechteck: abgerundete Ecken 189">
            <a:extLst>
              <a:ext uri="{FF2B5EF4-FFF2-40B4-BE49-F238E27FC236}">
                <a16:creationId xmlns:a16="http://schemas.microsoft.com/office/drawing/2014/main" id="{65C6B5CC-0982-AC32-F9D8-6233434419C7}"/>
              </a:ext>
            </a:extLst>
          </p:cNvPr>
          <p:cNvSpPr/>
          <p:nvPr/>
        </p:nvSpPr>
        <p:spPr>
          <a:xfrm>
            <a:off x="10677621" y="4632101"/>
            <a:ext cx="1164100" cy="506616"/>
          </a:xfrm>
          <a:prstGeom prst="roundRect">
            <a:avLst>
              <a:gd name="adj" fmla="val 9648"/>
            </a:avLst>
          </a:prstGeom>
          <a:solidFill>
            <a:srgbClr val="667D85"/>
          </a:solidFill>
          <a:ln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>
              <a:defRPr/>
            </a:pPr>
            <a:r>
              <a:rPr lang="de-DE" sz="1100">
                <a:solidFill>
                  <a:schemeClr val="tx1"/>
                </a:solidFill>
                <a:latin typeface="VWAG TheSans"/>
              </a:rPr>
              <a:t>Manuell triggert  </a:t>
            </a:r>
            <a:r>
              <a:rPr lang="de-DE" sz="1400" err="1">
                <a:solidFill>
                  <a:schemeClr val="tx1"/>
                </a:solidFill>
                <a:latin typeface="VWAG TheSans"/>
              </a:rPr>
              <a:t>reports</a:t>
            </a:r>
            <a:endParaRPr lang="de-DE" sz="1400">
              <a:solidFill>
                <a:schemeClr val="tx1"/>
              </a:solidFill>
              <a:latin typeface="VWAG TheSans"/>
            </a:endParaRPr>
          </a:p>
        </p:txBody>
      </p:sp>
      <p:cxnSp>
        <p:nvCxnSpPr>
          <p:cNvPr id="191" name="Gerade Verbindung mit Pfeil 190">
            <a:extLst>
              <a:ext uri="{FF2B5EF4-FFF2-40B4-BE49-F238E27FC236}">
                <a16:creationId xmlns:a16="http://schemas.microsoft.com/office/drawing/2014/main" id="{B34BBD3F-505E-6B20-557A-B100E7E09838}"/>
              </a:ext>
            </a:extLst>
          </p:cNvPr>
          <p:cNvCxnSpPr>
            <a:cxnSpLocks/>
            <a:stCxn id="188" idx="3"/>
            <a:endCxn id="190" idx="1"/>
          </p:cNvCxnSpPr>
          <p:nvPr/>
        </p:nvCxnSpPr>
        <p:spPr>
          <a:xfrm>
            <a:off x="10494196" y="4881666"/>
            <a:ext cx="183425" cy="3743"/>
          </a:xfrm>
          <a:prstGeom prst="straightConnector1">
            <a:avLst/>
          </a:prstGeom>
          <a:ln w="9525">
            <a:headEnd type="none" w="med" len="sm"/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21" name="Gerade Verbindung mit Pfeil 120">
            <a:extLst>
              <a:ext uri="{FF2B5EF4-FFF2-40B4-BE49-F238E27FC236}">
                <a16:creationId xmlns:a16="http://schemas.microsoft.com/office/drawing/2014/main" id="{7A1A85AD-7D8F-C022-1D0F-EFE930AA024C}"/>
              </a:ext>
            </a:extLst>
          </p:cNvPr>
          <p:cNvCxnSpPr>
            <a:cxnSpLocks/>
          </p:cNvCxnSpPr>
          <p:nvPr/>
        </p:nvCxnSpPr>
        <p:spPr>
          <a:xfrm>
            <a:off x="1314050" y="2901980"/>
            <a:ext cx="360000" cy="0"/>
          </a:xfrm>
          <a:prstGeom prst="straightConnector1">
            <a:avLst/>
          </a:prstGeom>
          <a:ln w="9525">
            <a:headEnd type="none" w="med" len="sm"/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4" name="Textfeld 3">
            <a:extLst>
              <a:ext uri="{FF2B5EF4-FFF2-40B4-BE49-F238E27FC236}">
                <a16:creationId xmlns:a16="http://schemas.microsoft.com/office/drawing/2014/main" id="{805CC622-467D-C862-B9CE-048C481384E0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74965"/>
            <a:ext cx="774700" cy="121920"/>
          </a:xfrm>
          <a:prstGeom prst="rect">
            <a:avLst/>
          </a:prstGeom>
          <a:solidFill>
            <a:srgbClr val="002733"/>
          </a:solidFill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de-DE" sz="800" kern="1200">
                <a:solidFill>
                  <a:schemeClr val="accent4"/>
                </a:solidFill>
                <a:latin typeface="+mn-lt"/>
                <a:ea typeface="+mn-ea"/>
                <a:cs typeface="+mn-cs"/>
              </a:rPr>
              <a:t>CONFIDENTIAL</a:t>
            </a:r>
          </a:p>
        </p:txBody>
      </p:sp>
      <p:sp>
        <p:nvSpPr>
          <p:cNvPr id="17" name="Textplatzhalter 125">
            <a:extLst>
              <a:ext uri="{FF2B5EF4-FFF2-40B4-BE49-F238E27FC236}">
                <a16:creationId xmlns:a16="http://schemas.microsoft.com/office/drawing/2014/main" id="{B08A5B57-DEF0-05AC-FA8C-F06783C1B6C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>
                <a:solidFill>
                  <a:srgbClr val="C2FE06"/>
                </a:solidFill>
              </a:rPr>
              <a:t>Desired state after changes</a:t>
            </a:r>
            <a:endParaRPr lang="de-DE">
              <a:solidFill>
                <a:srgbClr val="C2FE06"/>
              </a:solidFill>
            </a:endParaRPr>
          </a:p>
        </p:txBody>
      </p:sp>
      <p:sp>
        <p:nvSpPr>
          <p:cNvPr id="14" name="Titel 10">
            <a:extLst>
              <a:ext uri="{FF2B5EF4-FFF2-40B4-BE49-F238E27FC236}">
                <a16:creationId xmlns:a16="http://schemas.microsoft.com/office/drawing/2014/main" id="{B8AE3A9B-96DE-001B-BBE0-D2B2281F1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644520"/>
            <a:ext cx="11376021" cy="387798"/>
          </a:xfrm>
        </p:spPr>
        <p:txBody>
          <a:bodyPr vert="horz" rIns="0">
            <a:spAutoFit/>
          </a:bodyPr>
          <a:lstStyle/>
          <a:p>
            <a:r>
              <a:rPr lang="de-DE"/>
              <a:t>ReCall 2| High </a:t>
            </a:r>
            <a:r>
              <a:rPr lang="de-DE" err="1"/>
              <a:t>level</a:t>
            </a:r>
            <a:r>
              <a:rPr lang="de-DE"/>
              <a:t> </a:t>
            </a:r>
            <a:r>
              <a:rPr lang="de-DE" err="1"/>
              <a:t>Architectural</a:t>
            </a:r>
            <a:endParaRPr lang="de-DE"/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010B207A-7EA1-D35A-AFBF-47131860A047}"/>
              </a:ext>
            </a:extLst>
          </p:cNvPr>
          <p:cNvCxnSpPr>
            <a:cxnSpLocks/>
          </p:cNvCxnSpPr>
          <p:nvPr/>
        </p:nvCxnSpPr>
        <p:spPr>
          <a:xfrm>
            <a:off x="1349728" y="4702194"/>
            <a:ext cx="360000" cy="0"/>
          </a:xfrm>
          <a:prstGeom prst="straightConnector1">
            <a:avLst/>
          </a:prstGeom>
          <a:ln w="9525">
            <a:headEnd type="none" w="med" len="sm"/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0" name="Rechteck: abgerundete Ecken 19">
            <a:extLst>
              <a:ext uri="{FF2B5EF4-FFF2-40B4-BE49-F238E27FC236}">
                <a16:creationId xmlns:a16="http://schemas.microsoft.com/office/drawing/2014/main" id="{BCCAC3F2-20C7-C1B3-CF7E-47580DA85D24}"/>
              </a:ext>
            </a:extLst>
          </p:cNvPr>
          <p:cNvSpPr/>
          <p:nvPr/>
        </p:nvSpPr>
        <p:spPr>
          <a:xfrm>
            <a:off x="9931364" y="2529638"/>
            <a:ext cx="547589" cy="1365348"/>
          </a:xfrm>
          <a:prstGeom prst="roundRect">
            <a:avLst>
              <a:gd name="adj" fmla="val 10366"/>
            </a:avLst>
          </a:prstGeom>
          <a:solidFill>
            <a:schemeClr val="accent5">
              <a:lumMod val="50000"/>
            </a:schemeClr>
          </a:solidFill>
          <a:ln>
            <a:solidFill>
              <a:srgbClr val="C2FE06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80000" rIns="0" bIns="180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1" u="none" strike="noStrike" kern="1200" cap="none" spc="0" normalizeH="0" baseline="0" noProof="0">
                <a:ln>
                  <a:noFill/>
                </a:ln>
                <a:solidFill>
                  <a:srgbClr val="C2FE06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REST</a:t>
            </a:r>
          </a:p>
        </p:txBody>
      </p:sp>
      <p:cxnSp>
        <p:nvCxnSpPr>
          <p:cNvPr id="21" name="Verbinder: gewinkelt 20">
            <a:extLst>
              <a:ext uri="{FF2B5EF4-FFF2-40B4-BE49-F238E27FC236}">
                <a16:creationId xmlns:a16="http://schemas.microsoft.com/office/drawing/2014/main" id="{264559B3-A027-9D5B-5071-C3C85B0F25A5}"/>
              </a:ext>
            </a:extLst>
          </p:cNvPr>
          <p:cNvCxnSpPr>
            <a:cxnSpLocks/>
            <a:stCxn id="104" idx="3"/>
            <a:endCxn id="20" idx="1"/>
          </p:cNvCxnSpPr>
          <p:nvPr/>
        </p:nvCxnSpPr>
        <p:spPr>
          <a:xfrm flipV="1">
            <a:off x="9605704" y="3212312"/>
            <a:ext cx="325660" cy="305495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accent5"/>
            </a:solidFill>
            <a:headEnd type="none" w="med" len="sm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6" name="Rechteck: abgerundete Ecken 35">
            <a:extLst>
              <a:ext uri="{FF2B5EF4-FFF2-40B4-BE49-F238E27FC236}">
                <a16:creationId xmlns:a16="http://schemas.microsoft.com/office/drawing/2014/main" id="{ECB2D988-C8EF-5A54-C6C2-93EF271E93F5}"/>
              </a:ext>
            </a:extLst>
          </p:cNvPr>
          <p:cNvSpPr/>
          <p:nvPr/>
        </p:nvSpPr>
        <p:spPr>
          <a:xfrm>
            <a:off x="10690188" y="2498498"/>
            <a:ext cx="1164100" cy="501140"/>
          </a:xfrm>
          <a:prstGeom prst="roundRect">
            <a:avLst>
              <a:gd name="adj" fmla="val 9648"/>
            </a:avLst>
          </a:prstGeom>
          <a:solidFill>
            <a:srgbClr val="667D85"/>
          </a:solidFill>
          <a:ln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>
              <a:defRPr/>
            </a:pPr>
            <a:r>
              <a:rPr kumimoji="0" lang="e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  <a:t>GVF </a:t>
            </a:r>
            <a:br>
              <a:rPr kumimoji="0" lang="e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</a:br>
            <a:r>
              <a:rPr kumimoji="0" lang="en" sz="10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  <a:t>assigned Dealer</a:t>
            </a:r>
            <a:br>
              <a:rPr kumimoji="0" lang="e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</a:br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he Group TEXT"/>
              <a:ea typeface="+mn-ea"/>
              <a:cs typeface="+mn-cs"/>
            </a:endParaRPr>
          </a:p>
        </p:txBody>
      </p:sp>
      <p:cxnSp>
        <p:nvCxnSpPr>
          <p:cNvPr id="187" name="Gerade Verbindung mit Pfeil 186">
            <a:extLst>
              <a:ext uri="{FF2B5EF4-FFF2-40B4-BE49-F238E27FC236}">
                <a16:creationId xmlns:a16="http://schemas.microsoft.com/office/drawing/2014/main" id="{075887A2-BFF3-7276-6CE8-0DDA82EDB70F}"/>
              </a:ext>
            </a:extLst>
          </p:cNvPr>
          <p:cNvCxnSpPr>
            <a:cxnSpLocks/>
            <a:endCxn id="36" idx="1"/>
          </p:cNvCxnSpPr>
          <p:nvPr/>
        </p:nvCxnSpPr>
        <p:spPr>
          <a:xfrm>
            <a:off x="10501827" y="2749068"/>
            <a:ext cx="188361" cy="0"/>
          </a:xfrm>
          <a:prstGeom prst="straightConnector1">
            <a:avLst/>
          </a:prstGeom>
          <a:ln w="9525">
            <a:headEnd type="none" w="med" len="sm"/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28D4C258-8CEE-DA03-6BD4-776BAA2A7F5B}"/>
              </a:ext>
            </a:extLst>
          </p:cNvPr>
          <p:cNvCxnSpPr>
            <a:cxnSpLocks/>
          </p:cNvCxnSpPr>
          <p:nvPr/>
        </p:nvCxnSpPr>
        <p:spPr>
          <a:xfrm>
            <a:off x="10501827" y="3459129"/>
            <a:ext cx="188361" cy="0"/>
          </a:xfrm>
          <a:prstGeom prst="straightConnector1">
            <a:avLst/>
          </a:prstGeom>
          <a:ln w="9525">
            <a:headEnd type="none" w="med" len="sm"/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49" name="Rechteck: abgerundete Ecken 48">
            <a:extLst>
              <a:ext uri="{FF2B5EF4-FFF2-40B4-BE49-F238E27FC236}">
                <a16:creationId xmlns:a16="http://schemas.microsoft.com/office/drawing/2014/main" id="{A291E133-AAC4-5DA0-5A98-51A6CE3471FD}"/>
              </a:ext>
            </a:extLst>
          </p:cNvPr>
          <p:cNvSpPr/>
          <p:nvPr/>
        </p:nvSpPr>
        <p:spPr>
          <a:xfrm>
            <a:off x="10677621" y="5277540"/>
            <a:ext cx="1164100" cy="248382"/>
          </a:xfrm>
          <a:prstGeom prst="roundRect">
            <a:avLst>
              <a:gd name="adj" fmla="val 9648"/>
            </a:avLst>
          </a:prstGeom>
          <a:solidFill>
            <a:srgbClr val="667D85"/>
          </a:solidFill>
          <a:ln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>
              <a:defRPr/>
            </a:pPr>
            <a:r>
              <a:rPr lang="de-DE" sz="1400">
                <a:solidFill>
                  <a:schemeClr val="tx1"/>
                </a:solidFill>
                <a:latin typeface="VWAG TheSans"/>
              </a:rPr>
              <a:t>DPMP</a:t>
            </a:r>
          </a:p>
        </p:txBody>
      </p:sp>
      <p:sp>
        <p:nvSpPr>
          <p:cNvPr id="50" name="Rechteck: abgerundete Ecken 49">
            <a:extLst>
              <a:ext uri="{FF2B5EF4-FFF2-40B4-BE49-F238E27FC236}">
                <a16:creationId xmlns:a16="http://schemas.microsoft.com/office/drawing/2014/main" id="{6D931B8D-7FC6-32F3-404F-C5928E1A0F3A}"/>
              </a:ext>
            </a:extLst>
          </p:cNvPr>
          <p:cNvSpPr/>
          <p:nvPr/>
        </p:nvSpPr>
        <p:spPr>
          <a:xfrm>
            <a:off x="9946607" y="5252220"/>
            <a:ext cx="547589" cy="293586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rgbClr val="C2FE06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0" rIns="36000" bIns="180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1" u="none" strike="noStrike" kern="1200" cap="none" spc="0" normalizeH="0" baseline="0" noProof="0">
                <a:ln>
                  <a:noFill/>
                </a:ln>
                <a:solidFill>
                  <a:srgbClr val="C2FE06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RSV</a:t>
            </a:r>
          </a:p>
        </p:txBody>
      </p:sp>
      <p:cxnSp>
        <p:nvCxnSpPr>
          <p:cNvPr id="53" name="Gerade Verbindung mit Pfeil 52">
            <a:extLst>
              <a:ext uri="{FF2B5EF4-FFF2-40B4-BE49-F238E27FC236}">
                <a16:creationId xmlns:a16="http://schemas.microsoft.com/office/drawing/2014/main" id="{BA80571F-99AC-F7D6-9785-7F944CFAFDA3}"/>
              </a:ext>
            </a:extLst>
          </p:cNvPr>
          <p:cNvCxnSpPr>
            <a:cxnSpLocks/>
          </p:cNvCxnSpPr>
          <p:nvPr/>
        </p:nvCxnSpPr>
        <p:spPr>
          <a:xfrm flipV="1">
            <a:off x="10489184" y="5418420"/>
            <a:ext cx="193450" cy="3321"/>
          </a:xfrm>
          <a:prstGeom prst="straightConnector1">
            <a:avLst/>
          </a:prstGeom>
          <a:ln w="9525">
            <a:headEnd type="none" w="med" len="sm"/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54" name="Verbinder: gewinkelt 53">
            <a:extLst>
              <a:ext uri="{FF2B5EF4-FFF2-40B4-BE49-F238E27FC236}">
                <a16:creationId xmlns:a16="http://schemas.microsoft.com/office/drawing/2014/main" id="{32CBAA13-ED5A-3F5D-E4EF-A3D41F1F0071}"/>
              </a:ext>
            </a:extLst>
          </p:cNvPr>
          <p:cNvCxnSpPr>
            <a:cxnSpLocks/>
            <a:stCxn id="104" idx="3"/>
            <a:endCxn id="50" idx="1"/>
          </p:cNvCxnSpPr>
          <p:nvPr/>
        </p:nvCxnSpPr>
        <p:spPr>
          <a:xfrm>
            <a:off x="9605704" y="3517807"/>
            <a:ext cx="340903" cy="1881206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accent5"/>
            </a:solidFill>
            <a:headEnd type="none" w="med" len="sm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4" name="Rechteck: abgerundete Ecken 73">
            <a:extLst>
              <a:ext uri="{FF2B5EF4-FFF2-40B4-BE49-F238E27FC236}">
                <a16:creationId xmlns:a16="http://schemas.microsoft.com/office/drawing/2014/main" id="{F7F5511F-80AD-41B5-24F8-3774DB6FCAA0}"/>
              </a:ext>
            </a:extLst>
          </p:cNvPr>
          <p:cNvSpPr/>
          <p:nvPr/>
        </p:nvSpPr>
        <p:spPr>
          <a:xfrm>
            <a:off x="9931364" y="4078315"/>
            <a:ext cx="547589" cy="392926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rgbClr val="C2FE06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0" rIns="36000" bIns="180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1" u="none" strike="noStrike" kern="1200" cap="none" spc="0" normalizeH="0" baseline="0" noProof="0">
                <a:ln>
                  <a:noFill/>
                </a:ln>
                <a:solidFill>
                  <a:srgbClr val="C2FE06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GSB</a:t>
            </a:r>
          </a:p>
        </p:txBody>
      </p:sp>
      <p:sp>
        <p:nvSpPr>
          <p:cNvPr id="75" name="Rechteck: abgerundete Ecken 74">
            <a:extLst>
              <a:ext uri="{FF2B5EF4-FFF2-40B4-BE49-F238E27FC236}">
                <a16:creationId xmlns:a16="http://schemas.microsoft.com/office/drawing/2014/main" id="{5E33A838-5B61-A631-C062-AEBDC819D4CF}"/>
              </a:ext>
            </a:extLst>
          </p:cNvPr>
          <p:cNvSpPr/>
          <p:nvPr/>
        </p:nvSpPr>
        <p:spPr>
          <a:xfrm>
            <a:off x="10697452" y="4056278"/>
            <a:ext cx="1164100" cy="437000"/>
          </a:xfrm>
          <a:prstGeom prst="roundRect">
            <a:avLst>
              <a:gd name="adj" fmla="val 11732"/>
            </a:avLst>
          </a:prstGeom>
          <a:solidFill>
            <a:srgbClr val="667D85"/>
          </a:solidFill>
          <a:ln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08000" rIns="36000" bIns="36000" rtlCol="0" anchor="ctr"/>
          <a:lstStyle/>
          <a:p>
            <a:pPr>
              <a:lnSpc>
                <a:spcPts val="1200"/>
              </a:lnSpc>
              <a:defRPr/>
            </a:pPr>
            <a:r>
              <a:rPr lang="de-DE" sz="1400">
                <a:solidFill>
                  <a:schemeClr val="tx1"/>
                </a:solidFill>
                <a:latin typeface="VWAG TheSans"/>
              </a:rPr>
              <a:t>&gt; 150 </a:t>
            </a:r>
            <a:r>
              <a:rPr lang="de-DE" sz="1400" err="1">
                <a:solidFill>
                  <a:schemeClr val="tx1"/>
                </a:solidFill>
                <a:latin typeface="VWAG TheSans"/>
              </a:rPr>
              <a:t>consumer</a:t>
            </a:r>
            <a:endParaRPr lang="de-DE" sz="1400">
              <a:solidFill>
                <a:schemeClr val="tx1"/>
              </a:solidFill>
              <a:latin typeface="VWAG TheSans"/>
            </a:endParaRPr>
          </a:p>
        </p:txBody>
      </p:sp>
      <p:cxnSp>
        <p:nvCxnSpPr>
          <p:cNvPr id="76" name="Gerade Verbindung mit Pfeil 75">
            <a:extLst>
              <a:ext uri="{FF2B5EF4-FFF2-40B4-BE49-F238E27FC236}">
                <a16:creationId xmlns:a16="http://schemas.microsoft.com/office/drawing/2014/main" id="{A6996097-A614-6D51-942A-8362F60E1263}"/>
              </a:ext>
            </a:extLst>
          </p:cNvPr>
          <p:cNvCxnSpPr>
            <a:cxnSpLocks/>
            <a:stCxn id="74" idx="3"/>
            <a:endCxn id="75" idx="1"/>
          </p:cNvCxnSpPr>
          <p:nvPr/>
        </p:nvCxnSpPr>
        <p:spPr>
          <a:xfrm>
            <a:off x="10478953" y="4274778"/>
            <a:ext cx="218499" cy="0"/>
          </a:xfrm>
          <a:prstGeom prst="straightConnector1">
            <a:avLst/>
          </a:prstGeom>
          <a:ln w="9525">
            <a:headEnd type="none" w="med" len="sm"/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6" name="Rechteck: abgerundete Ecken 85">
            <a:extLst>
              <a:ext uri="{FF2B5EF4-FFF2-40B4-BE49-F238E27FC236}">
                <a16:creationId xmlns:a16="http://schemas.microsoft.com/office/drawing/2014/main" id="{D2275366-5CB2-54D2-7309-70745DEA5953}"/>
              </a:ext>
            </a:extLst>
          </p:cNvPr>
          <p:cNvSpPr/>
          <p:nvPr/>
        </p:nvSpPr>
        <p:spPr>
          <a:xfrm>
            <a:off x="241637" y="4308948"/>
            <a:ext cx="1164100" cy="719155"/>
          </a:xfrm>
          <a:prstGeom prst="roundRect">
            <a:avLst>
              <a:gd name="adj" fmla="val 9648"/>
            </a:avLst>
          </a:prstGeom>
          <a:solidFill>
            <a:srgbClr val="667D85"/>
          </a:solidFill>
          <a:ln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36000" rtlCol="0" anchor="t"/>
          <a:lstStyle/>
          <a:p>
            <a:pPr>
              <a:defRPr/>
            </a:pPr>
            <a:r>
              <a:rPr kumimoji="0" lang="e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  <a:t>GVF </a:t>
            </a:r>
            <a:br>
              <a:rPr kumimoji="0" lang="e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</a:br>
            <a:r>
              <a:rPr lang="en" sz="1000">
                <a:solidFill>
                  <a:schemeClr val="tx1"/>
                </a:solidFill>
                <a:latin typeface="VWAG TheSans"/>
              </a:rPr>
              <a:t>Scraped </a:t>
            </a:r>
            <a:br>
              <a:rPr lang="en" sz="1000">
                <a:solidFill>
                  <a:schemeClr val="tx1"/>
                </a:solidFill>
                <a:latin typeface="VWAG TheSans"/>
              </a:rPr>
            </a:br>
            <a:r>
              <a:rPr lang="en" sz="1000">
                <a:solidFill>
                  <a:schemeClr val="tx1"/>
                </a:solidFill>
                <a:latin typeface="VWAG TheSans"/>
              </a:rPr>
              <a:t>Development</a:t>
            </a:r>
          </a:p>
          <a:p>
            <a:pPr>
              <a:defRPr/>
            </a:pPr>
            <a:r>
              <a:rPr kumimoji="0" lang="en" sz="10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  <a:t>Tunning Vehicle</a:t>
            </a:r>
            <a:br>
              <a:rPr kumimoji="0" lang="en" sz="10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</a:br>
            <a:br>
              <a:rPr kumimoji="0" lang="e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</a:br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he Group TEXT"/>
              <a:ea typeface="+mn-ea"/>
              <a:cs typeface="+mn-cs"/>
            </a:endParaRPr>
          </a:p>
        </p:txBody>
      </p:sp>
      <p:cxnSp>
        <p:nvCxnSpPr>
          <p:cNvPr id="87" name="Gerade Verbindung mit Pfeil 86">
            <a:extLst>
              <a:ext uri="{FF2B5EF4-FFF2-40B4-BE49-F238E27FC236}">
                <a16:creationId xmlns:a16="http://schemas.microsoft.com/office/drawing/2014/main" id="{4E6A9B74-D4DC-A86D-C2CF-FFC044961C84}"/>
              </a:ext>
            </a:extLst>
          </p:cNvPr>
          <p:cNvCxnSpPr>
            <a:cxnSpLocks/>
          </p:cNvCxnSpPr>
          <p:nvPr/>
        </p:nvCxnSpPr>
        <p:spPr>
          <a:xfrm>
            <a:off x="1349728" y="5415841"/>
            <a:ext cx="360000" cy="0"/>
          </a:xfrm>
          <a:prstGeom prst="straightConnector1">
            <a:avLst/>
          </a:prstGeom>
          <a:ln w="9525">
            <a:headEnd type="none" w="med" len="sm"/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5" name="Rechteck: abgerundete Ecken 84">
            <a:extLst>
              <a:ext uri="{FF2B5EF4-FFF2-40B4-BE49-F238E27FC236}">
                <a16:creationId xmlns:a16="http://schemas.microsoft.com/office/drawing/2014/main" id="{8F152B38-F67F-38A9-6E32-15FAE2B38038}"/>
              </a:ext>
            </a:extLst>
          </p:cNvPr>
          <p:cNvSpPr/>
          <p:nvPr/>
        </p:nvSpPr>
        <p:spPr>
          <a:xfrm>
            <a:off x="235170" y="5083972"/>
            <a:ext cx="1164100" cy="695808"/>
          </a:xfrm>
          <a:prstGeom prst="roundRect">
            <a:avLst>
              <a:gd name="adj" fmla="val 9648"/>
            </a:avLst>
          </a:prstGeom>
          <a:solidFill>
            <a:srgbClr val="667D85"/>
          </a:solidFill>
          <a:ln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36000" rtlCol="0" anchor="t"/>
          <a:lstStyle/>
          <a:p>
            <a:pPr>
              <a:defRPr/>
            </a:pPr>
            <a:r>
              <a:rPr kumimoji="0" lang="e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  <a:t>ORU</a:t>
            </a:r>
            <a:br>
              <a:rPr kumimoji="0" lang="e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</a:br>
            <a:r>
              <a:rPr kumimoji="0" lang="e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  <a:t>SMART Campaign</a:t>
            </a:r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he Group TEXT"/>
              <a:ea typeface="+mn-ea"/>
              <a:cs typeface="+mn-cs"/>
            </a:endParaRPr>
          </a:p>
        </p:txBody>
      </p:sp>
      <p:sp>
        <p:nvSpPr>
          <p:cNvPr id="46" name="Rechteck: abgerundete Ecken 45">
            <a:extLst>
              <a:ext uri="{FF2B5EF4-FFF2-40B4-BE49-F238E27FC236}">
                <a16:creationId xmlns:a16="http://schemas.microsoft.com/office/drawing/2014/main" id="{A71EB306-C3ED-B44F-D6F8-3B322CCCB292}"/>
              </a:ext>
            </a:extLst>
          </p:cNvPr>
          <p:cNvSpPr/>
          <p:nvPr/>
        </p:nvSpPr>
        <p:spPr>
          <a:xfrm>
            <a:off x="231681" y="3516455"/>
            <a:ext cx="1151167" cy="186297"/>
          </a:xfrm>
          <a:prstGeom prst="roundRect">
            <a:avLst/>
          </a:prstGeom>
          <a:solidFill>
            <a:srgbClr val="667D85"/>
          </a:solidFill>
          <a:ln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>
              <a:defRPr/>
            </a:pPr>
            <a:r>
              <a:rPr lang="de-DE" sz="1400">
                <a:solidFill>
                  <a:schemeClr val="tx1"/>
                </a:solidFill>
                <a:latin typeface="VWAG TheSans"/>
              </a:rPr>
              <a:t>HST2</a:t>
            </a:r>
          </a:p>
        </p:txBody>
      </p:sp>
      <p:sp>
        <p:nvSpPr>
          <p:cNvPr id="51" name="Rechteck: abgerundete Ecken 50">
            <a:extLst>
              <a:ext uri="{FF2B5EF4-FFF2-40B4-BE49-F238E27FC236}">
                <a16:creationId xmlns:a16="http://schemas.microsoft.com/office/drawing/2014/main" id="{4038C974-6645-B019-CDF1-5366A8E12CE2}"/>
              </a:ext>
            </a:extLst>
          </p:cNvPr>
          <p:cNvSpPr/>
          <p:nvPr/>
        </p:nvSpPr>
        <p:spPr>
          <a:xfrm>
            <a:off x="231681" y="3300407"/>
            <a:ext cx="1151167" cy="186297"/>
          </a:xfrm>
          <a:prstGeom prst="roundRect">
            <a:avLst/>
          </a:prstGeom>
          <a:solidFill>
            <a:srgbClr val="667D85"/>
          </a:solidFill>
          <a:ln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>
              <a:defRPr/>
            </a:pPr>
            <a:r>
              <a:rPr lang="de-DE" sz="1400">
                <a:solidFill>
                  <a:schemeClr val="tx1"/>
                </a:solidFill>
                <a:latin typeface="VWAG TheSans"/>
              </a:rPr>
              <a:t>BCMP</a:t>
            </a:r>
          </a:p>
        </p:txBody>
      </p:sp>
      <p:cxnSp>
        <p:nvCxnSpPr>
          <p:cNvPr id="97" name="Verbinder: gewinkelt 96">
            <a:extLst>
              <a:ext uri="{FF2B5EF4-FFF2-40B4-BE49-F238E27FC236}">
                <a16:creationId xmlns:a16="http://schemas.microsoft.com/office/drawing/2014/main" id="{DE470C50-D68F-4E0C-5089-67CA7A179E6F}"/>
              </a:ext>
            </a:extLst>
          </p:cNvPr>
          <p:cNvCxnSpPr>
            <a:cxnSpLocks/>
            <a:stCxn id="104" idx="3"/>
            <a:endCxn id="74" idx="1"/>
          </p:cNvCxnSpPr>
          <p:nvPr/>
        </p:nvCxnSpPr>
        <p:spPr>
          <a:xfrm>
            <a:off x="9605704" y="3517807"/>
            <a:ext cx="325660" cy="756971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accent5"/>
            </a:solidFill>
            <a:headEnd type="none" w="med" len="sm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1" name="Rechteck: abgerundete Ecken 100">
            <a:extLst>
              <a:ext uri="{FF2B5EF4-FFF2-40B4-BE49-F238E27FC236}">
                <a16:creationId xmlns:a16="http://schemas.microsoft.com/office/drawing/2014/main" id="{D13C3D18-8789-B75E-7983-5D5E8E580797}"/>
              </a:ext>
            </a:extLst>
          </p:cNvPr>
          <p:cNvSpPr/>
          <p:nvPr/>
        </p:nvSpPr>
        <p:spPr>
          <a:xfrm>
            <a:off x="231681" y="2506054"/>
            <a:ext cx="1164100" cy="754789"/>
          </a:xfrm>
          <a:prstGeom prst="roundRect">
            <a:avLst>
              <a:gd name="adj" fmla="val 9648"/>
            </a:avLst>
          </a:prstGeom>
          <a:solidFill>
            <a:srgbClr val="667D85"/>
          </a:solidFill>
          <a:ln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36000" rtlCol="0" anchor="t"/>
          <a:lstStyle/>
          <a:p>
            <a:pPr>
              <a:defRPr/>
            </a:pPr>
            <a:r>
              <a:rPr lang="en" sz="1400" b="1">
                <a:solidFill>
                  <a:schemeClr val="tx1"/>
                </a:solidFill>
                <a:latin typeface="VWAG TheSans"/>
              </a:rPr>
              <a:t>Repare-Data</a:t>
            </a:r>
            <a:r>
              <a:rPr kumimoji="0" lang="e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  <a:t> </a:t>
            </a:r>
            <a:br>
              <a:rPr kumimoji="0" lang="e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</a:br>
            <a:r>
              <a:rPr kumimoji="0" lang="e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  <a:t> </a:t>
            </a:r>
            <a:r>
              <a:rPr lang="de-DE" sz="1000">
                <a:solidFill>
                  <a:schemeClr val="tx1"/>
                </a:solidFill>
                <a:latin typeface="VWAG TheSans"/>
              </a:rPr>
              <a:t>SAGA/2</a:t>
            </a:r>
          </a:p>
          <a:p>
            <a:pPr>
              <a:defRPr/>
            </a:pPr>
            <a:r>
              <a:rPr lang="de-DE" sz="1000">
                <a:solidFill>
                  <a:schemeClr val="tx1"/>
                </a:solidFill>
                <a:latin typeface="VWAG TheSans"/>
              </a:rPr>
              <a:t> FISKUS</a:t>
            </a:r>
          </a:p>
          <a:p>
            <a:pPr>
              <a:defRPr/>
            </a:pPr>
            <a:r>
              <a:rPr lang="de-DE" sz="1000">
                <a:solidFill>
                  <a:schemeClr val="tx1"/>
                </a:solidFill>
                <a:latin typeface="VWAG TheSans"/>
              </a:rPr>
              <a:t> Reserve</a:t>
            </a:r>
          </a:p>
          <a:p>
            <a:pPr>
              <a:defRPr/>
            </a:pPr>
            <a:br>
              <a:rPr kumimoji="0" lang="en" sz="10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</a:br>
            <a:br>
              <a:rPr kumimoji="0" lang="e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</a:br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he Group TEXT"/>
              <a:ea typeface="+mn-ea"/>
              <a:cs typeface="+mn-cs"/>
            </a:endParaRPr>
          </a:p>
        </p:txBody>
      </p:sp>
      <p:cxnSp>
        <p:nvCxnSpPr>
          <p:cNvPr id="110" name="Verbinder: gewinkelt 109">
            <a:extLst>
              <a:ext uri="{FF2B5EF4-FFF2-40B4-BE49-F238E27FC236}">
                <a16:creationId xmlns:a16="http://schemas.microsoft.com/office/drawing/2014/main" id="{BF21F39F-6581-D19B-1EF0-A216ABDFB361}"/>
              </a:ext>
            </a:extLst>
          </p:cNvPr>
          <p:cNvCxnSpPr>
            <a:cxnSpLocks/>
            <a:stCxn id="33" idx="3"/>
            <a:endCxn id="174" idx="1"/>
          </p:cNvCxnSpPr>
          <p:nvPr/>
        </p:nvCxnSpPr>
        <p:spPr>
          <a:xfrm>
            <a:off x="9521814" y="5693727"/>
            <a:ext cx="424793" cy="337784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accent5"/>
            </a:solidFill>
            <a:headEnd type="none" w="med" len="sm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2" name="Rechteck: abgerundete Ecken 141">
            <a:extLst>
              <a:ext uri="{FF2B5EF4-FFF2-40B4-BE49-F238E27FC236}">
                <a16:creationId xmlns:a16="http://schemas.microsoft.com/office/drawing/2014/main" id="{D3439C91-2DAF-276A-A3D7-826C76D372C0}"/>
              </a:ext>
            </a:extLst>
          </p:cNvPr>
          <p:cNvSpPr/>
          <p:nvPr/>
        </p:nvSpPr>
        <p:spPr>
          <a:xfrm>
            <a:off x="249784" y="5835650"/>
            <a:ext cx="1288007" cy="530648"/>
          </a:xfrm>
          <a:prstGeom prst="roundRect">
            <a:avLst>
              <a:gd name="adj" fmla="val 9648"/>
            </a:avLst>
          </a:prstGeom>
          <a:solidFill>
            <a:srgbClr val="667D85"/>
          </a:solidFill>
          <a:ln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36000" rtlCol="0" anchor="t"/>
          <a:lstStyle/>
          <a:p>
            <a:pPr>
              <a:defRPr/>
            </a:pPr>
            <a:r>
              <a:rPr lang="en" sz="1400" b="1">
                <a:solidFill>
                  <a:schemeClr val="tx1"/>
                </a:solidFill>
                <a:latin typeface="VWAG TheSans"/>
              </a:rPr>
              <a:t>Authentication</a:t>
            </a:r>
            <a:endParaRPr lang="de-DE" sz="1400">
              <a:solidFill>
                <a:srgbClr val="FFFFFF"/>
              </a:solidFill>
            </a:endParaRPr>
          </a:p>
          <a:p>
            <a:pPr>
              <a:defRPr/>
            </a:pPr>
            <a:r>
              <a:rPr lang="de-DE" sz="1000" err="1">
                <a:solidFill>
                  <a:schemeClr val="tx1"/>
                </a:solidFill>
                <a:latin typeface="VWAG TheSans"/>
              </a:rPr>
              <a:t>Cloud.IDP</a:t>
            </a:r>
            <a:endParaRPr lang="de-DE" sz="1000">
              <a:solidFill>
                <a:schemeClr val="tx1"/>
              </a:solidFill>
              <a:latin typeface="VWAG TheSans"/>
            </a:endParaRPr>
          </a:p>
          <a:p>
            <a:pPr>
              <a:defRPr/>
            </a:pPr>
            <a:r>
              <a:rPr lang="de-DE" sz="1000">
                <a:solidFill>
                  <a:schemeClr val="tx1"/>
                </a:solidFill>
                <a:latin typeface="VWAG TheSans"/>
              </a:rPr>
              <a:t>GRP</a:t>
            </a:r>
            <a:br>
              <a:rPr kumimoji="0" lang="e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WAG TheSans"/>
                <a:ea typeface="+mn-ea"/>
                <a:cs typeface="+mn-cs"/>
              </a:rPr>
            </a:br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he Group TEXT"/>
              <a:ea typeface="+mn-ea"/>
              <a:cs typeface="+mn-cs"/>
            </a:endParaRPr>
          </a:p>
        </p:txBody>
      </p:sp>
      <p:cxnSp>
        <p:nvCxnSpPr>
          <p:cNvPr id="148" name="Gerade Verbindung mit Pfeil 147">
            <a:extLst>
              <a:ext uri="{FF2B5EF4-FFF2-40B4-BE49-F238E27FC236}">
                <a16:creationId xmlns:a16="http://schemas.microsoft.com/office/drawing/2014/main" id="{EABA4538-05D1-28D3-A440-814D9D938D47}"/>
              </a:ext>
            </a:extLst>
          </p:cNvPr>
          <p:cNvCxnSpPr>
            <a:cxnSpLocks/>
          </p:cNvCxnSpPr>
          <p:nvPr/>
        </p:nvCxnSpPr>
        <p:spPr>
          <a:xfrm>
            <a:off x="1293633" y="3932515"/>
            <a:ext cx="360000" cy="0"/>
          </a:xfrm>
          <a:prstGeom prst="straightConnector1">
            <a:avLst/>
          </a:prstGeom>
          <a:ln w="9525">
            <a:headEnd type="none" w="med" len="sm"/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41" name="Rechteck: abgerundete Ecken 140">
            <a:extLst>
              <a:ext uri="{FF2B5EF4-FFF2-40B4-BE49-F238E27FC236}">
                <a16:creationId xmlns:a16="http://schemas.microsoft.com/office/drawing/2014/main" id="{05708599-A8D4-6F2E-1CD7-569AA96F0CA9}"/>
              </a:ext>
            </a:extLst>
          </p:cNvPr>
          <p:cNvSpPr/>
          <p:nvPr/>
        </p:nvSpPr>
        <p:spPr>
          <a:xfrm>
            <a:off x="231681" y="3752876"/>
            <a:ext cx="1164100" cy="405053"/>
          </a:xfrm>
          <a:prstGeom prst="roundRect">
            <a:avLst>
              <a:gd name="adj" fmla="val 9648"/>
            </a:avLst>
          </a:prstGeom>
          <a:solidFill>
            <a:srgbClr val="667D85"/>
          </a:solidFill>
          <a:ln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>
              <a:defRPr/>
            </a:pPr>
            <a:r>
              <a:rPr lang="de-DE" sz="1100">
                <a:solidFill>
                  <a:schemeClr val="tx1"/>
                </a:solidFill>
                <a:latin typeface="VWAG TheSans"/>
              </a:rPr>
              <a:t>Manuell triggert  </a:t>
            </a:r>
            <a:r>
              <a:rPr lang="de-DE" sz="1400" err="1">
                <a:solidFill>
                  <a:schemeClr val="tx1"/>
                </a:solidFill>
                <a:latin typeface="VWAG TheSans"/>
              </a:rPr>
              <a:t>uploads</a:t>
            </a:r>
            <a:endParaRPr lang="de-DE" sz="1400">
              <a:solidFill>
                <a:schemeClr val="tx1"/>
              </a:solidFill>
              <a:latin typeface="VWAG TheSans"/>
            </a:endParaRPr>
          </a:p>
        </p:txBody>
      </p:sp>
    </p:spTree>
    <p:extLst>
      <p:ext uri="{BB962C8B-B14F-4D97-AF65-F5344CB8AC3E}">
        <p14:creationId xmlns:p14="http://schemas.microsoft.com/office/powerpoint/2010/main" val="645322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CB4D4-4430-4E8A-FAA3-61E47B237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F6B4E33B-6D4B-739A-B448-FE648DFB584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95" imgH="396" progId="TCLayout.ActiveDocument.1">
                  <p:embed/>
                </p:oleObj>
              </mc:Choice>
              <mc:Fallback>
                <p:oleObj name="think-cell Slide" r:id="rId6" imgW="395" imgH="39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6B4E33B-6D4B-739A-B448-FE648DFB58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828826-94AA-179F-01D1-CC1E00E86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CSD-class 0.2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6FCC42-522F-D4F8-37E2-A6EF056FF2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6400" y="1056085"/>
            <a:ext cx="11380751" cy="276999"/>
          </a:xfrm>
        </p:spPr>
        <p:txBody>
          <a:bodyPr/>
          <a:lstStyle/>
          <a:p>
            <a:r>
              <a:rPr lang="en-US"/>
              <a:t>Based on the “Product Vision &amp; Roadmap” the following main objectives have prioritized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D48DC76-0E51-EFDF-9116-3DA9A83A7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>
            <a:spAutoFit/>
          </a:bodyPr>
          <a:lstStyle/>
          <a:p>
            <a:r>
              <a:rPr lang="en-US" err="1"/>
              <a:t>ReCall 2 | Quarterly Planning Q4 2026</a:t>
            </a:r>
          </a:p>
        </p:txBody>
      </p:sp>
      <p:sp>
        <p:nvSpPr>
          <p:cNvPr id="36" name="Objective 02">
            <a:extLst>
              <a:ext uri="{FF2B5EF4-FFF2-40B4-BE49-F238E27FC236}">
                <a16:creationId xmlns:a16="http://schemas.microsoft.com/office/drawing/2014/main" id="{3B3291F8-5D60-407D-3FD2-05674319E390}"/>
              </a:ext>
            </a:extLst>
          </p:cNvPr>
          <p:cNvSpPr/>
          <p:nvPr/>
        </p:nvSpPr>
        <p:spPr>
          <a:xfrm>
            <a:off x="406400" y="2635635"/>
            <a:ext cx="2700000" cy="612000"/>
          </a:xfrm>
          <a:prstGeom prst="roundRect">
            <a:avLst>
              <a:gd name="adj" fmla="val 6000"/>
            </a:avLst>
          </a:prstGeom>
          <a:solidFill>
            <a:schemeClr val="tx2">
              <a:lumMod val="85000"/>
            </a:schemeClr>
          </a:solidFill>
          <a:ln>
            <a:noFill/>
          </a:ln>
        </p:spPr>
        <p:txBody>
          <a:bodyPr wrap="square" lIns="108000" tIns="3600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050" b="1">
                <a:solidFill>
                  <a:schemeClr val="bg1"/>
                </a:solidFill>
              </a:rPr>
              <a:t>Vehicle selection from GVF</a:t>
            </a:r>
          </a:p>
          <a:p>
            <a:pPr marL="87313" indent="-87313"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50" b="0" i="1">
                <a:solidFill>
                  <a:schemeClr val="bg1"/>
                </a:solidFill>
              </a:rPr>
              <a:t>Development a Mockup for the front end</a:t>
            </a:r>
          </a:p>
          <a:p>
            <a:pPr marL="87313" indent="-87313"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50" i="1">
                <a:solidFill>
                  <a:schemeClr val="bg1"/>
                </a:solidFill>
              </a:rPr>
              <a:t>Develop POC for the GVF-</a:t>
            </a:r>
            <a:r>
              <a:rPr lang="en-US" sz="1050" i="1" err="1">
                <a:solidFill>
                  <a:schemeClr val="bg1"/>
                </a:solidFill>
              </a:rPr>
              <a:t>Inferface</a:t>
            </a:r>
            <a:endParaRPr lang="en-US" sz="1050" b="0" i="1">
              <a:solidFill>
                <a:schemeClr val="bg1"/>
              </a:solidFill>
            </a:endParaRPr>
          </a:p>
        </p:txBody>
      </p:sp>
      <p:sp>
        <p:nvSpPr>
          <p:cNvPr id="48" name="Objective 01">
            <a:extLst>
              <a:ext uri="{FF2B5EF4-FFF2-40B4-BE49-F238E27FC236}">
                <a16:creationId xmlns:a16="http://schemas.microsoft.com/office/drawing/2014/main" id="{9457F1E4-E6A4-97FF-8C7B-8E78DB2B368F}"/>
              </a:ext>
            </a:extLst>
          </p:cNvPr>
          <p:cNvSpPr/>
          <p:nvPr/>
        </p:nvSpPr>
        <p:spPr>
          <a:xfrm>
            <a:off x="406400" y="3965403"/>
            <a:ext cx="2700000" cy="612000"/>
          </a:xfrm>
          <a:prstGeom prst="roundRect">
            <a:avLst>
              <a:gd name="adj" fmla="val 6000"/>
            </a:avLst>
          </a:prstGeom>
          <a:solidFill>
            <a:schemeClr val="tx2">
              <a:lumMod val="85000"/>
            </a:schemeClr>
          </a:solidFill>
          <a:ln>
            <a:noFill/>
          </a:ln>
        </p:spPr>
        <p:txBody>
          <a:bodyPr wrap="square" lIns="108000" tIns="3600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050" b="1">
                <a:solidFill>
                  <a:schemeClr val="bg1"/>
                </a:solidFill>
              </a:rPr>
              <a:t>New interface to ORU backend</a:t>
            </a:r>
          </a:p>
          <a:p>
            <a:pPr marL="87313" indent="-87313"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50" i="1">
                <a:solidFill>
                  <a:schemeClr val="bg1"/>
                </a:solidFill>
              </a:rPr>
              <a:t>Technical conception of ORU interfaces</a:t>
            </a:r>
          </a:p>
          <a:p>
            <a:pPr algn="l">
              <a:spcAft>
                <a:spcPts val="0"/>
              </a:spcAft>
              <a:tabLst>
                <a:tab pos="87313" algn="l"/>
              </a:tabLst>
            </a:pPr>
            <a:r>
              <a:rPr lang="en-US" sz="1050" i="1">
                <a:solidFill>
                  <a:schemeClr val="bg1"/>
                </a:solidFill>
              </a:rPr>
              <a:t>	(Development start in Q1/2027)</a:t>
            </a:r>
            <a:endParaRPr lang="en-US" sz="1050" b="0" i="1">
              <a:solidFill>
                <a:schemeClr val="bg1"/>
              </a:solidFill>
            </a:endParaRPr>
          </a:p>
        </p:txBody>
      </p:sp>
      <p:sp>
        <p:nvSpPr>
          <p:cNvPr id="50" name="Objective 03">
            <a:extLst>
              <a:ext uri="{FF2B5EF4-FFF2-40B4-BE49-F238E27FC236}">
                <a16:creationId xmlns:a16="http://schemas.microsoft.com/office/drawing/2014/main" id="{655D10C9-8A45-62B0-F42C-217D8C0DBBA4}"/>
              </a:ext>
            </a:extLst>
          </p:cNvPr>
          <p:cNvSpPr/>
          <p:nvPr/>
        </p:nvSpPr>
        <p:spPr>
          <a:xfrm>
            <a:off x="406400" y="3300580"/>
            <a:ext cx="2700000" cy="612000"/>
          </a:xfrm>
          <a:prstGeom prst="roundRect">
            <a:avLst>
              <a:gd name="adj" fmla="val 6000"/>
            </a:avLst>
          </a:prstGeom>
          <a:solidFill>
            <a:schemeClr val="tx2">
              <a:lumMod val="85000"/>
            </a:schemeClr>
          </a:solidFill>
          <a:ln>
            <a:noFill/>
          </a:ln>
        </p:spPr>
        <p:txBody>
          <a:bodyPr wrap="square" lIns="108000" tIns="36000" rIns="0" bIns="0" anchor="t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050" b="1">
                <a:solidFill>
                  <a:schemeClr val="bg1"/>
                </a:solidFill>
              </a:rPr>
              <a:t>Replacement of CARPORT by GVF</a:t>
            </a:r>
          </a:p>
          <a:p>
            <a:pPr marL="87313" indent="-87313"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50" b="0" i="1">
                <a:solidFill>
                  <a:schemeClr val="bg1"/>
                </a:solidFill>
              </a:rPr>
              <a:t>Build interfaces to GVF for regular exchange processes (Scrapped VIN)</a:t>
            </a:r>
          </a:p>
          <a:p>
            <a:pPr algn="l">
              <a:spcAft>
                <a:spcPts val="0"/>
              </a:spcAft>
            </a:pPr>
            <a:endParaRPr lang="en-US" sz="1050" b="0">
              <a:solidFill>
                <a:schemeClr val="bg1"/>
              </a:solidFill>
            </a:endParaRPr>
          </a:p>
        </p:txBody>
      </p:sp>
      <p:sp>
        <p:nvSpPr>
          <p:cNvPr id="54" name="Objective 09">
            <a:extLst>
              <a:ext uri="{FF2B5EF4-FFF2-40B4-BE49-F238E27FC236}">
                <a16:creationId xmlns:a16="http://schemas.microsoft.com/office/drawing/2014/main" id="{D4B040EE-1F1C-1D65-5148-44DEA9C989F0}"/>
              </a:ext>
            </a:extLst>
          </p:cNvPr>
          <p:cNvSpPr/>
          <p:nvPr/>
        </p:nvSpPr>
        <p:spPr>
          <a:xfrm>
            <a:off x="417330" y="6003793"/>
            <a:ext cx="11357339" cy="461773"/>
          </a:xfrm>
          <a:prstGeom prst="roundRect">
            <a:avLst>
              <a:gd name="adj" fmla="val 6000"/>
            </a:avLst>
          </a:prstGeom>
          <a:solidFill>
            <a:schemeClr val="tx2">
              <a:lumMod val="85000"/>
            </a:schemeClr>
          </a:solidFill>
          <a:ln>
            <a:noFill/>
          </a:ln>
        </p:spPr>
        <p:txBody>
          <a:bodyPr lIns="137160" tIns="91440" rIns="137160" bIns="91440" anchor="t">
            <a:normAutofit/>
          </a:bodyPr>
          <a:lstStyle/>
          <a:p>
            <a:pPr algn="l">
              <a:buNone/>
            </a:pPr>
            <a:r>
              <a:rPr lang="en-US" sz="1400" b="1">
                <a:solidFill>
                  <a:schemeClr val="bg1"/>
                </a:solidFill>
              </a:rPr>
              <a:t>Operation work (Bugs, Support,…)</a:t>
            </a:r>
          </a:p>
        </p:txBody>
      </p:sp>
      <p:sp>
        <p:nvSpPr>
          <p:cNvPr id="63" name="Rectangle: Rounded Corners 32">
            <a:extLst>
              <a:ext uri="{FF2B5EF4-FFF2-40B4-BE49-F238E27FC236}">
                <a16:creationId xmlns:a16="http://schemas.microsoft.com/office/drawing/2014/main" id="{BD19AE09-009E-67A7-13CD-2A7D5FEA7C31}"/>
              </a:ext>
            </a:extLst>
          </p:cNvPr>
          <p:cNvSpPr/>
          <p:nvPr/>
        </p:nvSpPr>
        <p:spPr>
          <a:xfrm>
            <a:off x="423049" y="1854294"/>
            <a:ext cx="2700000" cy="684842"/>
          </a:xfrm>
          <a:prstGeom prst="roundRect">
            <a:avLst>
              <a:gd name="adj" fmla="val 6000"/>
            </a:avLst>
          </a:prstGeom>
          <a:solidFill>
            <a:schemeClr val="accent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45720" rIns="137160" bIns="45720" rtlCol="0" anchor="ctr">
            <a:normAutofit/>
          </a:bodyPr>
          <a:lstStyle/>
          <a:p>
            <a:pPr algn="ctr">
              <a:buNone/>
            </a:pPr>
            <a:endParaRPr lang="en-US" sz="1400" b="1">
              <a:solidFill>
                <a:srgbClr val="C2FE06"/>
              </a:solidFill>
            </a:endParaRPr>
          </a:p>
        </p:txBody>
      </p:sp>
      <p:sp>
        <p:nvSpPr>
          <p:cNvPr id="15" name="Rectangle: Rounded Corners 16">
            <a:extLst>
              <a:ext uri="{FF2B5EF4-FFF2-40B4-BE49-F238E27FC236}">
                <a16:creationId xmlns:a16="http://schemas.microsoft.com/office/drawing/2014/main" id="{EB03A6DD-20EF-56EB-CC73-4551F979C6F9}"/>
              </a:ext>
            </a:extLst>
          </p:cNvPr>
          <p:cNvSpPr/>
          <p:nvPr/>
        </p:nvSpPr>
        <p:spPr>
          <a:xfrm>
            <a:off x="1452853" y="1923353"/>
            <a:ext cx="1232048" cy="54672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New vehicle architecture</a:t>
            </a:r>
          </a:p>
        </p:txBody>
      </p:sp>
      <p:grpSp>
        <p:nvGrpSpPr>
          <p:cNvPr id="37" name="Gruppieren 36">
            <a:extLst>
              <a:ext uri="{FF2B5EF4-FFF2-40B4-BE49-F238E27FC236}">
                <a16:creationId xmlns:a16="http://schemas.microsoft.com/office/drawing/2014/main" id="{BD5371AB-32EC-2B6A-7F5B-69D516DC2505}"/>
              </a:ext>
            </a:extLst>
          </p:cNvPr>
          <p:cNvGrpSpPr/>
          <p:nvPr/>
        </p:nvGrpSpPr>
        <p:grpSpPr>
          <a:xfrm>
            <a:off x="861198" y="1941222"/>
            <a:ext cx="530225" cy="530225"/>
            <a:chOff x="644334" y="1939133"/>
            <a:chExt cx="530225" cy="530225"/>
          </a:xfrm>
        </p:grpSpPr>
        <p:pic>
          <p:nvPicPr>
            <p:cNvPr id="29" name="Pic">
              <a:extLst>
                <a:ext uri="{FF2B5EF4-FFF2-40B4-BE49-F238E27FC236}">
                  <a16:creationId xmlns:a16="http://schemas.microsoft.com/office/drawing/2014/main" id="{395CA2FD-B0A3-6C81-433D-0EE1217693B0}"/>
                </a:ext>
              </a:extLst>
            </p:cNvPr>
            <p:cNvPicPr>
              <a:picLocks/>
            </p:cNvPicPr>
            <p:nvPr>
              <p:custDataLst>
                <p:tags r:id="rId2"/>
              </p:custDataLst>
            </p:nvPr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  <a:ext uri="{6F801314-5768-4EAC-8CED-0F2297F94238}"/>
              </a:extLst>
            </a:blip>
            <a:stretch>
              <a:fillRect/>
            </a:stretch>
          </p:blipFill>
          <p:spPr bwMode="auto">
            <a:xfrm>
              <a:off x="644334" y="1939133"/>
              <a:ext cx="530225" cy="530225"/>
            </a:xfrm>
            <a:prstGeom prst="rect">
              <a:avLst/>
            </a:prstGeom>
            <a:noFill/>
            <a:ln>
              <a:noFill/>
            </a:ln>
            <a:effectLst/>
          </p:spPr>
        </p:pic>
        <p:pic>
          <p:nvPicPr>
            <p:cNvPr id="31" name="Pic">
              <a:extLst>
                <a:ext uri="{FF2B5EF4-FFF2-40B4-BE49-F238E27FC236}">
                  <a16:creationId xmlns:a16="http://schemas.microsoft.com/office/drawing/2014/main" id="{02E79813-BD95-6D17-B3E2-CCF94EC22B34}"/>
                </a:ext>
              </a:extLst>
            </p:cNvPr>
            <p:cNvPicPr>
              <a:picLocks/>
            </p:cNvPicPr>
            <p:nvPr>
              <p:custDataLst>
                <p:tags r:id="rId3"/>
              </p:custDataLst>
            </p:nvPr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  <a:ext uri="{6F801314-5768-4EAC-8CED-0F2297F94238}"/>
              </a:extLst>
            </a:blip>
            <a:stretch>
              <a:fillRect/>
            </a:stretch>
          </p:blipFill>
          <p:spPr bwMode="auto">
            <a:xfrm>
              <a:off x="782446" y="2006189"/>
              <a:ext cx="254000" cy="254000"/>
            </a:xfrm>
            <a:prstGeom prst="rect">
              <a:avLst/>
            </a:prstGeom>
            <a:noFill/>
            <a:ln>
              <a:noFill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716991973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9C558-3CE3-0DC1-65F3-F787BD9C3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6FBA0C7-02D5-D49B-9999-975A221E47F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95" imgH="396" progId="TCLayout.ActiveDocument.1">
                  <p:embed/>
                </p:oleObj>
              </mc:Choice>
              <mc:Fallback>
                <p:oleObj name="think-cell Slide" r:id="rId6" imgW="395" imgH="39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6FBA0C7-02D5-D49B-9999-975A221E47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28719B-98D5-C7B3-B4B1-E9AE675F1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CSD-class 0.2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83D23D-0C93-2A5F-3DC4-BFE4B371A40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6400" y="1056085"/>
            <a:ext cx="11380751" cy="276999"/>
          </a:xfrm>
        </p:spPr>
        <p:txBody>
          <a:bodyPr/>
          <a:lstStyle/>
          <a:p>
            <a:r>
              <a:rPr lang="en-US"/>
              <a:t>Based on the “Product Vision &amp; Roadmap” the following main objectives have prioritized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0D77798-9898-8B6B-B43C-C1B04D6FD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>
            <a:spAutoFit/>
          </a:bodyPr>
          <a:lstStyle/>
          <a:p>
            <a:r>
              <a:rPr lang="en-US" err="1"/>
              <a:t>ReCall 2 | Quarterly Planning Q4 2026</a:t>
            </a:r>
          </a:p>
        </p:txBody>
      </p:sp>
      <p:sp>
        <p:nvSpPr>
          <p:cNvPr id="36" name="Objective 02">
            <a:extLst>
              <a:ext uri="{FF2B5EF4-FFF2-40B4-BE49-F238E27FC236}">
                <a16:creationId xmlns:a16="http://schemas.microsoft.com/office/drawing/2014/main" id="{8E807736-5E8B-AEC8-7BEE-322C6EA5A6C3}"/>
              </a:ext>
            </a:extLst>
          </p:cNvPr>
          <p:cNvSpPr/>
          <p:nvPr/>
        </p:nvSpPr>
        <p:spPr>
          <a:xfrm>
            <a:off x="423049" y="3579218"/>
            <a:ext cx="2700000" cy="612000"/>
          </a:xfrm>
          <a:prstGeom prst="roundRect">
            <a:avLst>
              <a:gd name="adj" fmla="val 6000"/>
            </a:avLst>
          </a:prstGeom>
          <a:solidFill>
            <a:schemeClr val="tx2">
              <a:lumMod val="85000"/>
            </a:schemeClr>
          </a:solidFill>
          <a:ln>
            <a:noFill/>
          </a:ln>
        </p:spPr>
        <p:txBody>
          <a:bodyPr wrap="square" lIns="108000" tIns="36000" rIns="0" bIns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050" b="1">
                <a:solidFill>
                  <a:schemeClr val="bg1"/>
                </a:solidFill>
              </a:rPr>
              <a:t>Vehicle selection from GVF</a:t>
            </a:r>
          </a:p>
          <a:p>
            <a:pPr marL="87313" indent="-87313"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50" b="0" i="1">
                <a:solidFill>
                  <a:schemeClr val="bg1"/>
                </a:solidFill>
              </a:rPr>
              <a:t>Development a Mockup for the front end</a:t>
            </a:r>
          </a:p>
          <a:p>
            <a:pPr marL="87313" indent="-87313"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50" i="1">
                <a:solidFill>
                  <a:schemeClr val="bg1"/>
                </a:solidFill>
              </a:rPr>
              <a:t>Develop POC for the GVF-</a:t>
            </a:r>
            <a:r>
              <a:rPr lang="en-US" sz="1050" i="1" err="1">
                <a:solidFill>
                  <a:schemeClr val="bg1"/>
                </a:solidFill>
              </a:rPr>
              <a:t>Inferface</a:t>
            </a:r>
            <a:endParaRPr lang="en-US" sz="1050" b="0" i="1">
              <a:solidFill>
                <a:schemeClr val="bg1"/>
              </a:solidFill>
            </a:endParaRPr>
          </a:p>
        </p:txBody>
      </p:sp>
      <p:sp>
        <p:nvSpPr>
          <p:cNvPr id="63" name="Rectangle: Rounded Corners 32">
            <a:extLst>
              <a:ext uri="{FF2B5EF4-FFF2-40B4-BE49-F238E27FC236}">
                <a16:creationId xmlns:a16="http://schemas.microsoft.com/office/drawing/2014/main" id="{0329FB81-1EB6-8D7C-7A4A-B816F5C8FD26}"/>
              </a:ext>
            </a:extLst>
          </p:cNvPr>
          <p:cNvSpPr/>
          <p:nvPr/>
        </p:nvSpPr>
        <p:spPr>
          <a:xfrm>
            <a:off x="423049" y="1854294"/>
            <a:ext cx="2700000" cy="684842"/>
          </a:xfrm>
          <a:prstGeom prst="roundRect">
            <a:avLst>
              <a:gd name="adj" fmla="val 6000"/>
            </a:avLst>
          </a:prstGeom>
          <a:solidFill>
            <a:schemeClr val="accent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45720" rIns="137160" bIns="45720" rtlCol="0" anchor="ctr">
            <a:normAutofit/>
          </a:bodyPr>
          <a:lstStyle/>
          <a:p>
            <a:pPr algn="ctr">
              <a:buNone/>
            </a:pPr>
            <a:endParaRPr lang="en-US" sz="1400" b="1">
              <a:solidFill>
                <a:srgbClr val="C2FE06"/>
              </a:solidFill>
            </a:endParaRPr>
          </a:p>
        </p:txBody>
      </p:sp>
      <p:sp>
        <p:nvSpPr>
          <p:cNvPr id="15" name="Rectangle: Rounded Corners 16">
            <a:extLst>
              <a:ext uri="{FF2B5EF4-FFF2-40B4-BE49-F238E27FC236}">
                <a16:creationId xmlns:a16="http://schemas.microsoft.com/office/drawing/2014/main" id="{A98993E6-008D-5DCC-9B71-CAF12523A97D}"/>
              </a:ext>
            </a:extLst>
          </p:cNvPr>
          <p:cNvSpPr/>
          <p:nvPr/>
        </p:nvSpPr>
        <p:spPr>
          <a:xfrm>
            <a:off x="1452853" y="1923353"/>
            <a:ext cx="1232048" cy="54672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he Group TEXT"/>
                <a:ea typeface="+mn-ea"/>
                <a:cs typeface="+mn-cs"/>
              </a:rPr>
              <a:t>New vehicle architecture</a:t>
            </a:r>
          </a:p>
        </p:txBody>
      </p:sp>
      <p:grpSp>
        <p:nvGrpSpPr>
          <p:cNvPr id="37" name="Gruppieren 36">
            <a:extLst>
              <a:ext uri="{FF2B5EF4-FFF2-40B4-BE49-F238E27FC236}">
                <a16:creationId xmlns:a16="http://schemas.microsoft.com/office/drawing/2014/main" id="{CD99C19F-FF44-D296-C09E-671E390126E4}"/>
              </a:ext>
            </a:extLst>
          </p:cNvPr>
          <p:cNvGrpSpPr/>
          <p:nvPr/>
        </p:nvGrpSpPr>
        <p:grpSpPr>
          <a:xfrm>
            <a:off x="861198" y="1941222"/>
            <a:ext cx="530225" cy="530225"/>
            <a:chOff x="644334" y="1939133"/>
            <a:chExt cx="530225" cy="530225"/>
          </a:xfrm>
        </p:grpSpPr>
        <p:pic>
          <p:nvPicPr>
            <p:cNvPr id="29" name="Pic">
              <a:extLst>
                <a:ext uri="{FF2B5EF4-FFF2-40B4-BE49-F238E27FC236}">
                  <a16:creationId xmlns:a16="http://schemas.microsoft.com/office/drawing/2014/main" id="{EF4939DD-2F91-6F30-E1DB-3516E847E686}"/>
                </a:ext>
              </a:extLst>
            </p:cNvPr>
            <p:cNvPicPr>
              <a:picLocks/>
            </p:cNvPicPr>
            <p:nvPr>
              <p:custDataLst>
                <p:tags r:id="rId2"/>
              </p:custDataLst>
            </p:nvPr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  <a:ext uri="{6F801314-5768-4EAC-8CED-0F2297F94238}"/>
              </a:extLst>
            </a:blip>
            <a:stretch>
              <a:fillRect/>
            </a:stretch>
          </p:blipFill>
          <p:spPr bwMode="auto">
            <a:xfrm>
              <a:off x="644334" y="1939133"/>
              <a:ext cx="530225" cy="530225"/>
            </a:xfrm>
            <a:prstGeom prst="rect">
              <a:avLst/>
            </a:prstGeom>
            <a:noFill/>
            <a:ln>
              <a:noFill/>
            </a:ln>
            <a:effectLst/>
          </p:spPr>
        </p:pic>
        <p:pic>
          <p:nvPicPr>
            <p:cNvPr id="31" name="Pic">
              <a:extLst>
                <a:ext uri="{FF2B5EF4-FFF2-40B4-BE49-F238E27FC236}">
                  <a16:creationId xmlns:a16="http://schemas.microsoft.com/office/drawing/2014/main" id="{0939BA57-7352-7B1F-59FF-4E4F313FA823}"/>
                </a:ext>
              </a:extLst>
            </p:cNvPr>
            <p:cNvPicPr>
              <a:picLocks/>
            </p:cNvPicPr>
            <p:nvPr>
              <p:custDataLst>
                <p:tags r:id="rId3"/>
              </p:custDataLst>
            </p:nvPr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  <a:ext uri="{6F801314-5768-4EAC-8CED-0F2297F94238}"/>
              </a:extLst>
            </a:blip>
            <a:stretch>
              <a:fillRect/>
            </a:stretch>
          </p:blipFill>
          <p:spPr bwMode="auto">
            <a:xfrm>
              <a:off x="782446" y="2006189"/>
              <a:ext cx="254000" cy="254000"/>
            </a:xfrm>
            <a:prstGeom prst="rect">
              <a:avLst/>
            </a:prstGeom>
            <a:noFill/>
            <a:ln>
              <a:noFill/>
            </a:ln>
            <a:effectLst/>
          </p:spPr>
        </p:pic>
      </p:grpSp>
      <p:sp>
        <p:nvSpPr>
          <p:cNvPr id="4" name="Objective 02">
            <a:extLst>
              <a:ext uri="{FF2B5EF4-FFF2-40B4-BE49-F238E27FC236}">
                <a16:creationId xmlns:a16="http://schemas.microsoft.com/office/drawing/2014/main" id="{1087A8E3-A540-7F16-BBED-8CD22AE4AD55}"/>
              </a:ext>
            </a:extLst>
          </p:cNvPr>
          <p:cNvSpPr/>
          <p:nvPr/>
        </p:nvSpPr>
        <p:spPr>
          <a:xfrm>
            <a:off x="7862576" y="4358832"/>
            <a:ext cx="2700000" cy="612000"/>
          </a:xfrm>
          <a:prstGeom prst="roundRect">
            <a:avLst>
              <a:gd name="adj" fmla="val 6000"/>
            </a:avLst>
          </a:prstGeom>
          <a:solidFill>
            <a:schemeClr val="tx2">
              <a:lumMod val="85000"/>
            </a:schemeClr>
          </a:solidFill>
          <a:ln>
            <a:noFill/>
          </a:ln>
        </p:spPr>
        <p:txBody>
          <a:bodyPr wrap="square" lIns="36000" tIns="36000" rIns="3600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050" b="1">
                <a:solidFill>
                  <a:schemeClr val="bg1"/>
                </a:solidFill>
              </a:rPr>
              <a:t>Develop POC for the GVF-</a:t>
            </a:r>
            <a:r>
              <a:rPr lang="en-US" sz="1050" b="1" err="1">
                <a:solidFill>
                  <a:schemeClr val="bg1"/>
                </a:solidFill>
              </a:rPr>
              <a:t>Inferface</a:t>
            </a:r>
            <a:endParaRPr lang="en-US" sz="1050" b="1">
              <a:solidFill>
                <a:schemeClr val="bg1"/>
              </a:solidFill>
            </a:endParaRPr>
          </a:p>
        </p:txBody>
      </p:sp>
      <p:sp>
        <p:nvSpPr>
          <p:cNvPr id="8" name="Objective 02">
            <a:extLst>
              <a:ext uri="{FF2B5EF4-FFF2-40B4-BE49-F238E27FC236}">
                <a16:creationId xmlns:a16="http://schemas.microsoft.com/office/drawing/2014/main" id="{57922B92-E8F1-6FCD-3590-AB23B2EF7D18}"/>
              </a:ext>
            </a:extLst>
          </p:cNvPr>
          <p:cNvSpPr/>
          <p:nvPr/>
        </p:nvSpPr>
        <p:spPr>
          <a:xfrm>
            <a:off x="7862576" y="1796281"/>
            <a:ext cx="2700000" cy="612000"/>
          </a:xfrm>
          <a:prstGeom prst="roundRect">
            <a:avLst>
              <a:gd name="adj" fmla="val 6000"/>
            </a:avLst>
          </a:prstGeom>
          <a:solidFill>
            <a:schemeClr val="tx2">
              <a:lumMod val="85000"/>
            </a:schemeClr>
          </a:solidFill>
          <a:ln>
            <a:noFill/>
          </a:ln>
        </p:spPr>
        <p:txBody>
          <a:bodyPr wrap="square" lIns="36000" tIns="36000" rIns="3600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050" b="1">
                <a:solidFill>
                  <a:schemeClr val="bg1"/>
                </a:solidFill>
              </a:rPr>
              <a:t>Development a Mockup for the front end</a:t>
            </a:r>
          </a:p>
        </p:txBody>
      </p:sp>
      <p:sp>
        <p:nvSpPr>
          <p:cNvPr id="9" name="Objective 02">
            <a:extLst>
              <a:ext uri="{FF2B5EF4-FFF2-40B4-BE49-F238E27FC236}">
                <a16:creationId xmlns:a16="http://schemas.microsoft.com/office/drawing/2014/main" id="{9005C305-6CF8-E310-58F0-18E9EF5DC46E}"/>
              </a:ext>
            </a:extLst>
          </p:cNvPr>
          <p:cNvSpPr/>
          <p:nvPr/>
        </p:nvSpPr>
        <p:spPr>
          <a:xfrm>
            <a:off x="3817102" y="2757766"/>
            <a:ext cx="2700000" cy="612000"/>
          </a:xfrm>
          <a:prstGeom prst="roundRect">
            <a:avLst>
              <a:gd name="adj" fmla="val 6000"/>
            </a:avLst>
          </a:prstGeom>
          <a:solidFill>
            <a:schemeClr val="tx2">
              <a:lumMod val="85000"/>
            </a:schemeClr>
          </a:solidFill>
          <a:ln>
            <a:noFill/>
          </a:ln>
        </p:spPr>
        <p:txBody>
          <a:bodyPr wrap="square" lIns="36000" tIns="36000" rIns="3600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050" b="1">
                <a:solidFill>
                  <a:schemeClr val="bg1"/>
                </a:solidFill>
              </a:rPr>
              <a:t>New front end for the VIN-Selection inside ReCall 2 is needed</a:t>
            </a:r>
          </a:p>
        </p:txBody>
      </p:sp>
      <p:sp>
        <p:nvSpPr>
          <p:cNvPr id="10" name="Objective 02">
            <a:extLst>
              <a:ext uri="{FF2B5EF4-FFF2-40B4-BE49-F238E27FC236}">
                <a16:creationId xmlns:a16="http://schemas.microsoft.com/office/drawing/2014/main" id="{489C1504-57E2-8289-B0EF-F8EF17A14320}"/>
              </a:ext>
            </a:extLst>
          </p:cNvPr>
          <p:cNvSpPr/>
          <p:nvPr/>
        </p:nvSpPr>
        <p:spPr>
          <a:xfrm>
            <a:off x="3817102" y="4394032"/>
            <a:ext cx="2700000" cy="612000"/>
          </a:xfrm>
          <a:prstGeom prst="roundRect">
            <a:avLst>
              <a:gd name="adj" fmla="val 6000"/>
            </a:avLst>
          </a:prstGeom>
          <a:solidFill>
            <a:schemeClr val="tx2">
              <a:lumMod val="85000"/>
            </a:schemeClr>
          </a:solidFill>
          <a:ln>
            <a:noFill/>
          </a:ln>
        </p:spPr>
        <p:txBody>
          <a:bodyPr wrap="square" lIns="36000" tIns="36000" rIns="3600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050" b="1">
                <a:solidFill>
                  <a:schemeClr val="bg1"/>
                </a:solidFill>
              </a:rPr>
              <a:t>Interface for Importing the VIN-Selection from GVF</a:t>
            </a:r>
          </a:p>
        </p:txBody>
      </p:sp>
      <p:sp>
        <p:nvSpPr>
          <p:cNvPr id="11" name="Objective 02">
            <a:extLst>
              <a:ext uri="{FF2B5EF4-FFF2-40B4-BE49-F238E27FC236}">
                <a16:creationId xmlns:a16="http://schemas.microsoft.com/office/drawing/2014/main" id="{6F958175-FD7F-0E7A-6E95-8ED6518016D5}"/>
              </a:ext>
            </a:extLst>
          </p:cNvPr>
          <p:cNvSpPr/>
          <p:nvPr/>
        </p:nvSpPr>
        <p:spPr>
          <a:xfrm>
            <a:off x="3817102" y="3575899"/>
            <a:ext cx="2700000" cy="612000"/>
          </a:xfrm>
          <a:prstGeom prst="roundRect">
            <a:avLst>
              <a:gd name="adj" fmla="val 6000"/>
            </a:avLst>
          </a:prstGeom>
          <a:solidFill>
            <a:schemeClr val="tx2">
              <a:lumMod val="85000"/>
            </a:schemeClr>
          </a:solidFill>
          <a:ln>
            <a:noFill/>
          </a:ln>
        </p:spPr>
        <p:txBody>
          <a:bodyPr wrap="square" lIns="36000" tIns="36000" rIns="3600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050" b="1">
                <a:solidFill>
                  <a:schemeClr val="bg1"/>
                </a:solidFill>
              </a:rPr>
              <a:t>Creating a Query from the VIN-Selection and send it to GVF</a:t>
            </a:r>
          </a:p>
        </p:txBody>
      </p:sp>
      <p:sp>
        <p:nvSpPr>
          <p:cNvPr id="12" name="Objective 02">
            <a:extLst>
              <a:ext uri="{FF2B5EF4-FFF2-40B4-BE49-F238E27FC236}">
                <a16:creationId xmlns:a16="http://schemas.microsoft.com/office/drawing/2014/main" id="{93E3C4C3-3407-3975-13C8-0A978EB1D691}"/>
              </a:ext>
            </a:extLst>
          </p:cNvPr>
          <p:cNvSpPr/>
          <p:nvPr/>
        </p:nvSpPr>
        <p:spPr>
          <a:xfrm>
            <a:off x="7862576" y="2568012"/>
            <a:ext cx="2700000" cy="612000"/>
          </a:xfrm>
          <a:prstGeom prst="roundRect">
            <a:avLst>
              <a:gd name="adj" fmla="val 6000"/>
            </a:avLst>
          </a:prstGeom>
          <a:solidFill>
            <a:schemeClr val="tx2">
              <a:lumMod val="85000"/>
            </a:schemeClr>
          </a:solidFill>
          <a:ln>
            <a:noFill/>
          </a:ln>
        </p:spPr>
        <p:txBody>
          <a:bodyPr wrap="square" lIns="36000" tIns="36000" rIns="3600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050" b="1">
                <a:solidFill>
                  <a:schemeClr val="bg1"/>
                </a:solidFill>
              </a:rPr>
              <a:t>Development a front end</a:t>
            </a:r>
          </a:p>
        </p:txBody>
      </p:sp>
      <p:sp>
        <p:nvSpPr>
          <p:cNvPr id="14" name="Objective 03">
            <a:extLst>
              <a:ext uri="{FF2B5EF4-FFF2-40B4-BE49-F238E27FC236}">
                <a16:creationId xmlns:a16="http://schemas.microsoft.com/office/drawing/2014/main" id="{644FF493-27EF-0312-386E-A36A92BE5724}"/>
              </a:ext>
            </a:extLst>
          </p:cNvPr>
          <p:cNvSpPr/>
          <p:nvPr/>
        </p:nvSpPr>
        <p:spPr>
          <a:xfrm>
            <a:off x="406400" y="5601480"/>
            <a:ext cx="2700000" cy="612000"/>
          </a:xfrm>
          <a:prstGeom prst="roundRect">
            <a:avLst>
              <a:gd name="adj" fmla="val 6000"/>
            </a:avLst>
          </a:prstGeom>
          <a:solidFill>
            <a:schemeClr val="tx2">
              <a:lumMod val="85000"/>
            </a:schemeClr>
          </a:solidFill>
          <a:ln>
            <a:noFill/>
          </a:ln>
        </p:spPr>
        <p:txBody>
          <a:bodyPr wrap="square" lIns="108000" tIns="36000" rIns="0" bIns="0" anchor="t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1050" b="1">
                <a:solidFill>
                  <a:schemeClr val="bg1"/>
                </a:solidFill>
              </a:rPr>
              <a:t>Replacement of CARPORT by GVF</a:t>
            </a:r>
          </a:p>
          <a:p>
            <a:pPr marL="87313" indent="-87313" algn="l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50" b="0" i="1">
                <a:solidFill>
                  <a:schemeClr val="bg1"/>
                </a:solidFill>
              </a:rPr>
              <a:t>Build interfaces to GVF for regular exchange processes (Scrapped VIN)</a:t>
            </a:r>
          </a:p>
          <a:p>
            <a:pPr algn="l">
              <a:spcAft>
                <a:spcPts val="0"/>
              </a:spcAft>
            </a:pPr>
            <a:endParaRPr lang="en-US" sz="1050" b="0">
              <a:solidFill>
                <a:schemeClr val="bg1"/>
              </a:solidFill>
            </a:endParaRPr>
          </a:p>
        </p:txBody>
      </p:sp>
      <p:sp>
        <p:nvSpPr>
          <p:cNvPr id="16" name="Objective 02">
            <a:extLst>
              <a:ext uri="{FF2B5EF4-FFF2-40B4-BE49-F238E27FC236}">
                <a16:creationId xmlns:a16="http://schemas.microsoft.com/office/drawing/2014/main" id="{15BC8FC4-0B7B-08CA-959F-4C40351A91E9}"/>
              </a:ext>
            </a:extLst>
          </p:cNvPr>
          <p:cNvSpPr/>
          <p:nvPr/>
        </p:nvSpPr>
        <p:spPr>
          <a:xfrm>
            <a:off x="3817102" y="5150756"/>
            <a:ext cx="2700000" cy="612000"/>
          </a:xfrm>
          <a:prstGeom prst="roundRect">
            <a:avLst>
              <a:gd name="adj" fmla="val 6000"/>
            </a:avLst>
          </a:prstGeom>
          <a:solidFill>
            <a:schemeClr val="tx2">
              <a:lumMod val="85000"/>
            </a:schemeClr>
          </a:solidFill>
          <a:ln>
            <a:noFill/>
          </a:ln>
        </p:spPr>
        <p:txBody>
          <a:bodyPr wrap="square" lIns="36000" tIns="36000" rIns="3600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050" b="1">
                <a:solidFill>
                  <a:schemeClr val="bg1"/>
                </a:solidFill>
              </a:rPr>
              <a:t>Daily Import of Scratched-, Tunning- or Development-Vehicle</a:t>
            </a:r>
          </a:p>
        </p:txBody>
      </p:sp>
      <p:sp>
        <p:nvSpPr>
          <p:cNvPr id="17" name="Objective 02">
            <a:extLst>
              <a:ext uri="{FF2B5EF4-FFF2-40B4-BE49-F238E27FC236}">
                <a16:creationId xmlns:a16="http://schemas.microsoft.com/office/drawing/2014/main" id="{5C8D9686-1C91-F9CF-598D-F48B8B1F1D7D}"/>
              </a:ext>
            </a:extLst>
          </p:cNvPr>
          <p:cNvSpPr/>
          <p:nvPr/>
        </p:nvSpPr>
        <p:spPr>
          <a:xfrm>
            <a:off x="3817102" y="5907480"/>
            <a:ext cx="2700000" cy="612000"/>
          </a:xfrm>
          <a:prstGeom prst="roundRect">
            <a:avLst>
              <a:gd name="adj" fmla="val 6000"/>
            </a:avLst>
          </a:prstGeom>
          <a:solidFill>
            <a:schemeClr val="tx2">
              <a:lumMod val="85000"/>
            </a:schemeClr>
          </a:solidFill>
          <a:ln>
            <a:noFill/>
          </a:ln>
        </p:spPr>
        <p:txBody>
          <a:bodyPr wrap="square" lIns="36000" tIns="36000" rIns="36000" bIns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sz="1050" b="1">
                <a:solidFill>
                  <a:schemeClr val="bg1"/>
                </a:solidFill>
              </a:rPr>
              <a:t>Change of the Dealer Assignment</a:t>
            </a:r>
          </a:p>
        </p:txBody>
      </p:sp>
    </p:spTree>
    <p:extLst>
      <p:ext uri="{BB962C8B-B14F-4D97-AF65-F5344CB8AC3E}">
        <p14:creationId xmlns:p14="http://schemas.microsoft.com/office/powerpoint/2010/main" val="63618081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EFE81EE4-47DF-A1F3-2537-825767126D86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335091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FE81EE4-47DF-A1F3-2537-825767126D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7704893C-7C5D-F735-3512-E054602E66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8" y="2395984"/>
            <a:ext cx="6120000" cy="609398"/>
          </a:xfrm>
        </p:spPr>
        <p:txBody>
          <a:bodyPr vert="horz" rIns="0">
            <a:spAutoFit/>
          </a:bodyPr>
          <a:lstStyle/>
          <a:p>
            <a:r>
              <a:rPr lang="en-US"/>
              <a:t>Lunch Break! 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B2A6DF9E-4E9C-9A53-B362-9ED6366004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036" y="3226587"/>
            <a:ext cx="6120000" cy="584775"/>
          </a:xfrm>
        </p:spPr>
        <p:txBody>
          <a:bodyPr/>
          <a:lstStyle/>
          <a:p>
            <a:r>
              <a:rPr lang="en-US"/>
              <a:t>Enjoy your meal – see you back shortly!</a:t>
            </a:r>
          </a:p>
          <a:p>
            <a:r>
              <a:rPr lang="en-US"/>
              <a:t>We </a:t>
            </a:r>
            <a:r>
              <a:rPr lang="en-US" b="1">
                <a:solidFill>
                  <a:srgbClr val="C2FE06"/>
                </a:solidFill>
              </a:rPr>
              <a:t>continue at</a:t>
            </a:r>
          </a:p>
        </p:txBody>
      </p:sp>
      <p:pic>
        <p:nvPicPr>
          <p:cNvPr id="17" name="Pic">
            <a:extLst>
              <a:ext uri="{FF2B5EF4-FFF2-40B4-BE49-F238E27FC236}">
                <a16:creationId xmlns:a16="http://schemas.microsoft.com/office/drawing/2014/main" id="{C277A564-66FA-1CAC-39BB-8917830629C8}"/>
              </a:ext>
            </a:extLst>
          </p:cNvPr>
          <p:cNvPicPr>
            <a:picLocks/>
          </p:cNvPicPr>
          <p:nvPr>
            <p:custDataLst>
              <p:tags r:id="rId2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  <a:ext uri="{6F801314-5768-4EAC-8CED-0F2297F94238}"/>
            </a:extLst>
          </a:blip>
          <a:stretch>
            <a:fillRect/>
          </a:stretch>
        </p:blipFill>
        <p:spPr bwMode="auto">
          <a:xfrm>
            <a:off x="4049713" y="2420938"/>
            <a:ext cx="492125" cy="492125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4130787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58122EF8-40E7-90EA-03E0-5E2C970C8B1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7985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8122EF8-40E7-90EA-03E0-5E2C970C8B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3A53992F-99C1-C88D-6B72-0548244621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7" y="2395984"/>
            <a:ext cx="8434561" cy="609398"/>
          </a:xfrm>
        </p:spPr>
        <p:txBody>
          <a:bodyPr vert="horz" wrap="square" rIns="0">
            <a:spAutoFit/>
          </a:bodyPr>
          <a:lstStyle/>
          <a:p>
            <a:r>
              <a:rPr lang="en-US"/>
              <a:t>Let’s call it a day!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C17560-66F9-158F-44EC-1FBDA70906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036" y="3226587"/>
            <a:ext cx="6120000" cy="954107"/>
          </a:xfrm>
        </p:spPr>
        <p:txBody>
          <a:bodyPr/>
          <a:lstStyle/>
          <a:p>
            <a:r>
              <a:rPr lang="en-US"/>
              <a:t>Thank you for your input and discussion.</a:t>
            </a:r>
          </a:p>
          <a:p>
            <a:r>
              <a:rPr lang="en-US"/>
              <a:t>Please join us on the terrace for a relaxed close to the day.</a:t>
            </a:r>
          </a:p>
          <a:p>
            <a:r>
              <a:rPr lang="en-US"/>
              <a:t>We’ll reconvene </a:t>
            </a:r>
            <a:r>
              <a:rPr lang="en-US" b="1">
                <a:solidFill>
                  <a:srgbClr val="C2FE06"/>
                </a:solidFill>
              </a:rPr>
              <a:t>tomorrow at 9:00</a:t>
            </a:r>
          </a:p>
        </p:txBody>
      </p:sp>
    </p:spTree>
    <p:extLst>
      <p:ext uri="{BB962C8B-B14F-4D97-AF65-F5344CB8AC3E}">
        <p14:creationId xmlns:p14="http://schemas.microsoft.com/office/powerpoint/2010/main" val="2047224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D3403-65F3-2CD4-92A0-43E165BAB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4C2E1A9F-20AB-6C6A-3718-BD6FD6BD973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C2E1A9F-20AB-6C6A-3718-BD6FD6BD97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070612D-504D-AAE8-4E43-E44CB9CFF9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7" y="2395984"/>
            <a:ext cx="8434561" cy="609398"/>
          </a:xfrm>
        </p:spPr>
        <p:txBody>
          <a:bodyPr vert="horz" wrap="square" rIns="0">
            <a:spAutoFit/>
          </a:bodyPr>
          <a:lstStyle/>
          <a:p>
            <a:r>
              <a:rPr lang="en-US"/>
              <a:t>Welcome to our 2nd day!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DFFE37-530F-FA8A-0500-4EB6343A11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036" y="3226587"/>
            <a:ext cx="6120000" cy="215444"/>
          </a:xfr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We hope you had a fantastic  night's sleep!</a:t>
            </a:r>
            <a:endParaRPr lang="en-US" b="1">
              <a:solidFill>
                <a:srgbClr val="C2FE0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6417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61C99-B10D-DE67-B53F-80E9018A9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0D71D521-01BA-E024-548A-1CF07B3ADA8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307783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95" imgH="396" progId="TCLayout.ActiveDocument.1">
                  <p:embed/>
                </p:oleObj>
              </mc:Choice>
              <mc:Fallback>
                <p:oleObj name="think-cell Slide" r:id="rId6" imgW="395" imgH="39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D71D521-01BA-E024-548A-1CF07B3ADA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37DDD83-54B8-B825-7C99-AC02FC25C9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F475654-1C99-7A71-AD3A-53347E2F0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>
            <a:spAutoFit/>
          </a:bodyPr>
          <a:lstStyle/>
          <a:p>
            <a:r>
              <a:rPr lang="en-US" err="1"/>
              <a:t>ReCall</a:t>
            </a:r>
            <a:r>
              <a:rPr lang="en-US"/>
              <a:t> 2 | Agenda Quarterly Planning</a:t>
            </a:r>
          </a:p>
        </p:txBody>
      </p:sp>
      <p:sp>
        <p:nvSpPr>
          <p:cNvPr id="102" name="D0Hdr">
            <a:extLst>
              <a:ext uri="{FF2B5EF4-FFF2-40B4-BE49-F238E27FC236}">
                <a16:creationId xmlns:a16="http://schemas.microsoft.com/office/drawing/2014/main" id="{04D987BA-BF3B-2B59-7573-A4EF19ACF575}"/>
              </a:ext>
            </a:extLst>
          </p:cNvPr>
          <p:cNvSpPr/>
          <p:nvPr/>
        </p:nvSpPr>
        <p:spPr>
          <a:xfrm>
            <a:off x="685800" y="1520000"/>
            <a:ext cx="5060000" cy="700000"/>
          </a:xfrm>
          <a:prstGeom prst="roundRect">
            <a:avLst>
              <a:gd name="adj" fmla="val 6000"/>
            </a:avLst>
          </a:prstGeom>
          <a:solidFill>
            <a:srgbClr val="008C8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D0HdrTxt">
            <a:extLst>
              <a:ext uri="{FF2B5EF4-FFF2-40B4-BE49-F238E27FC236}">
                <a16:creationId xmlns:a16="http://schemas.microsoft.com/office/drawing/2014/main" id="{16F142FD-AFB5-EEC4-1203-8F044551CE0F}"/>
              </a:ext>
            </a:extLst>
          </p:cNvPr>
          <p:cNvSpPr txBox="1"/>
          <p:nvPr/>
        </p:nvSpPr>
        <p:spPr>
          <a:xfrm>
            <a:off x="945800" y="1650000"/>
            <a:ext cx="4540000" cy="4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1" spc="300">
                <a:solidFill>
                  <a:srgbClr val="99D1CD"/>
                </a:solidFill>
                <a:latin typeface="The Group HEAD Light"/>
              </a:rPr>
              <a:t>DAY 1   </a:t>
            </a:r>
            <a:r>
              <a:rPr lang="en-US" sz="1600" b="1">
                <a:solidFill>
                  <a:srgbClr val="FFFFFF"/>
                </a:solidFill>
                <a:latin typeface="The Group HEAD Light"/>
              </a:rPr>
              <a:t>Tuesday 15.09.2026</a:t>
            </a:r>
          </a:p>
          <a:p>
            <a:pPr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000" b="0">
                <a:solidFill>
                  <a:srgbClr val="99D1CD"/>
                </a:solidFill>
                <a:latin typeface="The Group TEXT"/>
              </a:rPr>
              <a:t>09:00 – </a:t>
            </a:r>
            <a:r>
              <a:rPr lang="en-US" sz="1000">
                <a:solidFill>
                  <a:srgbClr val="99D1CD"/>
                </a:solidFill>
                <a:latin typeface="The Group TEXT"/>
              </a:rPr>
              <a:t>18:</a:t>
            </a:r>
            <a:r>
              <a:rPr lang="en-US" sz="1000" b="0">
                <a:solidFill>
                  <a:srgbClr val="99D1CD"/>
                </a:solidFill>
                <a:latin typeface="The Group TEXT"/>
              </a:rPr>
              <a:t>00</a:t>
            </a:r>
          </a:p>
        </p:txBody>
      </p:sp>
      <p:sp>
        <p:nvSpPr>
          <p:cNvPr id="104" name="D0B0Card">
            <a:extLst>
              <a:ext uri="{FF2B5EF4-FFF2-40B4-BE49-F238E27FC236}">
                <a16:creationId xmlns:a16="http://schemas.microsoft.com/office/drawing/2014/main" id="{8AF631EE-122E-CBC1-66C9-86E6EB9BD963}"/>
              </a:ext>
            </a:extLst>
          </p:cNvPr>
          <p:cNvSpPr/>
          <p:nvPr/>
        </p:nvSpPr>
        <p:spPr>
          <a:xfrm>
            <a:off x="685800" y="2303188"/>
            <a:ext cx="5060000" cy="2300000"/>
          </a:xfrm>
          <a:prstGeom prst="roundRect">
            <a:avLst>
              <a:gd name="adj" fmla="val 6000"/>
            </a:avLst>
          </a:prstGeom>
          <a:solidFill>
            <a:srgbClr val="0A3A4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5" name="D0B0Bar">
            <a:extLst>
              <a:ext uri="{FF2B5EF4-FFF2-40B4-BE49-F238E27FC236}">
                <a16:creationId xmlns:a16="http://schemas.microsoft.com/office/drawing/2014/main" id="{988E6B74-DF99-16EB-B8D2-69FFC3556676}"/>
              </a:ext>
            </a:extLst>
          </p:cNvPr>
          <p:cNvSpPr/>
          <p:nvPr/>
        </p:nvSpPr>
        <p:spPr>
          <a:xfrm>
            <a:off x="685800" y="2393188"/>
            <a:ext cx="55000" cy="2120000"/>
          </a:xfrm>
          <a:prstGeom prst="rect">
            <a:avLst/>
          </a:prstGeom>
          <a:solidFill>
            <a:srgbClr val="008C8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6" name="D0B0Txt">
            <a:extLst>
              <a:ext uri="{FF2B5EF4-FFF2-40B4-BE49-F238E27FC236}">
                <a16:creationId xmlns:a16="http://schemas.microsoft.com/office/drawing/2014/main" id="{E2E38A3F-5ABE-5B9D-B073-53A03D03D900}"/>
              </a:ext>
            </a:extLst>
          </p:cNvPr>
          <p:cNvSpPr txBox="1"/>
          <p:nvPr/>
        </p:nvSpPr>
        <p:spPr>
          <a:xfrm>
            <a:off x="985800" y="2493188"/>
            <a:ext cx="4500000" cy="19200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1" spc="250">
                <a:solidFill>
                  <a:srgbClr val="99D1CD"/>
                </a:solidFill>
                <a:latin typeface="The Group HEAD Light"/>
              </a:rPr>
              <a:t>MORNING</a:t>
            </a:r>
          </a:p>
          <a:p>
            <a:pPr>
              <a:lnSpc>
                <a:spcPct val="100000"/>
              </a:lnSpc>
              <a:spcBef>
                <a:spcPts val="650"/>
              </a:spcBef>
              <a:buNone/>
            </a:pPr>
            <a:r>
              <a:rPr lang="en-US" sz="1250" b="1">
                <a:solidFill>
                  <a:srgbClr val="FFFFFF"/>
                </a:solidFill>
                <a:latin typeface="The Group TEXT"/>
              </a:rPr>
              <a:t>Welcome</a:t>
            </a:r>
          </a:p>
          <a:p>
            <a:pPr>
              <a:lnSpc>
                <a:spcPct val="100000"/>
              </a:lnSpc>
              <a:spcBef>
                <a:spcPts val="650"/>
              </a:spcBef>
              <a:buNone/>
            </a:pPr>
            <a:r>
              <a:rPr lang="en-US" sz="1250" b="1">
                <a:solidFill>
                  <a:srgbClr val="FFFFFF"/>
                </a:solidFill>
                <a:latin typeface="The Group TEXT"/>
              </a:rPr>
              <a:t>Get to know &amp; Ice Breakers</a:t>
            </a:r>
          </a:p>
          <a:p>
            <a:pPr>
              <a:lnSpc>
                <a:spcPct val="100000"/>
              </a:lnSpc>
              <a:spcBef>
                <a:spcPts val="650"/>
              </a:spcBef>
              <a:buNone/>
            </a:pPr>
            <a:r>
              <a:rPr lang="en-US" sz="1250" b="1">
                <a:solidFill>
                  <a:srgbClr val="FFFFFF"/>
                </a:solidFill>
                <a:latin typeface="The Group TEXT"/>
              </a:rPr>
              <a:t>Vision 2027 Update</a:t>
            </a:r>
          </a:p>
          <a:p>
            <a:pPr marL="200000" indent="-200000">
              <a:lnSpc>
                <a:spcPct val="100000"/>
              </a:lnSpc>
              <a:spcBef>
                <a:spcPts val="380"/>
              </a:spcBef>
              <a:buFont typeface="Arial"/>
              <a:buChar char="•"/>
            </a:pPr>
            <a:r>
              <a:rPr lang="en-US" sz="1150" b="0">
                <a:solidFill>
                  <a:srgbClr val="DFE7E9"/>
                </a:solidFill>
                <a:latin typeface="The Group TEXT"/>
              </a:rPr>
              <a:t>Product vision · Architectural vision</a:t>
            </a:r>
          </a:p>
          <a:p>
            <a:pPr marL="200000" indent="-200000">
              <a:lnSpc>
                <a:spcPct val="100000"/>
              </a:lnSpc>
              <a:spcBef>
                <a:spcPts val="380"/>
              </a:spcBef>
              <a:buFont typeface="Arial"/>
              <a:buChar char="•"/>
            </a:pPr>
            <a:r>
              <a:rPr lang="en-US" sz="1150" b="0">
                <a:solidFill>
                  <a:srgbClr val="DFE7E9"/>
                </a:solidFill>
                <a:latin typeface="The Group TEXT"/>
              </a:rPr>
              <a:t>External milestones · Focus topics</a:t>
            </a:r>
          </a:p>
          <a:p>
            <a:pPr marL="200000" indent="-200000">
              <a:lnSpc>
                <a:spcPct val="100000"/>
              </a:lnSpc>
              <a:spcBef>
                <a:spcPts val="380"/>
              </a:spcBef>
              <a:buFont typeface="Arial"/>
              <a:buChar char="•"/>
            </a:pPr>
            <a:r>
              <a:rPr lang="en-US" sz="1150" b="0">
                <a:solidFill>
                  <a:srgbClr val="DFE7E9"/>
                </a:solidFill>
                <a:latin typeface="The Group TEXT"/>
              </a:rPr>
              <a:t>Architecture: GVF · Cognos · ORU/RVT</a:t>
            </a:r>
          </a:p>
          <a:p>
            <a:pPr marL="200000" indent="-200000">
              <a:lnSpc>
                <a:spcPct val="100000"/>
              </a:lnSpc>
              <a:spcBef>
                <a:spcPts val="380"/>
              </a:spcBef>
              <a:buFont typeface="Arial"/>
              <a:buChar char="•"/>
            </a:pPr>
            <a:r>
              <a:rPr lang="en-US" sz="1150" b="0">
                <a:solidFill>
                  <a:srgbClr val="DFE7E9"/>
                </a:solidFill>
                <a:latin typeface="The Group TEXT"/>
              </a:rPr>
              <a:t>SDV Background</a:t>
            </a:r>
          </a:p>
          <a:p>
            <a:pPr>
              <a:lnSpc>
                <a:spcPct val="100000"/>
              </a:lnSpc>
              <a:spcBef>
                <a:spcPts val="650"/>
              </a:spcBef>
              <a:buNone/>
            </a:pPr>
            <a:r>
              <a:rPr lang="en-US" sz="1250" b="1">
                <a:solidFill>
                  <a:srgbClr val="FFFFFF"/>
                </a:solidFill>
                <a:latin typeface="The Group TEXT"/>
              </a:rPr>
              <a:t>Review &amp; Live Demo Q3</a:t>
            </a:r>
          </a:p>
        </p:txBody>
      </p:sp>
      <p:sp>
        <p:nvSpPr>
          <p:cNvPr id="107" name="D0B1Card">
            <a:extLst>
              <a:ext uri="{FF2B5EF4-FFF2-40B4-BE49-F238E27FC236}">
                <a16:creationId xmlns:a16="http://schemas.microsoft.com/office/drawing/2014/main" id="{D5972BAC-12A6-99F3-222B-FFEC2715A098}"/>
              </a:ext>
            </a:extLst>
          </p:cNvPr>
          <p:cNvSpPr/>
          <p:nvPr/>
        </p:nvSpPr>
        <p:spPr>
          <a:xfrm>
            <a:off x="685800" y="5023188"/>
            <a:ext cx="5060000" cy="1000000"/>
          </a:xfrm>
          <a:prstGeom prst="roundRect">
            <a:avLst>
              <a:gd name="adj" fmla="val 6000"/>
            </a:avLst>
          </a:prstGeom>
          <a:solidFill>
            <a:srgbClr val="0A3A4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8" name="D0B1Bar">
            <a:extLst>
              <a:ext uri="{FF2B5EF4-FFF2-40B4-BE49-F238E27FC236}">
                <a16:creationId xmlns:a16="http://schemas.microsoft.com/office/drawing/2014/main" id="{0431C3D2-7946-6CA2-772A-B3B37F9DDDDA}"/>
              </a:ext>
            </a:extLst>
          </p:cNvPr>
          <p:cNvSpPr/>
          <p:nvPr/>
        </p:nvSpPr>
        <p:spPr>
          <a:xfrm>
            <a:off x="685800" y="5103188"/>
            <a:ext cx="55000" cy="840000"/>
          </a:xfrm>
          <a:prstGeom prst="rect">
            <a:avLst/>
          </a:prstGeom>
          <a:solidFill>
            <a:srgbClr val="008C8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D0B1Txt">
            <a:extLst>
              <a:ext uri="{FF2B5EF4-FFF2-40B4-BE49-F238E27FC236}">
                <a16:creationId xmlns:a16="http://schemas.microsoft.com/office/drawing/2014/main" id="{0251D1BD-FA9F-8CA2-DFBA-C25A56D77E9C}"/>
              </a:ext>
            </a:extLst>
          </p:cNvPr>
          <p:cNvSpPr txBox="1"/>
          <p:nvPr/>
        </p:nvSpPr>
        <p:spPr>
          <a:xfrm>
            <a:off x="985800" y="5053188"/>
            <a:ext cx="4500000" cy="8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1" spc="250">
                <a:solidFill>
                  <a:srgbClr val="99D1CD"/>
                </a:solidFill>
                <a:latin typeface="The Group HEAD Light"/>
              </a:rPr>
              <a:t>AFTERNOON</a:t>
            </a:r>
          </a:p>
          <a:p>
            <a:pPr>
              <a:lnSpc>
                <a:spcPct val="100000"/>
              </a:lnSpc>
              <a:spcBef>
                <a:spcPts val="650"/>
              </a:spcBef>
              <a:buNone/>
            </a:pPr>
            <a:r>
              <a:rPr lang="en-US" sz="1250" b="1">
                <a:solidFill>
                  <a:srgbClr val="FFFFFF"/>
                </a:solidFill>
                <a:latin typeface="The Group TEXT"/>
              </a:rPr>
              <a:t>Farewell Inma</a:t>
            </a:r>
          </a:p>
          <a:p>
            <a:pPr>
              <a:lnSpc>
                <a:spcPct val="100000"/>
              </a:lnSpc>
              <a:spcBef>
                <a:spcPts val="650"/>
              </a:spcBef>
              <a:buNone/>
            </a:pPr>
            <a:r>
              <a:rPr lang="en-US" sz="1250" b="1">
                <a:solidFill>
                  <a:srgbClr val="FFFFFF"/>
                </a:solidFill>
                <a:latin typeface="The Group TEXT"/>
              </a:rPr>
              <a:t>Intercultural Training</a:t>
            </a:r>
          </a:p>
        </p:txBody>
      </p:sp>
      <p:sp>
        <p:nvSpPr>
          <p:cNvPr id="110" name="D0Lunch">
            <a:extLst>
              <a:ext uri="{FF2B5EF4-FFF2-40B4-BE49-F238E27FC236}">
                <a16:creationId xmlns:a16="http://schemas.microsoft.com/office/drawing/2014/main" id="{95527870-8857-8460-C8A0-74C389A185CE}"/>
              </a:ext>
            </a:extLst>
          </p:cNvPr>
          <p:cNvSpPr/>
          <p:nvPr/>
        </p:nvSpPr>
        <p:spPr>
          <a:xfrm>
            <a:off x="685800" y="4628188"/>
            <a:ext cx="5060000" cy="260000"/>
          </a:xfrm>
          <a:prstGeom prst="roundRect">
            <a:avLst>
              <a:gd name="adj" fmla="val 6000"/>
            </a:avLst>
          </a:prstGeom>
          <a:solidFill>
            <a:srgbClr val="002733"/>
          </a:solidFill>
          <a:ln w="12700">
            <a:solidFill>
              <a:srgbClr val="008C8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1" name="D0LunchTxt">
            <a:extLst>
              <a:ext uri="{FF2B5EF4-FFF2-40B4-BE49-F238E27FC236}">
                <a16:creationId xmlns:a16="http://schemas.microsoft.com/office/drawing/2014/main" id="{48C609C8-7C40-F0D1-453A-AD20FFD82464}"/>
              </a:ext>
            </a:extLst>
          </p:cNvPr>
          <p:cNvSpPr txBox="1"/>
          <p:nvPr/>
        </p:nvSpPr>
        <p:spPr>
          <a:xfrm>
            <a:off x="985800" y="4568188"/>
            <a:ext cx="4460000" cy="38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1" spc="250">
                <a:solidFill>
                  <a:srgbClr val="99D1CD"/>
                </a:solidFill>
                <a:latin typeface="The Group HEAD Light"/>
              </a:rPr>
              <a:t>LUNCH BREAK</a:t>
            </a:r>
          </a:p>
        </p:txBody>
      </p:sp>
      <p:sp>
        <p:nvSpPr>
          <p:cNvPr id="112" name="D1Hdr">
            <a:extLst>
              <a:ext uri="{FF2B5EF4-FFF2-40B4-BE49-F238E27FC236}">
                <a16:creationId xmlns:a16="http://schemas.microsoft.com/office/drawing/2014/main" id="{69BD6E28-23AA-5776-6AA2-7C7C531E817A}"/>
              </a:ext>
            </a:extLst>
          </p:cNvPr>
          <p:cNvSpPr/>
          <p:nvPr/>
        </p:nvSpPr>
        <p:spPr>
          <a:xfrm>
            <a:off x="6446200" y="1520000"/>
            <a:ext cx="5060000" cy="700000"/>
          </a:xfrm>
          <a:prstGeom prst="roundRect">
            <a:avLst>
              <a:gd name="adj" fmla="val 6000"/>
            </a:avLst>
          </a:prstGeom>
          <a:solidFill>
            <a:srgbClr val="008C8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D1HdrTxt">
            <a:extLst>
              <a:ext uri="{FF2B5EF4-FFF2-40B4-BE49-F238E27FC236}">
                <a16:creationId xmlns:a16="http://schemas.microsoft.com/office/drawing/2014/main" id="{7CF614BC-43C7-03B7-DDCA-2C2D6FE20ED9}"/>
              </a:ext>
            </a:extLst>
          </p:cNvPr>
          <p:cNvSpPr txBox="1"/>
          <p:nvPr/>
        </p:nvSpPr>
        <p:spPr>
          <a:xfrm>
            <a:off x="6706200" y="1650000"/>
            <a:ext cx="4540000" cy="4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100" b="1" spc="300">
                <a:solidFill>
                  <a:srgbClr val="99D1CD"/>
                </a:solidFill>
                <a:latin typeface="The Group HEAD Light"/>
              </a:rPr>
              <a:t>DAY 2   </a:t>
            </a:r>
            <a:r>
              <a:rPr lang="en-US" sz="1600" b="1">
                <a:solidFill>
                  <a:srgbClr val="FFFFFF"/>
                </a:solidFill>
                <a:latin typeface="The Group HEAD Light"/>
              </a:rPr>
              <a:t>Wednesday 16.09.2026</a:t>
            </a:r>
          </a:p>
          <a:p>
            <a:pPr>
              <a:lnSpc>
                <a:spcPct val="100000"/>
              </a:lnSpc>
              <a:spcBef>
                <a:spcPts val="200"/>
              </a:spcBef>
              <a:buNone/>
            </a:pPr>
            <a:r>
              <a:rPr lang="en-US" sz="1000" b="0">
                <a:solidFill>
                  <a:srgbClr val="99D1CD"/>
                </a:solidFill>
                <a:latin typeface="The Group TEXT"/>
              </a:rPr>
              <a:t>09:00 - 15:00</a:t>
            </a:r>
          </a:p>
        </p:txBody>
      </p:sp>
      <p:sp>
        <p:nvSpPr>
          <p:cNvPr id="114" name="D1B0Card">
            <a:extLst>
              <a:ext uri="{FF2B5EF4-FFF2-40B4-BE49-F238E27FC236}">
                <a16:creationId xmlns:a16="http://schemas.microsoft.com/office/drawing/2014/main" id="{1AFB71DA-5621-4C12-C5F9-E26C2CA4234D}"/>
              </a:ext>
            </a:extLst>
          </p:cNvPr>
          <p:cNvSpPr/>
          <p:nvPr/>
        </p:nvSpPr>
        <p:spPr>
          <a:xfrm>
            <a:off x="6446200" y="2303188"/>
            <a:ext cx="5060000" cy="2250000"/>
          </a:xfrm>
          <a:prstGeom prst="roundRect">
            <a:avLst>
              <a:gd name="adj" fmla="val 6000"/>
            </a:avLst>
          </a:prstGeom>
          <a:solidFill>
            <a:srgbClr val="0A3A4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5" name="D1B0Bar">
            <a:extLst>
              <a:ext uri="{FF2B5EF4-FFF2-40B4-BE49-F238E27FC236}">
                <a16:creationId xmlns:a16="http://schemas.microsoft.com/office/drawing/2014/main" id="{857EFC5C-6B43-EFCB-8185-26DA4DA6BA15}"/>
              </a:ext>
            </a:extLst>
          </p:cNvPr>
          <p:cNvSpPr/>
          <p:nvPr/>
        </p:nvSpPr>
        <p:spPr>
          <a:xfrm>
            <a:off x="6446200" y="2393188"/>
            <a:ext cx="55000" cy="2120000"/>
          </a:xfrm>
          <a:prstGeom prst="rect">
            <a:avLst/>
          </a:prstGeom>
          <a:solidFill>
            <a:srgbClr val="008C8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6" name="D1B0Txt">
            <a:extLst>
              <a:ext uri="{FF2B5EF4-FFF2-40B4-BE49-F238E27FC236}">
                <a16:creationId xmlns:a16="http://schemas.microsoft.com/office/drawing/2014/main" id="{6632B6AA-13CD-BD78-1F5A-724924B5F8B7}"/>
              </a:ext>
            </a:extLst>
          </p:cNvPr>
          <p:cNvSpPr txBox="1"/>
          <p:nvPr/>
        </p:nvSpPr>
        <p:spPr>
          <a:xfrm>
            <a:off x="6746200" y="2493188"/>
            <a:ext cx="4500000" cy="19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1" spc="250">
                <a:solidFill>
                  <a:srgbClr val="99D1CD"/>
                </a:solidFill>
                <a:latin typeface="The Group HEAD Light"/>
              </a:rPr>
              <a:t>MORNING</a:t>
            </a:r>
          </a:p>
          <a:p>
            <a:pPr>
              <a:lnSpc>
                <a:spcPct val="100000"/>
              </a:lnSpc>
              <a:spcBef>
                <a:spcPts val="650"/>
              </a:spcBef>
              <a:buNone/>
            </a:pPr>
            <a:r>
              <a:rPr lang="en-US" sz="1250" b="1">
                <a:solidFill>
                  <a:srgbClr val="FFFFFF"/>
                </a:solidFill>
                <a:latin typeface="The Group TEXT"/>
              </a:rPr>
              <a:t>Roadmap Q4</a:t>
            </a:r>
          </a:p>
          <a:p>
            <a:pPr marL="200000" indent="-200000">
              <a:lnSpc>
                <a:spcPct val="100000"/>
              </a:lnSpc>
              <a:spcBef>
                <a:spcPts val="380"/>
              </a:spcBef>
              <a:buFont typeface="Arial"/>
              <a:buChar char="•"/>
            </a:pPr>
            <a:r>
              <a:rPr lang="en-US" sz="1150" b="0">
                <a:solidFill>
                  <a:srgbClr val="DFE7E9"/>
                </a:solidFill>
                <a:latin typeface="The Group TEXT"/>
              </a:rPr>
              <a:t>Prioritization &amp; team division</a:t>
            </a:r>
          </a:p>
          <a:p>
            <a:pPr marL="657200" lvl="1" indent="-200000">
              <a:spcBef>
                <a:spcPts val="380"/>
              </a:spcBef>
              <a:buFont typeface="Arial"/>
              <a:buChar char="•"/>
            </a:pPr>
            <a:r>
              <a:rPr lang="en-US" sz="1150" b="0">
                <a:solidFill>
                  <a:srgbClr val="DFE7E9"/>
                </a:solidFill>
                <a:latin typeface="The Group TEXT"/>
              </a:rPr>
              <a:t>Features: (</a:t>
            </a:r>
            <a:r>
              <a:rPr lang="en-US" sz="1150" b="0" err="1">
                <a:solidFill>
                  <a:srgbClr val="DFE7E9"/>
                </a:solidFill>
                <a:latin typeface="The Group TEXT"/>
              </a:rPr>
              <a:t>Bandicode</a:t>
            </a:r>
            <a:r>
              <a:rPr lang="en-US" sz="1150" b="0">
                <a:solidFill>
                  <a:srgbClr val="DFE7E9"/>
                </a:solidFill>
                <a:latin typeface="The Group TEXT"/>
              </a:rPr>
              <a:t> · </a:t>
            </a:r>
            <a:r>
              <a:rPr lang="en-US" sz="1150" b="0" err="1">
                <a:solidFill>
                  <a:srgbClr val="DFE7E9"/>
                </a:solidFill>
                <a:latin typeface="The Group TEXT"/>
              </a:rPr>
              <a:t>Bugbusters</a:t>
            </a:r>
            <a:r>
              <a:rPr lang="en-US" sz="1150" b="0">
                <a:solidFill>
                  <a:srgbClr val="DFE7E9"/>
                </a:solidFill>
                <a:latin typeface="The Group TEXT"/>
              </a:rPr>
              <a:t>)</a:t>
            </a:r>
          </a:p>
          <a:p>
            <a:pPr marL="657200" lvl="1" indent="-200000">
              <a:spcBef>
                <a:spcPts val="380"/>
              </a:spcBef>
              <a:buFont typeface="Arial"/>
              <a:buChar char="•"/>
            </a:pPr>
            <a:r>
              <a:rPr lang="en-US" sz="1150" b="0">
                <a:solidFill>
                  <a:srgbClr val="DFE7E9"/>
                </a:solidFill>
                <a:latin typeface="The Group TEXT"/>
              </a:rPr>
              <a:t>Architecture</a:t>
            </a:r>
          </a:p>
          <a:p>
            <a:pPr marL="200000" indent="-200000">
              <a:lnSpc>
                <a:spcPct val="100000"/>
              </a:lnSpc>
              <a:spcBef>
                <a:spcPts val="380"/>
              </a:spcBef>
              <a:buFont typeface="Arial"/>
              <a:buChar char="•"/>
            </a:pPr>
            <a:r>
              <a:rPr lang="en-US" sz="1150" b="0">
                <a:solidFill>
                  <a:srgbClr val="DFE7E9"/>
                </a:solidFill>
                <a:latin typeface="The Group TEXT"/>
              </a:rPr>
              <a:t>Feature refinement → breakout sessions</a:t>
            </a:r>
          </a:p>
          <a:p>
            <a:pPr marL="200000" indent="-200000">
              <a:lnSpc>
                <a:spcPct val="100000"/>
              </a:lnSpc>
              <a:spcBef>
                <a:spcPts val="380"/>
              </a:spcBef>
              <a:buFont typeface="Arial"/>
              <a:buChar char="•"/>
            </a:pPr>
            <a:r>
              <a:rPr lang="en-US" sz="1150" b="0">
                <a:solidFill>
                  <a:srgbClr val="DFE7E9"/>
                </a:solidFill>
                <a:latin typeface="The Group TEXT"/>
              </a:rPr>
              <a:t>Planned objectives for next 3 months</a:t>
            </a:r>
          </a:p>
        </p:txBody>
      </p:sp>
      <p:sp>
        <p:nvSpPr>
          <p:cNvPr id="120" name="D1Lunch">
            <a:extLst>
              <a:ext uri="{FF2B5EF4-FFF2-40B4-BE49-F238E27FC236}">
                <a16:creationId xmlns:a16="http://schemas.microsoft.com/office/drawing/2014/main" id="{DEA0010E-CC11-1EB3-FF17-DE9B9C8423D0}"/>
              </a:ext>
            </a:extLst>
          </p:cNvPr>
          <p:cNvSpPr/>
          <p:nvPr/>
        </p:nvSpPr>
        <p:spPr>
          <a:xfrm>
            <a:off x="6446200" y="4628188"/>
            <a:ext cx="5060000" cy="260000"/>
          </a:xfrm>
          <a:prstGeom prst="roundRect">
            <a:avLst>
              <a:gd name="adj" fmla="val 6000"/>
            </a:avLst>
          </a:prstGeom>
          <a:solidFill>
            <a:srgbClr val="002733"/>
          </a:solidFill>
          <a:ln w="12700">
            <a:solidFill>
              <a:srgbClr val="008C8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1" name="D1LunchTxt">
            <a:extLst>
              <a:ext uri="{FF2B5EF4-FFF2-40B4-BE49-F238E27FC236}">
                <a16:creationId xmlns:a16="http://schemas.microsoft.com/office/drawing/2014/main" id="{05EA3498-9E2F-B07C-F51C-364E356A3283}"/>
              </a:ext>
            </a:extLst>
          </p:cNvPr>
          <p:cNvSpPr txBox="1"/>
          <p:nvPr/>
        </p:nvSpPr>
        <p:spPr>
          <a:xfrm>
            <a:off x="6746200" y="4568188"/>
            <a:ext cx="4460000" cy="38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1" spc="250">
                <a:solidFill>
                  <a:srgbClr val="99D1CD"/>
                </a:solidFill>
                <a:latin typeface="The Group HEAD Light"/>
              </a:rPr>
              <a:t>LUNCH BREAK</a:t>
            </a:r>
          </a:p>
        </p:txBody>
      </p:sp>
      <p:sp>
        <p:nvSpPr>
          <p:cNvPr id="130" name="D0Evening">
            <a:extLst>
              <a:ext uri="{FF2B5EF4-FFF2-40B4-BE49-F238E27FC236}">
                <a16:creationId xmlns:a16="http://schemas.microsoft.com/office/drawing/2014/main" id="{694E5C75-13AB-AC18-6C7B-F47567D2C275}"/>
              </a:ext>
            </a:extLst>
          </p:cNvPr>
          <p:cNvSpPr/>
          <p:nvPr/>
        </p:nvSpPr>
        <p:spPr>
          <a:xfrm>
            <a:off x="685800" y="6073188"/>
            <a:ext cx="5060000" cy="380000"/>
          </a:xfrm>
          <a:prstGeom prst="roundRect">
            <a:avLst>
              <a:gd name="adj" fmla="val 6000"/>
            </a:avLst>
          </a:prstGeom>
          <a:solidFill>
            <a:srgbClr val="002733"/>
          </a:solidFill>
          <a:ln w="12700">
            <a:solidFill>
              <a:srgbClr val="008C8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1" name="D0EveningTxt">
            <a:extLst>
              <a:ext uri="{FF2B5EF4-FFF2-40B4-BE49-F238E27FC236}">
                <a16:creationId xmlns:a16="http://schemas.microsoft.com/office/drawing/2014/main" id="{D9912456-39B2-E68C-EB66-18AF69102EAD}"/>
              </a:ext>
            </a:extLst>
          </p:cNvPr>
          <p:cNvSpPr txBox="1"/>
          <p:nvPr/>
        </p:nvSpPr>
        <p:spPr>
          <a:xfrm>
            <a:off x="985800" y="6073188"/>
            <a:ext cx="4460000" cy="38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900" b="1" spc="250">
                <a:solidFill>
                  <a:srgbClr val="99D1CD"/>
                </a:solidFill>
                <a:latin typeface="The Group HEAD Light"/>
              </a:rPr>
              <a:t>EVENING  · Seat Code Terrace</a:t>
            </a:r>
          </a:p>
        </p:txBody>
      </p:sp>
      <p:sp>
        <p:nvSpPr>
          <p:cNvPr id="6" name="D0B1Card">
            <a:extLst>
              <a:ext uri="{FF2B5EF4-FFF2-40B4-BE49-F238E27FC236}">
                <a16:creationId xmlns:a16="http://schemas.microsoft.com/office/drawing/2014/main" id="{B7787312-7400-45AA-61B3-502228BF39C8}"/>
              </a:ext>
            </a:extLst>
          </p:cNvPr>
          <p:cNvSpPr/>
          <p:nvPr/>
        </p:nvSpPr>
        <p:spPr>
          <a:xfrm>
            <a:off x="6446200" y="5023188"/>
            <a:ext cx="5060000" cy="1000000"/>
          </a:xfrm>
          <a:prstGeom prst="roundRect">
            <a:avLst>
              <a:gd name="adj" fmla="val 6000"/>
            </a:avLst>
          </a:prstGeom>
          <a:solidFill>
            <a:srgbClr val="0A3A4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D0B1Bar">
            <a:extLst>
              <a:ext uri="{FF2B5EF4-FFF2-40B4-BE49-F238E27FC236}">
                <a16:creationId xmlns:a16="http://schemas.microsoft.com/office/drawing/2014/main" id="{9D77BF4B-FEB5-E52F-EA75-FEA0A17408DF}"/>
              </a:ext>
            </a:extLst>
          </p:cNvPr>
          <p:cNvSpPr/>
          <p:nvPr/>
        </p:nvSpPr>
        <p:spPr>
          <a:xfrm>
            <a:off x="6446200" y="5103188"/>
            <a:ext cx="55000" cy="840000"/>
          </a:xfrm>
          <a:prstGeom prst="rect">
            <a:avLst/>
          </a:prstGeom>
          <a:solidFill>
            <a:srgbClr val="008C8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D1B1Txt">
            <a:extLst>
              <a:ext uri="{FF2B5EF4-FFF2-40B4-BE49-F238E27FC236}">
                <a16:creationId xmlns:a16="http://schemas.microsoft.com/office/drawing/2014/main" id="{1845A391-5392-0DCC-217E-7DD9E71E27E8}"/>
              </a:ext>
            </a:extLst>
          </p:cNvPr>
          <p:cNvSpPr txBox="1"/>
          <p:nvPr/>
        </p:nvSpPr>
        <p:spPr>
          <a:xfrm>
            <a:off x="6746200" y="5083188"/>
            <a:ext cx="4500000" cy="8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00" b="1" spc="250">
                <a:solidFill>
                  <a:srgbClr val="99D1CD"/>
                </a:solidFill>
                <a:latin typeface="The Group HEAD Light"/>
              </a:rPr>
              <a:t>AFTERNOON</a:t>
            </a:r>
          </a:p>
          <a:p>
            <a:pPr>
              <a:lnSpc>
                <a:spcPct val="100000"/>
              </a:lnSpc>
              <a:spcBef>
                <a:spcPts val="650"/>
              </a:spcBef>
              <a:buNone/>
            </a:pPr>
            <a:r>
              <a:rPr lang="en-US" sz="1250" b="1">
                <a:solidFill>
                  <a:srgbClr val="FFFFFF"/>
                </a:solidFill>
                <a:latin typeface="The Group TEXT"/>
              </a:rPr>
              <a:t>Status Update Reboot Plan</a:t>
            </a:r>
          </a:p>
          <a:p>
            <a:pPr>
              <a:lnSpc>
                <a:spcPct val="100000"/>
              </a:lnSpc>
              <a:spcBef>
                <a:spcPts val="650"/>
              </a:spcBef>
              <a:buNone/>
            </a:pPr>
            <a:r>
              <a:rPr lang="en-US" sz="1250" b="1">
                <a:solidFill>
                  <a:srgbClr val="FFFFFF"/>
                </a:solidFill>
                <a:latin typeface="The Group TEXT"/>
              </a:rPr>
              <a:t>Retro (focus on AllHands)</a:t>
            </a:r>
          </a:p>
        </p:txBody>
      </p:sp>
      <p:pic>
        <p:nvPicPr>
          <p:cNvPr id="8" name="Pic">
            <a:extLst>
              <a:ext uri="{FF2B5EF4-FFF2-40B4-BE49-F238E27FC236}">
                <a16:creationId xmlns:a16="http://schemas.microsoft.com/office/drawing/2014/main" id="{98C441A7-A0F4-9A37-27E8-8E99BE479897}"/>
              </a:ext>
            </a:extLst>
          </p:cNvPr>
          <p:cNvPicPr>
            <a:picLocks/>
          </p:cNvPicPr>
          <p:nvPr>
            <p:custDataLst>
              <p:tags r:id="rId2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  <a:ext uri="{6F801314-5768-4EAC-8CED-0F2297F94238}"/>
            </a:extLst>
          </a:blip>
          <a:stretch>
            <a:fillRect/>
          </a:stretch>
        </p:blipFill>
        <p:spPr bwMode="auto">
          <a:xfrm>
            <a:off x="5248275" y="2089150"/>
            <a:ext cx="625475" cy="625475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9" name="Pic">
            <a:extLst>
              <a:ext uri="{FF2B5EF4-FFF2-40B4-BE49-F238E27FC236}">
                <a16:creationId xmlns:a16="http://schemas.microsoft.com/office/drawing/2014/main" id="{EC7E86BF-E1E7-6E86-B280-64EC1AA522FB}"/>
              </a:ext>
            </a:extLst>
          </p:cNvPr>
          <p:cNvPicPr>
            <a:picLocks/>
          </p:cNvPicPr>
          <p:nvPr>
            <p:custDataLst>
              <p:tags r:id="rId3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  <a:ext uri="{6F801314-5768-4EAC-8CED-0F2297F94238}"/>
            </a:extLst>
          </a:blip>
          <a:stretch>
            <a:fillRect/>
          </a:stretch>
        </p:blipFill>
        <p:spPr bwMode="auto">
          <a:xfrm>
            <a:off x="5248275" y="5035550"/>
            <a:ext cx="625475" cy="625475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1" name="Pic">
            <a:extLst>
              <a:ext uri="{FF2B5EF4-FFF2-40B4-BE49-F238E27FC236}">
                <a16:creationId xmlns:a16="http://schemas.microsoft.com/office/drawing/2014/main" id="{6B2D2DC5-B6DC-C9C9-2153-D9622C3B9287}"/>
              </a:ext>
            </a:extLst>
          </p:cNvPr>
          <p:cNvPicPr>
            <a:picLocks/>
          </p:cNvPicPr>
          <p:nvPr>
            <p:custDataLst>
              <p:tags r:id="rId4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  <a:ext uri="{6F801314-5768-4EAC-8CED-0F2297F94238}"/>
            </a:extLst>
          </a:blip>
          <a:stretch>
            <a:fillRect/>
          </a:stretch>
        </p:blipFill>
        <p:spPr bwMode="auto">
          <a:xfrm flipH="1">
            <a:off x="10875963" y="2379663"/>
            <a:ext cx="558800" cy="558800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898526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7BF44-5051-E22C-89B1-64376FA4B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ECA04799-7EB7-AA92-240E-DE6723DB2AEB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966509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95" imgH="396" progId="TCLayout.ActiveDocument.1">
                  <p:embed/>
                </p:oleObj>
              </mc:Choice>
              <mc:Fallback>
                <p:oleObj name="think-cell Slide" r:id="rId6" imgW="395" imgH="39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CA04799-7EB7-AA92-240E-DE6723DB2A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A148D3D5-1996-BD44-D59E-C154A18E6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>
            <a:spAutoFit/>
          </a:bodyPr>
          <a:lstStyle/>
          <a:p>
            <a:r>
              <a:rPr lang="en-US"/>
              <a:t>Roadmap Q4</a:t>
            </a:r>
          </a:p>
        </p:txBody>
      </p:sp>
      <p:sp>
        <p:nvSpPr>
          <p:cNvPr id="102" name="D0Hdr">
            <a:extLst>
              <a:ext uri="{FF2B5EF4-FFF2-40B4-BE49-F238E27FC236}">
                <a16:creationId xmlns:a16="http://schemas.microsoft.com/office/drawing/2014/main" id="{761A5F14-EDA5-4A66-7236-B8B455F16C3B}"/>
              </a:ext>
            </a:extLst>
          </p:cNvPr>
          <p:cNvSpPr/>
          <p:nvPr/>
        </p:nvSpPr>
        <p:spPr>
          <a:xfrm>
            <a:off x="685800" y="1520000"/>
            <a:ext cx="5060000" cy="700000"/>
          </a:xfrm>
          <a:prstGeom prst="roundRect">
            <a:avLst>
              <a:gd name="adj" fmla="val 6000"/>
            </a:avLst>
          </a:prstGeom>
          <a:solidFill>
            <a:srgbClr val="008C8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D0HdrTxt">
            <a:extLst>
              <a:ext uri="{FF2B5EF4-FFF2-40B4-BE49-F238E27FC236}">
                <a16:creationId xmlns:a16="http://schemas.microsoft.com/office/drawing/2014/main" id="{0D058513-99F5-924D-28A5-E0C6D593A70A}"/>
              </a:ext>
            </a:extLst>
          </p:cNvPr>
          <p:cNvSpPr txBox="1"/>
          <p:nvPr/>
        </p:nvSpPr>
        <p:spPr>
          <a:xfrm>
            <a:off x="2188735" y="1724951"/>
            <a:ext cx="1716853" cy="35880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-US" sz="1600" b="1">
                <a:solidFill>
                  <a:srgbClr val="FFFFFF"/>
                </a:solidFill>
                <a:latin typeface="The Group HEAD Light"/>
              </a:rPr>
              <a:t>Previous work</a:t>
            </a:r>
            <a:endParaRPr lang="en-US" sz="1000" b="0">
              <a:solidFill>
                <a:srgbClr val="99D1CD"/>
              </a:solidFill>
              <a:latin typeface="The Group TEXT"/>
            </a:endParaRPr>
          </a:p>
        </p:txBody>
      </p:sp>
      <p:sp>
        <p:nvSpPr>
          <p:cNvPr id="104" name="D0B0Card">
            <a:extLst>
              <a:ext uri="{FF2B5EF4-FFF2-40B4-BE49-F238E27FC236}">
                <a16:creationId xmlns:a16="http://schemas.microsoft.com/office/drawing/2014/main" id="{B264AC9C-978B-5B15-0666-92D401BC98BA}"/>
              </a:ext>
            </a:extLst>
          </p:cNvPr>
          <p:cNvSpPr/>
          <p:nvPr/>
        </p:nvSpPr>
        <p:spPr>
          <a:xfrm>
            <a:off x="685800" y="2380000"/>
            <a:ext cx="5060000" cy="2300000"/>
          </a:xfrm>
          <a:prstGeom prst="roundRect">
            <a:avLst>
              <a:gd name="adj" fmla="val 6000"/>
            </a:avLst>
          </a:prstGeom>
          <a:solidFill>
            <a:srgbClr val="0A3A4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5" name="D0B0Bar">
            <a:extLst>
              <a:ext uri="{FF2B5EF4-FFF2-40B4-BE49-F238E27FC236}">
                <a16:creationId xmlns:a16="http://schemas.microsoft.com/office/drawing/2014/main" id="{B717FAA9-D500-C16C-796E-80A9F01D3453}"/>
              </a:ext>
            </a:extLst>
          </p:cNvPr>
          <p:cNvSpPr/>
          <p:nvPr/>
        </p:nvSpPr>
        <p:spPr>
          <a:xfrm>
            <a:off x="685800" y="2470000"/>
            <a:ext cx="55000" cy="2120000"/>
          </a:xfrm>
          <a:prstGeom prst="rect">
            <a:avLst/>
          </a:prstGeom>
          <a:solidFill>
            <a:srgbClr val="008C8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6" name="D0B0Txt">
            <a:extLst>
              <a:ext uri="{FF2B5EF4-FFF2-40B4-BE49-F238E27FC236}">
                <a16:creationId xmlns:a16="http://schemas.microsoft.com/office/drawing/2014/main" id="{247501BD-A32E-70F5-428A-FF31CEF965E8}"/>
              </a:ext>
            </a:extLst>
          </p:cNvPr>
          <p:cNvSpPr txBox="1"/>
          <p:nvPr/>
        </p:nvSpPr>
        <p:spPr>
          <a:xfrm>
            <a:off x="985800" y="2630960"/>
            <a:ext cx="4571120" cy="194032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>
              <a:spcBef>
                <a:spcPts val="0"/>
              </a:spcBef>
            </a:pPr>
            <a:r>
              <a:rPr lang="en-US" sz="1000" b="1" spc="250">
                <a:solidFill>
                  <a:srgbClr val="99D1CD"/>
                </a:solidFill>
                <a:latin typeface="The Group HEAD Light"/>
              </a:rPr>
              <a:t>SCOPE AND HIGH-LEVEL REFINEMENT</a:t>
            </a:r>
            <a:endParaRPr lang="en-US" sz="1000"/>
          </a:p>
          <a:p>
            <a:pPr>
              <a:spcBef>
                <a:spcPts val="650"/>
              </a:spcBef>
            </a:pPr>
            <a:r>
              <a:rPr lang="en-US" sz="1250" b="1">
                <a:latin typeface="The Group TEXT"/>
              </a:rPr>
              <a:t>Business Priorities for Q4 </a:t>
            </a:r>
            <a:endParaRPr lang="en-US" sz="1250"/>
          </a:p>
          <a:p>
            <a:pPr marL="171450" indent="-171450">
              <a:spcBef>
                <a:spcPts val="650"/>
              </a:spcBef>
              <a:buFont typeface="Arial"/>
              <a:buChar char="•"/>
            </a:pPr>
            <a:r>
              <a:rPr lang="en-US" sz="1150">
                <a:latin typeface="The Group TEXT"/>
              </a:rPr>
              <a:t>Vision and Objectives definition</a:t>
            </a:r>
            <a:endParaRPr lang="en-US" sz="1150"/>
          </a:p>
          <a:p>
            <a:pPr marL="171450" indent="-171450">
              <a:spcBef>
                <a:spcPts val="650"/>
              </a:spcBef>
              <a:buFont typeface="Arial"/>
              <a:buChar char="•"/>
            </a:pPr>
            <a:r>
              <a:rPr lang="en-US" sz="1150">
                <a:latin typeface="The Group TEXT"/>
              </a:rPr>
              <a:t>Breakdown:</a:t>
            </a:r>
            <a:endParaRPr lang="en-US" sz="1150"/>
          </a:p>
          <a:p>
            <a:pPr marL="742950" lvl="1" indent="-285750">
              <a:spcBef>
                <a:spcPts val="650"/>
              </a:spcBef>
              <a:buFont typeface="Arial"/>
              <a:buChar char="•"/>
            </a:pPr>
            <a:r>
              <a:rPr lang="en-US" sz="1150">
                <a:latin typeface="The Group TEXT"/>
              </a:rPr>
              <a:t>Initiatives </a:t>
            </a:r>
            <a:endParaRPr lang="en-US" sz="1150"/>
          </a:p>
          <a:p>
            <a:pPr marL="1200150" lvl="2" indent="-285750">
              <a:spcBef>
                <a:spcPts val="650"/>
              </a:spcBef>
              <a:buFont typeface="Wingdings"/>
              <a:buChar char="§"/>
            </a:pPr>
            <a:r>
              <a:rPr lang="en-US" sz="1150">
                <a:latin typeface="The Group TEXT"/>
              </a:rPr>
              <a:t>Epics</a:t>
            </a:r>
            <a:endParaRPr lang="en-US" sz="1150"/>
          </a:p>
          <a:p>
            <a:pPr marL="171450" indent="-171450">
              <a:spcBef>
                <a:spcPts val="380"/>
              </a:spcBef>
              <a:buFont typeface="Arial"/>
              <a:buChar char="•"/>
            </a:pPr>
            <a:r>
              <a:rPr lang="en-US" sz="1150">
                <a:latin typeface="The Group TEXT"/>
              </a:rPr>
              <a:t>Prioritization of epics with </a:t>
            </a:r>
            <a:r>
              <a:rPr lang="en-US" sz="1150" err="1">
                <a:latin typeface="The Group TEXT"/>
              </a:rPr>
              <a:t>MoSCoW</a:t>
            </a:r>
            <a:r>
              <a:rPr lang="en-US" sz="1150">
                <a:latin typeface="The Group TEXT"/>
              </a:rPr>
              <a:t> (Must-Should-Could-Won't)</a:t>
            </a:r>
          </a:p>
          <a:p>
            <a:pPr marL="171450" indent="-171450">
              <a:spcBef>
                <a:spcPts val="380"/>
              </a:spcBef>
              <a:buFont typeface="Arial"/>
              <a:buChar char="•"/>
            </a:pPr>
            <a:r>
              <a:rPr lang="en-US" sz="1150">
                <a:latin typeface="The Group TEXT"/>
              </a:rPr>
              <a:t>High-level dependencies and enablers identification</a:t>
            </a:r>
          </a:p>
          <a:p>
            <a:pPr marL="171450" indent="-171450">
              <a:spcBef>
                <a:spcPts val="380"/>
              </a:spcBef>
              <a:buFont typeface="Arial"/>
              <a:buChar char="•"/>
            </a:pPr>
            <a:r>
              <a:rPr lang="en-US" sz="1150">
                <a:latin typeface="The Group TEXT"/>
              </a:rPr>
              <a:t>Reorganization of the priorities</a:t>
            </a:r>
          </a:p>
        </p:txBody>
      </p:sp>
      <p:sp>
        <p:nvSpPr>
          <p:cNvPr id="110" name="D0Lunch">
            <a:extLst>
              <a:ext uri="{FF2B5EF4-FFF2-40B4-BE49-F238E27FC236}">
                <a16:creationId xmlns:a16="http://schemas.microsoft.com/office/drawing/2014/main" id="{5EFEBB59-4449-13EB-928F-BE9E1A483BF4}"/>
              </a:ext>
            </a:extLst>
          </p:cNvPr>
          <p:cNvSpPr/>
          <p:nvPr/>
        </p:nvSpPr>
        <p:spPr>
          <a:xfrm>
            <a:off x="706120" y="4800000"/>
            <a:ext cx="5039680" cy="1670320"/>
          </a:xfrm>
          <a:prstGeom prst="roundRect">
            <a:avLst>
              <a:gd name="adj" fmla="val 6000"/>
            </a:avLst>
          </a:prstGeom>
          <a:solidFill>
            <a:srgbClr val="002733"/>
          </a:solidFill>
          <a:ln w="12700">
            <a:solidFill>
              <a:srgbClr val="008C8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2" name="D1Hdr">
            <a:extLst>
              <a:ext uri="{FF2B5EF4-FFF2-40B4-BE49-F238E27FC236}">
                <a16:creationId xmlns:a16="http://schemas.microsoft.com/office/drawing/2014/main" id="{0FBB2D7E-6E1A-E4BB-90A2-52BB716F321F}"/>
              </a:ext>
            </a:extLst>
          </p:cNvPr>
          <p:cNvSpPr/>
          <p:nvPr/>
        </p:nvSpPr>
        <p:spPr>
          <a:xfrm>
            <a:off x="6446200" y="1520000"/>
            <a:ext cx="5060000" cy="700000"/>
          </a:xfrm>
          <a:prstGeom prst="roundRect">
            <a:avLst>
              <a:gd name="adj" fmla="val 6000"/>
            </a:avLst>
          </a:prstGeom>
          <a:solidFill>
            <a:srgbClr val="008C8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3" name="D1HdrTxt">
            <a:extLst>
              <a:ext uri="{FF2B5EF4-FFF2-40B4-BE49-F238E27FC236}">
                <a16:creationId xmlns:a16="http://schemas.microsoft.com/office/drawing/2014/main" id="{DE0BC4DC-12AE-3050-BBE9-F56A90455396}"/>
              </a:ext>
            </a:extLst>
          </p:cNvPr>
          <p:cNvSpPr txBox="1"/>
          <p:nvPr/>
        </p:nvSpPr>
        <p:spPr>
          <a:xfrm>
            <a:off x="8272035" y="1718703"/>
            <a:ext cx="1867580" cy="37565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spcBef>
                <a:spcPts val="0"/>
              </a:spcBef>
            </a:pPr>
            <a:r>
              <a:rPr lang="en-US" sz="1600" b="1">
                <a:latin typeface="The Group HEAD Light"/>
              </a:rPr>
              <a:t>Work to be done</a:t>
            </a:r>
          </a:p>
        </p:txBody>
      </p:sp>
      <p:sp>
        <p:nvSpPr>
          <p:cNvPr id="114" name="D1B0Card">
            <a:extLst>
              <a:ext uri="{FF2B5EF4-FFF2-40B4-BE49-F238E27FC236}">
                <a16:creationId xmlns:a16="http://schemas.microsoft.com/office/drawing/2014/main" id="{D60DDF84-5E27-5175-7B48-E385CBD90EFB}"/>
              </a:ext>
            </a:extLst>
          </p:cNvPr>
          <p:cNvSpPr/>
          <p:nvPr/>
        </p:nvSpPr>
        <p:spPr>
          <a:xfrm>
            <a:off x="6446200" y="2380000"/>
            <a:ext cx="5060000" cy="2300000"/>
          </a:xfrm>
          <a:prstGeom prst="roundRect">
            <a:avLst>
              <a:gd name="adj" fmla="val 6000"/>
            </a:avLst>
          </a:prstGeom>
          <a:solidFill>
            <a:srgbClr val="0A3A4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5" name="D1B0Bar">
            <a:extLst>
              <a:ext uri="{FF2B5EF4-FFF2-40B4-BE49-F238E27FC236}">
                <a16:creationId xmlns:a16="http://schemas.microsoft.com/office/drawing/2014/main" id="{B0DC71E7-AA18-8C56-F0E0-8A430408FD04}"/>
              </a:ext>
            </a:extLst>
          </p:cNvPr>
          <p:cNvSpPr/>
          <p:nvPr/>
        </p:nvSpPr>
        <p:spPr>
          <a:xfrm>
            <a:off x="6446200" y="2470000"/>
            <a:ext cx="55000" cy="2120000"/>
          </a:xfrm>
          <a:prstGeom prst="rect">
            <a:avLst/>
          </a:prstGeom>
          <a:solidFill>
            <a:srgbClr val="008C8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6" name="D1B0Txt">
            <a:extLst>
              <a:ext uri="{FF2B5EF4-FFF2-40B4-BE49-F238E27FC236}">
                <a16:creationId xmlns:a16="http://schemas.microsoft.com/office/drawing/2014/main" id="{F4B7745B-0CA7-3911-BF29-A45C99FD3C4D}"/>
              </a:ext>
            </a:extLst>
          </p:cNvPr>
          <p:cNvSpPr txBox="1"/>
          <p:nvPr/>
        </p:nvSpPr>
        <p:spPr>
          <a:xfrm>
            <a:off x="6714971" y="2682426"/>
            <a:ext cx="4500000" cy="1961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spcBef>
                <a:spcPts val="0"/>
              </a:spcBef>
            </a:pPr>
            <a:r>
              <a:rPr lang="en-US" sz="1000" b="1" spc="250">
                <a:solidFill>
                  <a:srgbClr val="99D1CD"/>
                </a:solidFill>
                <a:latin typeface="The Group HEAD Light"/>
              </a:rPr>
              <a:t>REFINE AND SHAPE THE WORK</a:t>
            </a:r>
            <a:endParaRPr lang="en-US"/>
          </a:p>
        </p:txBody>
      </p:sp>
      <p:sp>
        <p:nvSpPr>
          <p:cNvPr id="120" name="D1Lunch">
            <a:extLst>
              <a:ext uri="{FF2B5EF4-FFF2-40B4-BE49-F238E27FC236}">
                <a16:creationId xmlns:a16="http://schemas.microsoft.com/office/drawing/2014/main" id="{1266D6BC-7E87-C3AE-A574-16F9A6ED0F7E}"/>
              </a:ext>
            </a:extLst>
          </p:cNvPr>
          <p:cNvSpPr/>
          <p:nvPr/>
        </p:nvSpPr>
        <p:spPr>
          <a:xfrm>
            <a:off x="6466520" y="4800000"/>
            <a:ext cx="4978720" cy="1771920"/>
          </a:xfrm>
          <a:prstGeom prst="roundRect">
            <a:avLst>
              <a:gd name="adj" fmla="val 6000"/>
            </a:avLst>
          </a:prstGeom>
          <a:solidFill>
            <a:srgbClr val="002733"/>
          </a:solidFill>
          <a:ln w="12700">
            <a:solidFill>
              <a:srgbClr val="008C82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6" name="Pic">
            <a:extLst>
              <a:ext uri="{FF2B5EF4-FFF2-40B4-BE49-F238E27FC236}">
                <a16:creationId xmlns:a16="http://schemas.microsoft.com/office/drawing/2014/main" id="{EE0B208B-4145-AE4B-BA60-E035AB6B2EAE}"/>
              </a:ext>
            </a:extLst>
          </p:cNvPr>
          <p:cNvPicPr>
            <a:picLocks/>
          </p:cNvPicPr>
          <p:nvPr>
            <p:custDataLst>
              <p:tags r:id="rId2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  <a:ext uri="{6F801314-5768-4EAC-8CED-0F2297F94238}"/>
            </a:extLst>
          </a:blip>
          <a:stretch>
            <a:fillRect/>
          </a:stretch>
        </p:blipFill>
        <p:spPr bwMode="auto">
          <a:xfrm>
            <a:off x="5248275" y="2089150"/>
            <a:ext cx="625475" cy="625475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7" name="Pic">
            <a:extLst>
              <a:ext uri="{FF2B5EF4-FFF2-40B4-BE49-F238E27FC236}">
                <a16:creationId xmlns:a16="http://schemas.microsoft.com/office/drawing/2014/main" id="{809117F6-0B64-C4ED-8B13-27B57F899FC0}"/>
              </a:ext>
            </a:extLst>
          </p:cNvPr>
          <p:cNvPicPr>
            <a:picLocks/>
          </p:cNvPicPr>
          <p:nvPr>
            <p:custDataLst>
              <p:tags r:id="rId3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  <a:ext uri="{6F801314-5768-4EAC-8CED-0F2297F94238}"/>
            </a:extLst>
          </a:blip>
          <a:stretch>
            <a:fillRect/>
          </a:stretch>
        </p:blipFill>
        <p:spPr bwMode="auto">
          <a:xfrm>
            <a:off x="5248275" y="5035550"/>
            <a:ext cx="625475" cy="625475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9" name="Pic">
            <a:extLst>
              <a:ext uri="{FF2B5EF4-FFF2-40B4-BE49-F238E27FC236}">
                <a16:creationId xmlns:a16="http://schemas.microsoft.com/office/drawing/2014/main" id="{9B1DA5D7-6E91-69AF-1A92-6120CC2B3E46}"/>
              </a:ext>
            </a:extLst>
          </p:cNvPr>
          <p:cNvPicPr>
            <a:picLocks/>
          </p:cNvPicPr>
          <p:nvPr>
            <p:custDataLst>
              <p:tags r:id="rId4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  <a:ext uri="{6F801314-5768-4EAC-8CED-0F2297F94238}"/>
            </a:extLst>
          </a:blip>
          <a:stretch>
            <a:fillRect/>
          </a:stretch>
        </p:blipFill>
        <p:spPr bwMode="auto">
          <a:xfrm flipH="1">
            <a:off x="10855643" y="2318703"/>
            <a:ext cx="558800" cy="55880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8" name="D1B0Txt">
            <a:extLst>
              <a:ext uri="{FF2B5EF4-FFF2-40B4-BE49-F238E27FC236}">
                <a16:creationId xmlns:a16="http://schemas.microsoft.com/office/drawing/2014/main" id="{2072397B-7B52-90B5-188D-BD2B66F8E4E3}"/>
              </a:ext>
            </a:extLst>
          </p:cNvPr>
          <p:cNvSpPr txBox="1"/>
          <p:nvPr/>
        </p:nvSpPr>
        <p:spPr>
          <a:xfrm>
            <a:off x="6713471" y="2877548"/>
            <a:ext cx="4500000" cy="16761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spcBef>
                <a:spcPts val="650"/>
              </a:spcBef>
            </a:pPr>
            <a:r>
              <a:rPr lang="en-US" sz="1250" b="1">
                <a:solidFill>
                  <a:srgbClr val="FFFFFF"/>
                </a:solidFill>
                <a:latin typeface="The Group TEXT"/>
              </a:rPr>
              <a:t>Roadmap Q4 (</a:t>
            </a:r>
            <a:r>
              <a:rPr lang="en-US" sz="1250" b="1">
                <a:solidFill>
                  <a:srgbClr val="FFFFFF"/>
                </a:solidFill>
                <a:latin typeface="The Group TEXT"/>
                <a:hlinkClick r:id="rId10"/>
              </a:rPr>
              <a:t>Activity</a:t>
            </a:r>
            <a:r>
              <a:rPr lang="en-US" sz="1250" b="1">
                <a:solidFill>
                  <a:srgbClr val="FFFFFF"/>
                </a:solidFill>
                <a:latin typeface="The Group TEXT"/>
              </a:rPr>
              <a:t>)</a:t>
            </a:r>
            <a:endParaRPr lang="en-US"/>
          </a:p>
          <a:p>
            <a:pPr marL="199390" indent="-199390">
              <a:spcBef>
                <a:spcPts val="380"/>
              </a:spcBef>
              <a:buFont typeface="Arial"/>
              <a:buChar char="•"/>
            </a:pPr>
            <a:r>
              <a:rPr lang="en-US" sz="1150">
                <a:solidFill>
                  <a:srgbClr val="DFE7E9"/>
                </a:solidFill>
                <a:latin typeface="The Group TEXT"/>
              </a:rPr>
              <a:t>Team division: (Bandicode · Bugbusters · Architecture)</a:t>
            </a:r>
            <a:endParaRPr lang="en-US"/>
          </a:p>
          <a:p>
            <a:pPr marL="199390" indent="-199390">
              <a:spcBef>
                <a:spcPts val="380"/>
              </a:spcBef>
              <a:buFont typeface="Arial"/>
              <a:buChar char="•"/>
            </a:pPr>
            <a:r>
              <a:rPr lang="en-US" sz="1150">
                <a:solidFill>
                  <a:srgbClr val="DFE7E9"/>
                </a:solidFill>
                <a:latin typeface="The Group TEXT"/>
              </a:rPr>
              <a:t>Feature refinement → Breakout sessions and dependencies negotiation</a:t>
            </a:r>
            <a:endParaRPr lang="en-US"/>
          </a:p>
          <a:p>
            <a:pPr marL="199390" indent="-199390">
              <a:spcBef>
                <a:spcPts val="380"/>
              </a:spcBef>
              <a:buFont typeface="Arial"/>
              <a:buChar char="•"/>
            </a:pPr>
            <a:r>
              <a:rPr lang="en-US" sz="1150">
                <a:solidFill>
                  <a:srgbClr val="DFE7E9"/>
                </a:solidFill>
                <a:latin typeface="The Group TEXT"/>
              </a:rPr>
              <a:t>Review the risks</a:t>
            </a:r>
          </a:p>
          <a:p>
            <a:pPr marL="199390" indent="-199390">
              <a:spcBef>
                <a:spcPts val="380"/>
              </a:spcBef>
              <a:buFont typeface="Arial"/>
              <a:buChar char="•"/>
            </a:pPr>
            <a:r>
              <a:rPr lang="en-US" sz="1150">
                <a:solidFill>
                  <a:srgbClr val="DFE7E9"/>
                </a:solidFill>
                <a:latin typeface="The Group TEXT"/>
              </a:rPr>
              <a:t>Quarterly plan double-check</a:t>
            </a:r>
          </a:p>
          <a:p>
            <a:pPr marL="199390" indent="-199390">
              <a:spcBef>
                <a:spcPts val="380"/>
              </a:spcBef>
              <a:buFont typeface="Arial"/>
              <a:buChar char="•"/>
            </a:pPr>
            <a:r>
              <a:rPr lang="en-US" sz="1150">
                <a:solidFill>
                  <a:srgbClr val="DFE7E9"/>
                </a:solidFill>
                <a:latin typeface="The Group TEXT"/>
              </a:rPr>
              <a:t>Confirmation: Objectives for the next 3 months</a:t>
            </a:r>
            <a:endParaRPr lang="en-US"/>
          </a:p>
          <a:p>
            <a:pPr marL="199390" indent="-199390">
              <a:spcBef>
                <a:spcPts val="380"/>
              </a:spcBef>
              <a:buFont typeface="Arial"/>
              <a:buChar char="•"/>
            </a:pPr>
            <a:endParaRPr lang="en-US" sz="1150">
              <a:solidFill>
                <a:srgbClr val="DFE7E9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2ACA139-9E77-F6AB-2548-799AF71315C9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20554" r="23022" b="-1409"/>
          <a:stretch>
            <a:fillRect/>
          </a:stretch>
        </p:blipFill>
        <p:spPr>
          <a:xfrm>
            <a:off x="2209231" y="4910275"/>
            <a:ext cx="1599421" cy="146727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96C8855-8E0E-5E4F-F9B7-4DA1739FAC40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t="6121" r="9584"/>
          <a:stretch>
            <a:fillRect/>
          </a:stretch>
        </p:blipFill>
        <p:spPr>
          <a:xfrm>
            <a:off x="7820918" y="4852766"/>
            <a:ext cx="2314557" cy="1660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125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2A448-915C-E772-2C85-DFF6687A2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947D8C89-FB80-D070-2355-2C3E4CFEBCA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47D8C89-FB80-D070-2355-2C3E4CFEBCA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93255F1B-8052-6911-80B7-B9EF9EA5CC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8" y="2395984"/>
            <a:ext cx="6120000" cy="609398"/>
          </a:xfrm>
        </p:spPr>
        <p:txBody>
          <a:bodyPr vert="horz" rIns="0">
            <a:spAutoFit/>
          </a:bodyPr>
          <a:lstStyle/>
          <a:p>
            <a:r>
              <a:rPr lang="en-US"/>
              <a:t>Lunch Break! 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3113F635-7FAC-6479-8C89-0E8E022C23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036" y="3226587"/>
            <a:ext cx="6120000" cy="584775"/>
          </a:xfrm>
        </p:spPr>
        <p:txBody>
          <a:bodyPr/>
          <a:lstStyle/>
          <a:p>
            <a:r>
              <a:rPr lang="en-US"/>
              <a:t>Enjoy your meal – see you back shortly!</a:t>
            </a:r>
          </a:p>
          <a:p>
            <a:r>
              <a:rPr lang="en-US"/>
              <a:t>We </a:t>
            </a:r>
            <a:r>
              <a:rPr lang="en-US" b="1">
                <a:solidFill>
                  <a:srgbClr val="C2FE06"/>
                </a:solidFill>
              </a:rPr>
              <a:t>continue at</a:t>
            </a:r>
          </a:p>
        </p:txBody>
      </p:sp>
      <p:pic>
        <p:nvPicPr>
          <p:cNvPr id="17" name="Pic">
            <a:extLst>
              <a:ext uri="{FF2B5EF4-FFF2-40B4-BE49-F238E27FC236}">
                <a16:creationId xmlns:a16="http://schemas.microsoft.com/office/drawing/2014/main" id="{8027F9BA-9DCB-3DB1-9F87-A79DE3969D44}"/>
              </a:ext>
            </a:extLst>
          </p:cNvPr>
          <p:cNvPicPr>
            <a:picLocks/>
          </p:cNvPicPr>
          <p:nvPr>
            <p:custDataLst>
              <p:tags r:id="rId2"/>
            </p:custDataLst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  <a:ext uri="{6F801314-5768-4EAC-8CED-0F2297F94238}"/>
            </a:extLst>
          </a:blip>
          <a:stretch>
            <a:fillRect/>
          </a:stretch>
        </p:blipFill>
        <p:spPr bwMode="auto">
          <a:xfrm>
            <a:off x="4049713" y="2420938"/>
            <a:ext cx="492125" cy="492125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934354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98025-6F50-AEF1-E081-CA8042877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C85DD8E3-8A52-6C9D-6BEB-0C02B276C755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85DD8E3-8A52-6C9D-6BEB-0C02B276C7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C5D8F733-C8D9-A27D-EE10-E00D5C30B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>
            <a:spAutoFit/>
          </a:bodyPr>
          <a:lstStyle/>
          <a:p>
            <a:r>
              <a:rPr lang="en-US"/>
              <a:t>Retrospective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0715A75-269C-09B0-DD85-A46B404037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9855" y="1250830"/>
            <a:ext cx="2023273" cy="24729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48FE435-8E45-0684-EB2D-50284DCFEF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12679" y="1657561"/>
            <a:ext cx="3033623" cy="14869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22D0FA3-1A74-C25F-F00C-6C4C2D827E0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64106" y="4111922"/>
            <a:ext cx="2365447" cy="179717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F458E16-2E3C-0FEB-8A45-38A219A5091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128" r="1330" b="-210"/>
          <a:stretch>
            <a:fillRect/>
          </a:stretch>
        </p:blipFill>
        <p:spPr>
          <a:xfrm>
            <a:off x="9265595" y="3861907"/>
            <a:ext cx="1927778" cy="1946563"/>
          </a:xfrm>
          <a:prstGeom prst="rect">
            <a:avLst/>
          </a:prstGeom>
        </p:spPr>
      </p:pic>
      <p:sp>
        <p:nvSpPr>
          <p:cNvPr id="17" name="D0Hdr">
            <a:extLst>
              <a:ext uri="{FF2B5EF4-FFF2-40B4-BE49-F238E27FC236}">
                <a16:creationId xmlns:a16="http://schemas.microsoft.com/office/drawing/2014/main" id="{8B491D67-B1AB-54F5-DBD4-3D664832043A}"/>
              </a:ext>
            </a:extLst>
          </p:cNvPr>
          <p:cNvSpPr/>
          <p:nvPr/>
        </p:nvSpPr>
        <p:spPr>
          <a:xfrm>
            <a:off x="441385" y="1821924"/>
            <a:ext cx="5060000" cy="700000"/>
          </a:xfrm>
          <a:prstGeom prst="roundRect">
            <a:avLst>
              <a:gd name="adj" fmla="val 6000"/>
            </a:avLst>
          </a:prstGeom>
          <a:solidFill>
            <a:srgbClr val="008C82"/>
          </a:solidFill>
          <a:ln>
            <a:noFill/>
          </a:ln>
        </p:spPr>
        <p:txBody>
          <a:bodyPr lIns="91440" tIns="45720" rIns="91440" bIns="45720" anchor="t"/>
          <a:lstStyle/>
          <a:p>
            <a:pPr algn="ctr"/>
            <a:endParaRPr lang="en-US"/>
          </a:p>
        </p:txBody>
      </p:sp>
      <p:sp>
        <p:nvSpPr>
          <p:cNvPr id="19" name="D0B0Card">
            <a:extLst>
              <a:ext uri="{FF2B5EF4-FFF2-40B4-BE49-F238E27FC236}">
                <a16:creationId xmlns:a16="http://schemas.microsoft.com/office/drawing/2014/main" id="{D4A26DDB-D6A9-2412-3E9C-9E5999DA2616}"/>
              </a:ext>
            </a:extLst>
          </p:cNvPr>
          <p:cNvSpPr/>
          <p:nvPr/>
        </p:nvSpPr>
        <p:spPr>
          <a:xfrm>
            <a:off x="441385" y="2681924"/>
            <a:ext cx="5060000" cy="2300000"/>
          </a:xfrm>
          <a:prstGeom prst="roundRect">
            <a:avLst>
              <a:gd name="adj" fmla="val 6000"/>
            </a:avLst>
          </a:prstGeom>
          <a:solidFill>
            <a:srgbClr val="0A3A4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D0B0Bar">
            <a:extLst>
              <a:ext uri="{FF2B5EF4-FFF2-40B4-BE49-F238E27FC236}">
                <a16:creationId xmlns:a16="http://schemas.microsoft.com/office/drawing/2014/main" id="{3673EAF0-00D5-A286-9692-4D30DF89F6BD}"/>
              </a:ext>
            </a:extLst>
          </p:cNvPr>
          <p:cNvSpPr/>
          <p:nvPr/>
        </p:nvSpPr>
        <p:spPr>
          <a:xfrm>
            <a:off x="441385" y="2771924"/>
            <a:ext cx="55000" cy="2120000"/>
          </a:xfrm>
          <a:prstGeom prst="rect">
            <a:avLst/>
          </a:prstGeom>
          <a:solidFill>
            <a:srgbClr val="008C8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D0B0Txt">
            <a:extLst>
              <a:ext uri="{FF2B5EF4-FFF2-40B4-BE49-F238E27FC236}">
                <a16:creationId xmlns:a16="http://schemas.microsoft.com/office/drawing/2014/main" id="{B9AA25B8-F4AA-5C46-28DA-9B663281CE13}"/>
              </a:ext>
            </a:extLst>
          </p:cNvPr>
          <p:cNvSpPr txBox="1"/>
          <p:nvPr/>
        </p:nvSpPr>
        <p:spPr>
          <a:xfrm>
            <a:off x="741385" y="2932884"/>
            <a:ext cx="4571120" cy="1940320"/>
          </a:xfrm>
          <a:prstGeom prst="rect">
            <a:avLst/>
          </a:prstGeom>
          <a:noFill/>
        </p:spPr>
        <p:txBody>
          <a:bodyPr wrap="square" lIns="0" tIns="0" rIns="0" bIns="0" anchor="t">
            <a:normAutofit lnSpcReduction="10000"/>
          </a:bodyPr>
          <a:lstStyle/>
          <a:p>
            <a:pPr>
              <a:spcBef>
                <a:spcPts val="0"/>
              </a:spcBef>
            </a:pPr>
            <a:r>
              <a:rPr lang="en-US" sz="1000" b="1" spc="250">
                <a:solidFill>
                  <a:srgbClr val="99D1CD"/>
                </a:solidFill>
                <a:latin typeface="The Group HEAD Light"/>
              </a:rPr>
              <a:t>SCOPE</a:t>
            </a:r>
            <a:endParaRPr lang="en-US">
              <a:solidFill>
                <a:srgbClr val="FFFFFF"/>
              </a:solidFill>
              <a:latin typeface="The Group TEXT"/>
            </a:endParaRPr>
          </a:p>
          <a:p>
            <a:pPr>
              <a:spcBef>
                <a:spcPts val="650"/>
              </a:spcBef>
            </a:pPr>
            <a:r>
              <a:rPr lang="en-US" sz="1250" b="1">
                <a:latin typeface="The Group TEXT"/>
              </a:rPr>
              <a:t>Retrospective </a:t>
            </a:r>
            <a:r>
              <a:rPr lang="en-US" sz="1250" b="1">
                <a:latin typeface="The Group TEXT"/>
                <a:hlinkClick r:id="rId9"/>
              </a:rPr>
              <a:t>Activity</a:t>
            </a:r>
            <a:endParaRPr lang="en-US"/>
          </a:p>
          <a:p>
            <a:pPr marL="171450" indent="-171450">
              <a:spcBef>
                <a:spcPts val="650"/>
              </a:spcBef>
              <a:buFont typeface="Arial"/>
              <a:buChar char="•"/>
            </a:pPr>
            <a:r>
              <a:rPr lang="en-US" sz="1150">
                <a:latin typeface="The Group TEXT"/>
              </a:rPr>
              <a:t>Kudos time!</a:t>
            </a:r>
            <a:endParaRPr lang="en-US" sz="1150"/>
          </a:p>
          <a:p>
            <a:pPr marL="171450" indent="-171450">
              <a:spcBef>
                <a:spcPts val="650"/>
              </a:spcBef>
              <a:buFont typeface="Arial"/>
              <a:buChar char="•"/>
            </a:pPr>
            <a:r>
              <a:rPr lang="en-US" sz="1150">
                <a:latin typeface="The Group TEXT"/>
              </a:rPr>
              <a:t>Reviewing last retrospective insights</a:t>
            </a:r>
            <a:endParaRPr lang="en-US" sz="1150"/>
          </a:p>
          <a:p>
            <a:pPr marL="171450" indent="-171450">
              <a:spcBef>
                <a:spcPts val="650"/>
              </a:spcBef>
              <a:buFont typeface="Arial"/>
              <a:buChar char="•"/>
            </a:pPr>
            <a:r>
              <a:rPr lang="en-US" sz="1150">
                <a:latin typeface="The Group TEXT"/>
                <a:hlinkClick r:id="rId10"/>
              </a:rPr>
              <a:t>Survey</a:t>
            </a:r>
          </a:p>
          <a:p>
            <a:pPr marL="171450" indent="-171450">
              <a:spcBef>
                <a:spcPts val="650"/>
              </a:spcBef>
              <a:buFont typeface="Arial"/>
              <a:buChar char="•"/>
            </a:pPr>
            <a:r>
              <a:rPr lang="en-US" sz="1150">
                <a:latin typeface="The Group TEXT"/>
              </a:rPr>
              <a:t>Discussing main pain points</a:t>
            </a:r>
          </a:p>
          <a:p>
            <a:pPr marL="171450" indent="-171450">
              <a:spcBef>
                <a:spcPts val="650"/>
              </a:spcBef>
              <a:buFont typeface="Arial"/>
              <a:buChar char="•"/>
            </a:pPr>
            <a:r>
              <a:rPr lang="en-US" sz="1150">
                <a:latin typeface="The Group TEXT"/>
              </a:rPr>
              <a:t>Action plans</a:t>
            </a:r>
          </a:p>
          <a:p>
            <a:pPr marL="171450" indent="-171450">
              <a:spcBef>
                <a:spcPts val="650"/>
              </a:spcBef>
              <a:buFont typeface="Arial"/>
              <a:buChar char="•"/>
            </a:pPr>
            <a:r>
              <a:rPr lang="en-US" sz="1150">
                <a:latin typeface="The Group TEXT"/>
              </a:rPr>
              <a:t>Closure</a:t>
            </a:r>
          </a:p>
        </p:txBody>
      </p:sp>
      <p:sp>
        <p:nvSpPr>
          <p:cNvPr id="25" name="D0HdrTxt">
            <a:extLst>
              <a:ext uri="{FF2B5EF4-FFF2-40B4-BE49-F238E27FC236}">
                <a16:creationId xmlns:a16="http://schemas.microsoft.com/office/drawing/2014/main" id="{403F9DB9-EFE0-CD9A-D2EF-904C83A7CE36}"/>
              </a:ext>
            </a:extLst>
          </p:cNvPr>
          <p:cNvSpPr txBox="1"/>
          <p:nvPr/>
        </p:nvSpPr>
        <p:spPr>
          <a:xfrm>
            <a:off x="937905" y="2012498"/>
            <a:ext cx="4132248" cy="35880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-US" sz="1600" b="1">
                <a:solidFill>
                  <a:srgbClr val="FFFFFF"/>
                </a:solidFill>
                <a:latin typeface="The Group HEAD Light"/>
              </a:rPr>
              <a:t>Before leaving the Q4 planning event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448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42BDA-206F-66E5-2EFE-AC0F74D4F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015C2378-8848-FE82-A7C5-4343F451306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15C2378-8848-FE82-A7C5-4343F45130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F5C2BADD-7BF1-5D3F-6A59-C7C4E3A2E2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7" y="2395984"/>
            <a:ext cx="8434561" cy="609398"/>
          </a:xfrm>
        </p:spPr>
        <p:txBody>
          <a:bodyPr vert="horz" wrap="square" rIns="0">
            <a:spAutoFit/>
          </a:bodyPr>
          <a:lstStyle/>
          <a:p>
            <a:r>
              <a:rPr lang="en-US"/>
              <a:t>Thank you for a great workshop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BDE819-B996-7A3B-C3BD-E9C6275978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036" y="3226587"/>
            <a:ext cx="6120000" cy="584775"/>
          </a:xfrm>
        </p:spPr>
        <p:txBody>
          <a:bodyPr/>
          <a:lstStyle/>
          <a:p>
            <a:r>
              <a:rPr lang="en-US"/>
              <a:t>Thank you for your energy, ideas, and open discussion</a:t>
            </a:r>
          </a:p>
          <a:p>
            <a:r>
              <a:rPr lang="en-US"/>
              <a:t>Safe travel home to everyone!</a:t>
            </a:r>
          </a:p>
        </p:txBody>
      </p:sp>
    </p:spTree>
    <p:extLst>
      <p:ext uri="{BB962C8B-B14F-4D97-AF65-F5344CB8AC3E}">
        <p14:creationId xmlns:p14="http://schemas.microsoft.com/office/powerpoint/2010/main" val="457787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2jtHWKBOd0eHCNUXeYZp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ltAq11gtcFTxRvNmAK8RQ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lfX7wCbmXjDpuD7QPqBMg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3NwgAXfkG4Ko153HaQqfQ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37qX6C24nRT2NJsBif2rg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ssD3OBOH_.hzZccuzsYIQ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bQYT4Fm3V.mklqMAkZYDA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.vs.CyupNO.FbvfOYBG_Q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bQYT4Fm3V.mklqMAkZYDA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.vs.CyupNO.FbvfOYBG_Q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37qX6C24nRT2NJsBif2rg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ssD3OBOH_.hzZccuzsYIQ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lfX7wCbmXjDpuD7QPqBMg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3NwgAXfkG4Ko153HaQqfQ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2jtHWKBOd0eHCNUXeYZp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ltAq11gtcFTxRvNmAK8RQ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qe_BS1Jor.9EhrfKBihow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NlqY4jaSawJKoPiOF20Ig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.CKCThi2d_sIRFE1_byYQ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lfX7wCbmXjDpuD7QPqBMg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3NwgAXfkG4Ko153HaQqfQ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37qX6C24nRT2NJsBif2rg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ssD3OBOH_.hzZccuzsYIQ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bQYT4Fm3V.mklqMAkZYDA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.vs.CyupNO.FbvfOYBG_Q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2jtHWKBOd0eHCNUXeYZp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ltAq11gtcFTxRvNmAK8RQ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lfX7wCbmXjDpuD7QPqBMg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3NwgAXfkG4Ko153HaQqfQ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37qX6C24nRT2NJsBif2rg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ssD3OBOH_.hzZccuzsYIQ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bQYT4Fm3V.mklqMAkZYDA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.vs.CyupNO.FbvfOYBG_Q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2jtHWKBOd0eHCNUXeYZpg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ltAq11gtcFTxRvNmAK8RQ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2jtHWKBOd0eHCNUXeYZpg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ltAq11gtcFTxRvNmAK8RQ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2jtHWKBOd0eHCNUXeYZpg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ltAq11gtcFTxRvNmAK8RQ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VWqF319JSt5N1.OW8unzg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ulCgUnXNQBcTIEXiUumDQ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axBlH4zdIIrW60tIsDsJg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Ws5lCYG4J7V3VrUQNXf.Q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B4oDy_dFwnGPz.6oDXJow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ASFwZiYZ_1.DASraCa4yQ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i3bWdAzoMmEdboyxtEsYQ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VWqF319JSt5N1.OW8unzg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VWGroup">
  <a:themeElements>
    <a:clrScheme name="Volkswagen Group 2023">
      <a:dk1>
        <a:srgbClr val="000000"/>
      </a:dk1>
      <a:lt1>
        <a:srgbClr val="FFFFFF"/>
      </a:lt1>
      <a:dk2>
        <a:srgbClr val="002733"/>
      </a:dk2>
      <a:lt2>
        <a:srgbClr val="FFFFFF"/>
      </a:lt2>
      <a:accent1>
        <a:srgbClr val="002733"/>
      </a:accent1>
      <a:accent2>
        <a:srgbClr val="008C82"/>
      </a:accent2>
      <a:accent3>
        <a:srgbClr val="99D1CD"/>
      </a:accent3>
      <a:accent4>
        <a:srgbClr val="99A9AD"/>
      </a:accent4>
      <a:accent5>
        <a:srgbClr val="CCD3D6"/>
      </a:accent5>
      <a:accent6>
        <a:srgbClr val="667D85"/>
      </a:accent6>
      <a:hlink>
        <a:srgbClr val="008C82"/>
      </a:hlink>
      <a:folHlink>
        <a:srgbClr val="008C82"/>
      </a:folHlink>
    </a:clrScheme>
    <a:fontScheme name="Volkswagen Group Fonts">
      <a:majorFont>
        <a:latin typeface="The Group HEAD Light"/>
        <a:ea typeface=""/>
        <a:cs typeface=""/>
      </a:majorFont>
      <a:minorFont>
        <a:latin typeface="The Group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lIns="180000" tIns="180000" rIns="180000" bIns="180000" rtlCol="0" anchor="ctr"/>
      <a:lstStyle>
        <a:defPPr algn="ctr">
          <a:defRPr sz="1400" dirty="0" err="1" smtClean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noFill/>
        <a:ln w="9525">
          <a:solidFill>
            <a:schemeClr val="accent2"/>
          </a:solidFill>
          <a:headEnd type="none" w="med" len="sm"/>
          <a:tailEnd type="none" w="med" len="sm"/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400" dirty="0" err="1" smtClean="0">
            <a:solidFill>
              <a:schemeClr val="tx2"/>
            </a:solidFill>
          </a:defRPr>
        </a:defPPr>
      </a:lstStyle>
    </a:txDef>
  </a:objectDefaults>
  <a:extraClrSchemeLst/>
  <a:custClrLst>
    <a:custClr name="Deep Space Blue">
      <a:srgbClr val="002733"/>
    </a:custClr>
    <a:custClr name="Deep Space Blue 90%">
      <a:srgbClr val="193D47"/>
    </a:custClr>
    <a:custClr name="Deep Space Blue 60%">
      <a:srgbClr val="667D85"/>
    </a:custClr>
    <a:custClr name="Deep Space Blue 40%">
      <a:srgbClr val="99A9AD"/>
    </a:custClr>
    <a:custClr name="Deep Space Blue 20%">
      <a:srgbClr val="CCD4D6"/>
    </a:custClr>
    <a:custClr name="Deep Space Blue 10%">
      <a:srgbClr val="E5E9EB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Vivid Green">
      <a:srgbClr val="008C82"/>
    </a:custClr>
    <a:custClr name="Vivid Green 80%">
      <a:srgbClr val="33A39B"/>
    </a:custClr>
    <a:custClr name="Vivid Green 60%">
      <a:srgbClr val="66BAB4"/>
    </a:custClr>
    <a:custClr name="Vivid Green 40%">
      <a:srgbClr val="99D1CD"/>
    </a:custClr>
    <a:custClr name="Vivid Green 20%">
      <a:srgbClr val="CCE8E6"/>
    </a:custClr>
    <a:custClr name="Vivid Green 10%">
      <a:srgbClr val="E5F3F2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Electric Neon">
      <a:srgbClr val="C2FE06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Coral">
      <a:srgbClr val="E67364"/>
    </a:custClr>
    <a:custClr name="Orange">
      <a:srgbClr val="FAAA3C"/>
    </a:custClr>
    <a:custClr name="Beige">
      <a:srgbClr val="FAD2AA"/>
    </a:custClr>
    <a:custClr name="Blue">
      <a:srgbClr val="8CBEE6"/>
    </a:custClr>
    <a:custClr name="Violet">
      <a:srgbClr val="C882BE"/>
    </a:custClr>
    <a:custClr name="Lavender">
      <a:srgbClr val="DCCDF0"/>
    </a:custClr>
    <a:custClr name="Blank">
      <a:srgbClr val="FFFFFF"/>
    </a:custClr>
    <a:custClr name="Traffic Light Red">
      <a:srgbClr val="DA0C1F"/>
    </a:custClr>
    <a:custClr name="Traffic Light Yellow">
      <a:srgbClr val="FCCD22"/>
    </a:custClr>
    <a:custClr name="Traffic Light Green">
      <a:srgbClr val="64A844"/>
    </a:custClr>
  </a:custClrLst>
  <a:extLst>
    <a:ext uri="{05A4C25C-085E-4340-85A3-A5531E510DB2}">
      <thm15:themeFamily xmlns:thm15="http://schemas.microsoft.com/office/thememl/2012/main" name="VWGroup" id="{82D8EEBE-83E5-412C-9600-71D6AF0301C0}" vid="{33C3EF64-5D7A-45C6-9326-A54FA0D5F6E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07DAE63E5591A4E9455282C8C75FFBC" ma:contentTypeVersion="28" ma:contentTypeDescription="Create a new document." ma:contentTypeScope="" ma:versionID="42e23a8ea94099cff7e8eaade5ad2b4e">
  <xsd:schema xmlns:xsd="http://www.w3.org/2001/XMLSchema" xmlns:xs="http://www.w3.org/2001/XMLSchema" xmlns:p="http://schemas.microsoft.com/office/2006/metadata/properties" xmlns:ns2="8e85a2af-701c-4ed1-8805-317701b5e007" xmlns:ns3="29818fb3-75f0-490f-8cc9-279564b8a2bc" targetNamespace="http://schemas.microsoft.com/office/2006/metadata/properties" ma:root="true" ma:fieldsID="29c2154aaad0ba528d3db1298b9b3960" ns2:_="" ns3:_="">
    <xsd:import namespace="8e85a2af-701c-4ed1-8805-317701b5e007"/>
    <xsd:import namespace="29818fb3-75f0-490f-8cc9-279564b8a2bc"/>
    <xsd:element name="properties">
      <xsd:complexType>
        <xsd:sequence>
          <xsd:element name="documentManagement">
            <xsd:complexType>
              <xsd:all>
                <xsd:element ref="ns2:RevIMDocumentOwner" minOccurs="0"/>
                <xsd:element ref="ns3:K_x00e4_rtchen_x0020_f_x00fc_r_x0020_Breakout_x0020_Sessions" minOccurs="0"/>
                <xsd:element ref="ns2:bad853c721e34595ad6b175556f39dcd" minOccurs="0"/>
                <xsd:element ref="ns2:TaxCatchAll" minOccurs="0"/>
                <xsd:element ref="ns2:TaxCatchAllLabel" minOccurs="0"/>
                <xsd:element ref="ns2:i0f84bba906045b4af568ee102a52dcb" minOccurs="0"/>
                <xsd:element ref="ns2:RevIMDeletionDate" minOccurs="0"/>
                <xsd:element ref="ns2:RevIMEventDate" minOccurs="0"/>
                <xsd:element ref="ns2:RevIMComments" minOccurs="0"/>
                <xsd:element ref="ns2:RevIMExtend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2:SharedWithUsers" minOccurs="0"/>
                <xsd:element ref="ns2:SharedWithDetails" minOccurs="0"/>
                <xsd:element ref="ns3:lcf76f155ced4ddcb4097134ff3c332f" minOccurs="0"/>
                <xsd:element ref="ns3:MediaServiceObjectDetectorVersions" minOccurs="0"/>
                <xsd:element ref="ns3:MediaLengthInSeconds" minOccurs="0"/>
                <xsd:element ref="ns3:MediaServiceSearchProperties" minOccurs="0"/>
                <xsd:element ref="ns2:RevIMDateOfModified2Creation" minOccurs="0"/>
                <xsd:element ref="ns2:RevIMDeclare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85a2af-701c-4ed1-8805-317701b5e007" elementFormDefault="qualified">
    <xsd:import namespace="http://schemas.microsoft.com/office/2006/documentManagement/types"/>
    <xsd:import namespace="http://schemas.microsoft.com/office/infopath/2007/PartnerControls"/>
    <xsd:element name="RevIMDocumentOwner" ma:index="3" nillable="true" ma:displayName="Document Owner" ma:list="UserInfo" ma:SharePointGroup="0" ma:internalName="RevIMDocumentOwner" ma:readOnly="false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bad853c721e34595ad6b175556f39dcd" ma:index="8" nillable="true" ma:taxonomy="true" ma:internalName="bad853c721e34595ad6b175556f39dcd" ma:taxonomyFieldName="LegalHoldTag" ma:displayName="LegalHold" ma:readOnly="false" ma:fieldId="{bad853c7-21e3-4595-ad6b-175556f39dcd}" ma:taxonomyMulti="true" ma:sspId="d35d9ec1-ff0e-4daf-94ff-594c76aa1822" ma:termSetId="1d36a6df-4193-45ed-b3bc-3ba9643c5e0d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9" nillable="true" ma:displayName="Taxonomy Catch All Column" ma:hidden="true" ma:list="{3119ac1a-bca5-48ef-a22d-0bc1a3b8b79d}" ma:internalName="TaxCatchAll" ma:readOnly="false" ma:showField="CatchAllData" ma:web="8e85a2af-701c-4ed1-8805-317701b5e00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0" nillable="true" ma:displayName="Taxonomy Catch All Column1" ma:hidden="true" ma:list="{3119ac1a-bca5-48ef-a22d-0bc1a3b8b79d}" ma:internalName="TaxCatchAllLabel" ma:readOnly="false" ma:showField="CatchAllDataLabel" ma:web="8e85a2af-701c-4ed1-8805-317701b5e00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i0f84bba906045b4af568ee102a52dcb" ma:index="13" nillable="true" ma:taxonomy="true" ma:internalName="i0f84bba906045b4af568ee102a52dcb" ma:taxonomyFieldName="RevIMBCS" ma:displayName="CSD Class" ma:readOnly="true" ma:default="1;#0.1 Initial category|0239cc7a-0c96-48a8-9e0e-a383e362571c" ma:fieldId="{20f84bba-9060-45b4-af56-8ee102a52dcb}" ma:sspId="d35d9ec1-ff0e-4daf-94ff-594c76aa1822" ma:termSetId="83f400d6-6f53-40a3-8fd2-b80b61df545c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RevIMDeletionDate" ma:index="14" nillable="true" ma:displayName="Deletion Date" ma:description="Deletion Date" ma:format="DateOnly" ma:hidden="true" ma:internalName="RevIMDeletionDate" ma:readOnly="true">
      <xsd:simpleType>
        <xsd:restriction base="dms:DateTime"/>
      </xsd:simpleType>
    </xsd:element>
    <xsd:element name="RevIMEventDate" ma:index="15" nillable="true" ma:displayName="Event Date" ma:description="Event Date" ma:format="DateOnly" ma:hidden="true" ma:internalName="RevIMEventDate" ma:readOnly="true">
      <xsd:simpleType>
        <xsd:restriction base="dms:DateTime"/>
      </xsd:simpleType>
    </xsd:element>
    <xsd:element name="RevIMComments" ma:index="16" nillable="true" ma:displayName="Event Comment" ma:hidden="true" ma:internalName="RevIMComments" ma:readOnly="true">
      <xsd:simpleType>
        <xsd:restriction base="dms:Note"/>
      </xsd:simpleType>
    </xsd:element>
    <xsd:element name="RevIMExtends" ma:index="18" nillable="true" ma:displayName="RevIMExtends" ma:hidden="true" ma:internalName="RevIMExtends" ma:readOnly="true">
      <xsd:simpleType>
        <xsd:restriction base="dms:Note"/>
      </xsd:simpleType>
    </xsd:element>
    <xsd:element name="SharedWithUsers" ma:index="26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7" nillable="true" ma:displayName="Shared With Details" ma:hidden="true" ma:internalName="SharedWithDetails" ma:readOnly="true">
      <xsd:simpleType>
        <xsd:restriction base="dms:Note"/>
      </xsd:simpleType>
    </xsd:element>
    <xsd:element name="RevIMDateOfModified2Creation" ma:index="33" nillable="true" ma:displayName="Reclassification Date from Modified to Creation Class" ma:description="Reclassification Date from Modified to Creation Class" ma:format="DateOnly" ma:hidden="true" ma:indexed="true" ma:internalName="RevIMDateOfModified2Creation" ma:readOnly="true">
      <xsd:simpleType>
        <xsd:restriction base="dms:DateTime"/>
      </xsd:simpleType>
    </xsd:element>
    <xsd:element name="RevIMDeclareTime" ma:index="35" nillable="true" ma:displayName="CSD Record Declaration Time" ma:description="CSD Record Declaration Time" ma:format="DateTime" ma:hidden="true" ma:indexed="true" ma:internalName="RevIMDeclare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818fb3-75f0-490f-8cc9-279564b8a2bc" elementFormDefault="qualified">
    <xsd:import namespace="http://schemas.microsoft.com/office/2006/documentManagement/types"/>
    <xsd:import namespace="http://schemas.microsoft.com/office/infopath/2007/PartnerControls"/>
    <xsd:element name="K_x00e4_rtchen_x0020_f_x00fc_r_x0020_Breakout_x0020_Sessions" ma:index="5" nillable="true" ma:displayName="Kärtchen für Breakout Sessions" ma:description="Breakout Sessions sind möglich" ma:format="Dropdown" ma:internalName="K_x00e4_rtchen_x0020_f_x00fc_r_x0020_Breakout_x0020_Sessions" ma:readOnly="false">
      <xsd:simpleType>
        <xsd:restriction base="dms:Note">
          <xsd:maxLength value="255"/>
        </xsd:restriction>
      </xsd:simpleType>
    </xsd:element>
    <xsd:element name="MediaServiceMetadata" ma:index="1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21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22" nillable="true" ma:displayName="Tags" ma:hidden="true" ma:internalName="MediaServiceAutoTags" ma:readOnly="true">
      <xsd:simpleType>
        <xsd:restriction base="dms:Text"/>
      </xsd:simpleType>
    </xsd:element>
    <xsd:element name="MediaServiceOCR" ma:index="23" nillable="true" ma:displayName="Extracted Text" ma:hidden="true" ma:internalName="MediaServiceOCR" ma:readOnly="true">
      <xsd:simpleType>
        <xsd:restriction base="dms:Note"/>
      </xsd:simpleType>
    </xsd:element>
    <xsd:element name="MediaServiceGenerationTime" ma:index="2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9" nillable="true" ma:taxonomy="true" ma:internalName="lcf76f155ced4ddcb4097134ff3c332f" ma:taxonomyFieldName="MediaServiceImageTags" ma:displayName="Image Tags" ma:readOnly="false" ma:fieldId="{5cf76f15-5ced-4ddc-b409-7134ff3c332f}" ma:taxonomyMulti="true" ma:sspId="d35d9ec1-ff0e-4daf-94ff-594c76aa182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3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3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3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e85a2af-701c-4ed1-8805-317701b5e007">
      <Value>1</Value>
    </TaxCatchAll>
    <i0f84bba906045b4af568ee102a52dcb xmlns="8e85a2af-701c-4ed1-8805-317701b5e007">
      <Terms xmlns="http://schemas.microsoft.com/office/infopath/2007/PartnerControls">
        <TermInfo xmlns="http://schemas.microsoft.com/office/infopath/2007/PartnerControls">
          <TermName xmlns="http://schemas.microsoft.com/office/infopath/2007/PartnerControls">0.1 Initial category</TermName>
          <TermId xmlns="http://schemas.microsoft.com/office/infopath/2007/PartnerControls">0239cc7a-0c96-48a8-9e0e-a383e362571c</TermId>
        </TermInfo>
      </Terms>
    </i0f84bba906045b4af568ee102a52dcb>
    <lcf76f155ced4ddcb4097134ff3c332f xmlns="29818fb3-75f0-490f-8cc9-279564b8a2bc">
      <Terms xmlns="http://schemas.microsoft.com/office/infopath/2007/PartnerControls"/>
    </lcf76f155ced4ddcb4097134ff3c332f>
    <K_x00e4_rtchen_x0020_f_x00fc_r_x0020_Breakout_x0020_Sessions xmlns="29818fb3-75f0-490f-8cc9-279564b8a2bc" xsi:nil="true"/>
    <RevIMDocumentOwner xmlns="8e85a2af-701c-4ed1-8805-317701b5e007">
      <UserInfo>
        <DisplayName/>
        <AccountId xsi:nil="true"/>
        <AccountType/>
      </UserInfo>
    </RevIMDocumentOwner>
    <bad853c721e34595ad6b175556f39dcd xmlns="8e85a2af-701c-4ed1-8805-317701b5e007">
      <Terms xmlns="http://schemas.microsoft.com/office/infopath/2007/PartnerControls"/>
    </bad853c721e34595ad6b175556f39dcd>
    <TaxCatchAllLabel xmlns="8e85a2af-701c-4ed1-8805-317701b5e007" xsi:nil="true"/>
    <RevIMComments xmlns="8e85a2af-701c-4ed1-8805-317701b5e007" xsi:nil="true"/>
    <RevIMDateOfModified2Creation xmlns="8e85a2af-701c-4ed1-8805-317701b5e007" xsi:nil="true"/>
    <RevIMDeletionDate xmlns="8e85a2af-701c-4ed1-8805-317701b5e007">2028-08-31T09:08:30+00:00</RevIMDeletionDate>
    <RevIMEventDate xmlns="8e85a2af-701c-4ed1-8805-317701b5e007" xsi:nil="true"/>
    <RevIMExtends xmlns="8e85a2af-701c-4ed1-8805-317701b5e007">{"Locked":null,"LockedBy":null,"UnLocked":null,"UnLockedBy":null,"Classified":"2026-08-31T09:43:43.224Z","KSUClass":"0239cc7a-0c96-48a8-9e0e-a383e362571c","Reclassified":null,"ReclassifiedBy":null,"EDReclassified":null,"EDReclassifiedBy":null,"EventCreated":null,"EventModified":null,"EventDeleted":null,"EventCreatedBy":null,"EventModifiedBy":null,"EventDeletedBy":null,"Moved":null,"MovedBy":null,"MovedFrom":null,"IsMoving":null,"MoveStartTime":null}</RevIMExtend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51C74A3-F214-46E8-B4AA-3D7C5A383759}">
  <ds:schemaRefs>
    <ds:schemaRef ds:uri="29818fb3-75f0-490f-8cc9-279564b8a2bc"/>
    <ds:schemaRef ds:uri="8e85a2af-701c-4ed1-8805-317701b5e00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615F73FF-D15B-4192-886B-DFED227256B0}">
  <ds:schemaRefs>
    <ds:schemaRef ds:uri="29818fb3-75f0-490f-8cc9-279564b8a2bc"/>
    <ds:schemaRef ds:uri="8e85a2af-701c-4ed1-8805-317701b5e007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1003E0A7-70F9-40D7-8967-8764AE2CD18C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b1c9b508-7c6e-42bd-bedf-808292653d6c}" enabled="1" method="Standard" siteId="{2882be50-2012-4d88-ac86-544124e120c8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VWGroup</Template>
  <Application>Microsoft Office PowerPoint</Application>
  <PresentationFormat>Widescreen</PresentationFormat>
  <Slides>37</Slides>
  <Notes>12</Notes>
  <HiddenSlides>4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>VWGroup</vt:lpstr>
      <vt:lpstr>ReCall 2 | Quarterly Planning Q4 / 2026 </vt:lpstr>
      <vt:lpstr>ReCall 2 | Agenda Quarterly Planning</vt:lpstr>
      <vt:lpstr>Get to know and icebreaker</vt:lpstr>
      <vt:lpstr>Get to know and icebreaker</vt:lpstr>
      <vt:lpstr>Get to know and icebreaker</vt:lpstr>
      <vt:lpstr>Get to know and icebreaker</vt:lpstr>
      <vt:lpstr>Todo</vt:lpstr>
      <vt:lpstr>ReCall 2 | Long Term Product Roadmap</vt:lpstr>
      <vt:lpstr>ReCall2 | Product Vision &amp; Roadmap</vt:lpstr>
      <vt:lpstr>Recall2 for RVT/SDV</vt:lpstr>
      <vt:lpstr>PowerPoint Presentation</vt:lpstr>
      <vt:lpstr>PowerPoint Presentation</vt:lpstr>
      <vt:lpstr>What changes with SDV?</vt:lpstr>
      <vt:lpstr>RVT provides cloud services, that need to be connect to the Volkswagen Group System Landscape</vt:lpstr>
      <vt:lpstr>Recall2 documents all online updates, so that legal authority requests can be fullfilled</vt:lpstr>
      <vt:lpstr>Getting Recall2 Ready for SDV</vt:lpstr>
      <vt:lpstr>ReCall 2 | Quarterly Planning Q4 2026</vt:lpstr>
      <vt:lpstr>ReCall 2 | Quarterly Planning Q4 2026</vt:lpstr>
      <vt:lpstr>ReCall 2 | Architecture Roadmap</vt:lpstr>
      <vt:lpstr>ReCall 2 | Architecture Roadmap</vt:lpstr>
      <vt:lpstr>ReCall 2 | Architecture Roadmap</vt:lpstr>
      <vt:lpstr>ReCall 2 | Architecture Roadmap</vt:lpstr>
      <vt:lpstr>ReCall 2 | Architecture Roadmap</vt:lpstr>
      <vt:lpstr>ReCall 2 | Architecture Roadmap</vt:lpstr>
      <vt:lpstr>ReCall 2 | High level Architectural Concept</vt:lpstr>
      <vt:lpstr>High level Architectural Concept  - Concept to Support RVT</vt:lpstr>
      <vt:lpstr>ReCall 2| High level Architectural</vt:lpstr>
      <vt:lpstr>ReCall 2 | Quarterly Planning Q4 2026</vt:lpstr>
      <vt:lpstr>ReCall 2 | Quarterly Planning Q4 2026</vt:lpstr>
      <vt:lpstr>Lunch Break! </vt:lpstr>
      <vt:lpstr>Let’s call it a day!</vt:lpstr>
      <vt:lpstr>Welcome to our 2nd day!</vt:lpstr>
      <vt:lpstr>ReCall 2 | Agenda Quarterly Planning</vt:lpstr>
      <vt:lpstr>Roadmap Q4</vt:lpstr>
      <vt:lpstr>Lunch Break! </vt:lpstr>
      <vt:lpstr>Retrospective</vt:lpstr>
      <vt:lpstr>Thank you for a great workshop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10</cp:revision>
  <dcterms:created xsi:type="dcterms:W3CDTF">2026-08-31T09:08:31Z</dcterms:created>
  <dcterms:modified xsi:type="dcterms:W3CDTF">2026-09-14T06:11:25Z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0x010100C07DAE63E5591A4E9455282C8C75FFBC</vt:lpwstr>
  </property>
  <property fmtid="{D5CDD505-2E9C-101B-9397-08002B2CF9AE}" pid="3" name="RevIMBCS">
    <vt:lpwstr>1;#0.1 Initial category|0239cc7a-0c96-48a8-9e0e-a383e362571c</vt:lpwstr>
  </property>
  <property fmtid="{D5CDD505-2E9C-101B-9397-08002B2CF9AE}" pid="4" name="MediaServiceImageTags">
    <vt:lpwstr/>
  </property>
  <property fmtid="{D5CDD505-2E9C-101B-9397-08002B2CF9AE}" pid="5" name="LegalHoldTag">
    <vt:lpwstr/>
  </property>
</Properties>
</file>